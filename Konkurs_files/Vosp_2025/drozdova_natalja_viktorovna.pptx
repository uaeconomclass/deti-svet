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bookmarkIdSeed="2">
  <p:sldMasterIdLst>
    <p:sldMasterId id="2147483894" r:id="rId1"/>
  </p:sldMasterIdLst>
  <p:notesMasterIdLst>
    <p:notesMasterId r:id="rId25"/>
  </p:notesMasterIdLst>
  <p:sldIdLst>
    <p:sldId id="256" r:id="rId2"/>
    <p:sldId id="410" r:id="rId3"/>
    <p:sldId id="405" r:id="rId4"/>
    <p:sldId id="406" r:id="rId5"/>
    <p:sldId id="407" r:id="rId6"/>
    <p:sldId id="408" r:id="rId7"/>
    <p:sldId id="362" r:id="rId8"/>
    <p:sldId id="285" r:id="rId9"/>
    <p:sldId id="403" r:id="rId10"/>
    <p:sldId id="373" r:id="rId11"/>
    <p:sldId id="404" r:id="rId12"/>
    <p:sldId id="411" r:id="rId13"/>
    <p:sldId id="421" r:id="rId14"/>
    <p:sldId id="419" r:id="rId15"/>
    <p:sldId id="429" r:id="rId16"/>
    <p:sldId id="431" r:id="rId17"/>
    <p:sldId id="430" r:id="rId18"/>
    <p:sldId id="436" r:id="rId19"/>
    <p:sldId id="432" r:id="rId20"/>
    <p:sldId id="437" r:id="rId21"/>
    <p:sldId id="433" r:id="rId22"/>
    <p:sldId id="435" r:id="rId23"/>
    <p:sldId id="420" r:id="rId24"/>
  </p:sldIdLst>
  <p:sldSz cx="9144000" cy="5143500" type="screen16x9"/>
  <p:notesSz cx="6858000" cy="9144000"/>
  <p:defaultTextStyle>
    <a:lvl1pPr marL="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9pPr>
    <a:extLst/>
  </p:defaultTextStyle>
  <p:extLst>
    <p:ext uri="{EFAFB233-063F-42B5-8137-9DF3F51BA10A}">
      <p15:sldGuideLst xmlns=""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85211"/>
    <a:srgbClr val="8DFFA3"/>
    <a:srgbClr val="8CFBA3"/>
    <a:srgbClr val="AD4422"/>
    <a:srgbClr val="184721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8FB837D-C827-4EFA-A057-4D05807E0F7C}" styleName="Стиль из темы 1 - акцент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Средний стиль 2 -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Средний стиль 2 -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EC20E35-A176-4012-BC5E-935CFFF8708E}" styleName="Средний стиль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Средний стиль 2 -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Светлый стиль 2 -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Светлый стиль 2 - акцент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Светлый стиль 2 - акцент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E8B1032C-EA38-4F05-BA0D-38AFFFC7BED3}" styleName="Светлый стиль 3 - акцент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DBED569-4797-4DF1-A0F4-6AAB3CD982D8}" styleName="Светлый стиль 3 - акцент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D083AE6-46FA-4A59-8FB0-9F97EB10719F}" styleName="Светлый стиль 3 - акцент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Светлый стиль 3 -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Светлый стиль 3 - акцент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Светлый стиль 3 -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Светлый стиль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75DCB02-9BB8-47FD-8907-85C794F793BA}" styleName="Стиль из темы 1 - акцент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E171933-4619-4E11-9A3F-F7608DF75F80}" styleName="Средний стиль 1 - акцент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7155" autoAdjust="0"/>
    <p:restoredTop sz="87654" autoAdjust="0"/>
  </p:normalViewPr>
  <p:slideViewPr>
    <p:cSldViewPr>
      <p:cViewPr>
        <p:scale>
          <a:sx n="120" d="100"/>
          <a:sy n="120" d="100"/>
        </p:scale>
        <p:origin x="-1374" y="-34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 latinLnBrk="0">
              <a:defRPr lang="ru-RU" sz="1200"/>
            </a:lvl1pPr>
            <a:extLst/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 latinLnBrk="0">
              <a:defRPr lang="ru-RU" sz="1200"/>
            </a:lvl1pPr>
            <a:extLst/>
          </a:lstStyle>
          <a:p>
            <a:fld id="{A8ADFD5B-A66C-449C-B6E8-FB716D07777D}" type="datetimeFigureOut">
              <a:rPr lang="cs-CZ"/>
              <a:pPr/>
              <a:t>25.10.2025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 latinLnBrk="0">
              <a:defRPr lang="ru-RU" sz="1200"/>
            </a:lvl1pPr>
            <a:extLst/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 latinLnBrk="0">
              <a:defRPr lang="ru-RU" sz="1200"/>
            </a:lvl1pPr>
            <a:extLst/>
          </a:lstStyle>
          <a:p>
            <a:fld id="{CA5D3BF3-D352-46FC-8343-31F56E6730EA}" type="slidenum">
              <a:rPr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1413459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9pPr>
    <a:extLst/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="" xmlns:p14="http://schemas.microsoft.com/office/powerpoint/2010/main" val="26742735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514350" y="4012427"/>
            <a:ext cx="8629650" cy="1786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Заголовок 28"/>
          <p:cNvSpPr>
            <a:spLocks noGrp="1"/>
          </p:cNvSpPr>
          <p:nvPr>
            <p:ph type="ctrTitle"/>
          </p:nvPr>
        </p:nvSpPr>
        <p:spPr>
          <a:xfrm>
            <a:off x="381000" y="3640059"/>
            <a:ext cx="8458200" cy="916781"/>
          </a:xfrm>
        </p:spPr>
        <p:txBody>
          <a:bodyPr anchor="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381000" y="2914650"/>
            <a:ext cx="8458200" cy="68580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16" name="Дата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fld id="{047E157E-8DCB-4F70-A0AF-5EB586A91DD4}" type="datetime1">
              <a:rPr kumimoji="0" lang="ru-RU" smtClean="0">
                <a:solidFill>
                  <a:srgbClr val="FFFFFF"/>
                </a:solidFill>
              </a:rPr>
              <a:pPr algn="ctr"/>
              <a:t>25.10.2025</a:t>
            </a:fld>
            <a:endParaRPr kumimoji="0" lang="ru-RU" sz="2000">
              <a:solidFill>
                <a:srgbClr val="FFFFFF"/>
              </a:solidFill>
            </a:endParaRPr>
          </a:p>
        </p:txBody>
      </p:sp>
      <p:sp>
        <p:nvSpPr>
          <p:cNvPr id="2" name="Нижний колонтитул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kumimoji="0" lang="ru-RU">
              <a:solidFill>
                <a:schemeClr val="tx2"/>
              </a:solidFill>
            </a:endParaRPr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2"/>
          </p:nvPr>
        </p:nvSpPr>
        <p:spPr>
          <a:xfrm>
            <a:off x="8229600" y="4855464"/>
            <a:ext cx="758952" cy="185166"/>
          </a:xfrm>
        </p:spPr>
        <p:txBody>
          <a:bodyPr/>
          <a:lstStyle/>
          <a:p>
            <a:fld id="{8F82E0A0-C266-4798-8C8F-B9F91E9DA37E}" type="slidenum">
              <a:rPr kumimoji="0" lang="ru-RU" smtClean="0">
                <a:solidFill>
                  <a:schemeClr val="tx2"/>
                </a:solidFill>
              </a:rPr>
              <a:pPr/>
              <a:t>‹#›</a:t>
            </a:fld>
            <a:endParaRPr kumimoji="0" lang="ru-RU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Заголовок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27" name="Содержимое 2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5" name="Дата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9E887-41D7-5347-B93A-56273AC63D8C}" type="datetimeFigureOut">
              <a:rPr lang="ru-RU" smtClean="0"/>
              <a:pPr/>
              <a:t>25.10.2025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>
          <a:xfrm>
            <a:off x="3581400" y="57150"/>
            <a:ext cx="2895600" cy="216694"/>
          </a:xfrm>
        </p:spPr>
        <p:txBody>
          <a:bodyPr/>
          <a:lstStyle/>
          <a:p>
            <a:endParaRPr lang="ru-RU"/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12"/>
          </p:nvPr>
        </p:nvSpPr>
        <p:spPr>
          <a:xfrm>
            <a:off x="8229600" y="4855464"/>
            <a:ext cx="758952" cy="185166"/>
          </a:xfrm>
        </p:spPr>
        <p:txBody>
          <a:bodyPr/>
          <a:lstStyle/>
          <a:p>
            <a:fld id="{117BBACD-2B63-DA43-8F7D-D80EA5101EC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514350" y="2583677"/>
            <a:ext cx="8629650" cy="1786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Текст 5"/>
          <p:cNvSpPr>
            <a:spLocks noGrp="1"/>
          </p:cNvSpPr>
          <p:nvPr>
            <p:ph type="body" idx="1"/>
          </p:nvPr>
        </p:nvSpPr>
        <p:spPr>
          <a:xfrm>
            <a:off x="381000" y="1257300"/>
            <a:ext cx="8458200" cy="914400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2">
                    <a:shade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19" name="Дата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F9F07-3BC7-4570-B054-79111B0A380C}" type="datetime1">
              <a:rPr kumimoji="0" lang="cs-CZ" smtClean="0"/>
              <a:pPr/>
              <a:t>25.10.2025</a:t>
            </a:fld>
            <a:endParaRPr kumimoji="0" lang="ru-RU"/>
          </a:p>
        </p:txBody>
      </p:sp>
      <p:sp>
        <p:nvSpPr>
          <p:cNvPr id="11" name="Нижний колонтитул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ru-RU"/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kumimoji="0" lang="ru-RU" sz="2400" b="1" smtClean="0">
                <a:solidFill>
                  <a:srgbClr val="FFFFFF"/>
                </a:solidFill>
              </a:rPr>
              <a:pPr algn="ctr"/>
              <a:t>‹#›</a:t>
            </a:fld>
            <a:endParaRPr kumimoji="0" lang="ru-RU" sz="2400">
              <a:solidFill>
                <a:srgbClr val="FFFFFF"/>
              </a:solidFill>
            </a:endParaRPr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180475" y="2210314"/>
            <a:ext cx="8686800" cy="888619"/>
          </a:xfrm>
        </p:spPr>
        <p:txBody>
          <a:bodyPr rtlCol="0" anchor="t"/>
          <a:lstStyle>
            <a:lvl1pPr algn="r"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19"/>
          <p:cNvSpPr>
            <a:spLocks noGrp="1"/>
          </p:cNvSpPr>
          <p:nvPr>
            <p:ph type="title"/>
          </p:nvPr>
        </p:nvSpPr>
        <p:spPr>
          <a:xfrm>
            <a:off x="301752" y="342900"/>
            <a:ext cx="8686800" cy="630936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4" name="Содержимое 13"/>
          <p:cNvSpPr>
            <a:spLocks noGrp="1"/>
          </p:cNvSpPr>
          <p:nvPr>
            <p:ph sz="half" idx="1"/>
          </p:nvPr>
        </p:nvSpPr>
        <p:spPr>
          <a:xfrm>
            <a:off x="304800" y="1200150"/>
            <a:ext cx="4191000" cy="3543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Содержимое 12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343400" cy="3543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1" name="Дата 2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06EA6-EFEA-4C30-9264-4F9291A5780D}" type="datetime1">
              <a:rPr kumimoji="0" lang="cs-CZ" smtClean="0"/>
              <a:pPr/>
              <a:t>25.10.2025</a:t>
            </a:fld>
            <a:endParaRPr kumimoji="0"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ru-RU"/>
          </a:p>
        </p:txBody>
      </p:sp>
      <p:sp>
        <p:nvSpPr>
          <p:cNvPr id="31" name="Номер слайда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kumimoji="0" lang="ru-RU" sz="1400" b="1" smtClean="0">
                <a:solidFill>
                  <a:srgbClr val="FFFFFF"/>
                </a:solidFill>
              </a:rPr>
              <a:pPr algn="ctr"/>
              <a:t>‹#›</a:t>
            </a:fld>
            <a:endParaRPr kumimoji="0"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Заголовок 28"/>
          <p:cNvSpPr>
            <a:spLocks noGrp="1"/>
          </p:cNvSpPr>
          <p:nvPr>
            <p:ph type="title"/>
          </p:nvPr>
        </p:nvSpPr>
        <p:spPr>
          <a:xfrm>
            <a:off x="304800" y="4057650"/>
            <a:ext cx="8610600" cy="661988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281444" y="500062"/>
            <a:ext cx="4290556" cy="47982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25" name="Текст 24"/>
          <p:cNvSpPr>
            <a:spLocks noGrp="1"/>
          </p:cNvSpPr>
          <p:nvPr>
            <p:ph type="body" sz="half" idx="3"/>
          </p:nvPr>
        </p:nvSpPr>
        <p:spPr>
          <a:xfrm>
            <a:off x="4645026" y="500062"/>
            <a:ext cx="4292241" cy="47982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quarter" idx="2"/>
          </p:nvPr>
        </p:nvSpPr>
        <p:spPr>
          <a:xfrm>
            <a:off x="281444" y="987028"/>
            <a:ext cx="4290556" cy="295632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8" name="Содержимое 27"/>
          <p:cNvSpPr>
            <a:spLocks noGrp="1"/>
          </p:cNvSpPr>
          <p:nvPr>
            <p:ph sz="quarter" idx="4"/>
          </p:nvPr>
        </p:nvSpPr>
        <p:spPr>
          <a:xfrm>
            <a:off x="4648730" y="987028"/>
            <a:ext cx="4288536" cy="295632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06EA6-EFEA-4C30-9264-4F9291A5780D}" type="datetime1">
              <a:rPr kumimoji="0" lang="cs-CZ" smtClean="0"/>
              <a:pPr/>
              <a:t>25.10.2025</a:t>
            </a:fld>
            <a:endParaRPr kumimoji="0"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8229600" y="4857750"/>
            <a:ext cx="762000" cy="185166"/>
          </a:xfrm>
        </p:spPr>
        <p:txBody>
          <a:bodyPr/>
          <a:lstStyle/>
          <a:p>
            <a:pPr algn="ctr"/>
            <a:fld id="{8F82E0A0-C266-4798-8C8F-B9F91E9DA37E}" type="slidenum">
              <a:rPr kumimoji="0" lang="ru-RU" sz="1400" b="1" smtClean="0">
                <a:solidFill>
                  <a:srgbClr val="FFFFFF"/>
                </a:solidFill>
              </a:rPr>
              <a:pPr algn="ctr"/>
              <a:t>‹#›</a:t>
            </a:fld>
            <a:endParaRPr kumimoji="0" lang="ru-RU"/>
          </a:p>
        </p:txBody>
      </p:sp>
      <p:sp>
        <p:nvSpPr>
          <p:cNvPr id="11" name="Прямая соединительная линия 10"/>
          <p:cNvSpPr>
            <a:spLocks noChangeShapeType="1"/>
          </p:cNvSpPr>
          <p:nvPr/>
        </p:nvSpPr>
        <p:spPr bwMode="auto">
          <a:xfrm>
            <a:off x="514350" y="4514850"/>
            <a:ext cx="8629650" cy="1786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Заголовок 29"/>
          <p:cNvSpPr>
            <a:spLocks noGrp="1"/>
          </p:cNvSpPr>
          <p:nvPr>
            <p:ph type="title"/>
          </p:nvPr>
        </p:nvSpPr>
        <p:spPr>
          <a:xfrm>
            <a:off x="301752" y="342900"/>
            <a:ext cx="8686800" cy="630936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2" name="Дата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ADB5D-B7A0-47E3-AD2D-B1A6F8614213}" type="datetime1">
              <a:rPr kumimoji="0" lang="cs-CZ" smtClean="0"/>
              <a:pPr/>
              <a:t>25.10.2025</a:t>
            </a:fld>
            <a:endParaRPr kumimoji="0" lang="ru-RU"/>
          </a:p>
        </p:txBody>
      </p:sp>
      <p:sp>
        <p:nvSpPr>
          <p:cNvPr id="21" name="Нижний колонтитул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7CB7D-F184-43C7-B6FD-03D728E1BBFF}" type="slidenum">
              <a:rPr kumimoji="0" lang="ru-RU" smtClean="0">
                <a:solidFill>
                  <a:srgbClr val="FFFFFF"/>
                </a:solidFill>
              </a:rPr>
              <a:pPr/>
              <a:t>‹#›</a:t>
            </a:fld>
            <a:endParaRPr kumimoji="0" lang="ru-RU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06EA6-EFEA-4C30-9264-4F9291A5780D}" type="datetime1">
              <a:rPr kumimoji="0" lang="cs-CZ" smtClean="0"/>
              <a:pPr/>
              <a:t>25.10.2025</a:t>
            </a:fld>
            <a:endParaRPr kumimoji="0" lang="ru-RU" sz="1400">
              <a:solidFill>
                <a:schemeClr val="tx2"/>
              </a:solidFill>
            </a:endParaRPr>
          </a:p>
        </p:txBody>
      </p:sp>
      <p:sp>
        <p:nvSpPr>
          <p:cNvPr id="24" name="Нижний колонтитул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kumimoji="0" lang="ru-RU" sz="1400">
              <a:solidFill>
                <a:schemeClr val="tx2"/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kumimoji="0" lang="ru-RU" sz="1400" b="1" smtClean="0">
                <a:solidFill>
                  <a:srgbClr val="FFFFFF"/>
                </a:solidFill>
              </a:rPr>
              <a:pPr algn="ctr"/>
              <a:t>‹#›</a:t>
            </a:fld>
            <a:endParaRPr kumimoji="0" lang="ru-RU" sz="14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>
            <a:off x="514350" y="4386838"/>
            <a:ext cx="8629650" cy="1786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Заголовок 11"/>
          <p:cNvSpPr>
            <a:spLocks noGrp="1"/>
          </p:cNvSpPr>
          <p:nvPr>
            <p:ph type="title"/>
          </p:nvPr>
        </p:nvSpPr>
        <p:spPr>
          <a:xfrm>
            <a:off x="457200" y="4114800"/>
            <a:ext cx="8458200" cy="390525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26" name="Текст 25"/>
          <p:cNvSpPr>
            <a:spLocks noGrp="1"/>
          </p:cNvSpPr>
          <p:nvPr>
            <p:ph type="body" idx="2"/>
          </p:nvPr>
        </p:nvSpPr>
        <p:spPr>
          <a:xfrm>
            <a:off x="457201" y="457200"/>
            <a:ext cx="3008313" cy="3600450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14" name="Содержимое 13"/>
          <p:cNvSpPr>
            <a:spLocks noGrp="1"/>
          </p:cNvSpPr>
          <p:nvPr>
            <p:ph sz="half" idx="1"/>
          </p:nvPr>
        </p:nvSpPr>
        <p:spPr>
          <a:xfrm>
            <a:off x="3575050" y="457200"/>
            <a:ext cx="5340350" cy="36004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5" name="Дата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A8198-4617-485E-9585-4840B69DBBA6}" type="datetime1">
              <a:rPr kumimoji="0" lang="cs-CZ" smtClean="0"/>
              <a:pPr/>
              <a:t>25.10.2025</a:t>
            </a:fld>
            <a:endParaRPr kumimoji="0" lang="ru-RU"/>
          </a:p>
        </p:txBody>
      </p:sp>
      <p:sp>
        <p:nvSpPr>
          <p:cNvPr id="29" name="Нижний колонтитул 2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7CB7D-F184-43C7-B6FD-03D728E1BBFF}" type="slidenum">
              <a:rPr kumimoji="0" lang="ru-RU" smtClean="0">
                <a:solidFill>
                  <a:srgbClr val="FFFFFF"/>
                </a:solidFill>
              </a:rPr>
              <a:pPr/>
              <a:t>‹#›</a:t>
            </a:fld>
            <a:endParaRPr kumimoji="0" lang="ru-RU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Рисунок 12"/>
          <p:cNvSpPr>
            <a:spLocks noGrp="1"/>
          </p:cNvSpPr>
          <p:nvPr>
            <p:ph type="pic" idx="1"/>
          </p:nvPr>
        </p:nvSpPr>
        <p:spPr>
          <a:xfrm>
            <a:off x="3505200" y="462476"/>
            <a:ext cx="5029200" cy="2743200"/>
          </a:xfrm>
          <a:solidFill>
            <a:schemeClr val="bg1"/>
          </a:solidFill>
          <a:ln w="6350">
            <a:solidFill>
              <a:schemeClr val="accent1"/>
            </a:solidFill>
          </a:ln>
          <a:effectLst>
            <a:reflection blurRad="1000" stA="49000" endA="500" endPos="10000" dist="900" dir="5400000" sy="-90000" algn="bl" rotWithShape="0"/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06EA6-EFEA-4C30-9264-4F9291A5780D}" type="datetime1">
              <a:rPr kumimoji="0" lang="cs-CZ" smtClean="0"/>
              <a:pPr/>
              <a:t>25.10.2025</a:t>
            </a:fld>
            <a:endParaRPr kumimoji="0"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ru-RU"/>
          </a:p>
        </p:txBody>
      </p:sp>
      <p:sp>
        <p:nvSpPr>
          <p:cNvPr id="31" name="Номер слайда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kumimoji="0" lang="ru-RU" sz="2800" b="1" smtClean="0">
                <a:solidFill>
                  <a:srgbClr val="FFFFFF"/>
                </a:solidFill>
              </a:rPr>
              <a:pPr algn="ctr"/>
              <a:t>‹#›</a:t>
            </a:fld>
            <a:endParaRPr kumimoji="0" lang="ru-RU" sz="2800"/>
          </a:p>
        </p:txBody>
      </p:sp>
      <p:sp>
        <p:nvSpPr>
          <p:cNvPr id="17" name="Заголовок 16"/>
          <p:cNvSpPr>
            <a:spLocks noGrp="1"/>
          </p:cNvSpPr>
          <p:nvPr>
            <p:ph type="title"/>
          </p:nvPr>
        </p:nvSpPr>
        <p:spPr>
          <a:xfrm>
            <a:off x="381000" y="3745320"/>
            <a:ext cx="5867400" cy="391716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26" name="Текст 25"/>
          <p:cNvSpPr>
            <a:spLocks noGrp="1"/>
          </p:cNvSpPr>
          <p:nvPr>
            <p:ph type="body" sz="half" idx="2"/>
          </p:nvPr>
        </p:nvSpPr>
        <p:spPr>
          <a:xfrm>
            <a:off x="381000" y="4149913"/>
            <a:ext cx="5867400" cy="576263"/>
          </a:xfrm>
        </p:spPr>
        <p:txBody>
          <a:bodyPr lIns="109728" tIns="0"/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06EA6-EFEA-4C30-9264-4F9291A5780D}" type="datetime1">
              <a:rPr kumimoji="0" lang="cs-CZ" smtClean="0"/>
              <a:pPr/>
              <a:t>25.10.2025</a:t>
            </a:fld>
            <a:endParaRPr kumimoji="0" lang="ru-RU" sz="1400">
              <a:solidFill>
                <a:schemeClr val="tx2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kumimoji="0" lang="ru-RU" sz="1400">
              <a:solidFill>
                <a:schemeClr val="tx2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kumimoji="0" lang="ru-RU" sz="1400" b="1" smtClean="0">
                <a:solidFill>
                  <a:srgbClr val="FFFFFF"/>
                </a:solidFill>
              </a:rPr>
              <a:pPr algn="ctr"/>
              <a:t>‹#›</a:t>
            </a:fld>
            <a:endParaRPr kumimoji="0" lang="ru-RU" sz="14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58000" y="411957"/>
            <a:ext cx="1828800" cy="4388644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411957"/>
            <a:ext cx="6248400" cy="4388644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06EA6-EFEA-4C30-9264-4F9291A5780D}" type="datetime1">
              <a:rPr kumimoji="0" lang="cs-CZ" smtClean="0"/>
              <a:pPr/>
              <a:t>25.10.2025</a:t>
            </a:fld>
            <a:endParaRPr kumimoji="0" lang="ru-RU" sz="1400">
              <a:solidFill>
                <a:schemeClr val="tx2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kumimoji="0" lang="ru-RU" sz="1400">
              <a:solidFill>
                <a:schemeClr val="tx2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kumimoji="0" lang="ru-RU" sz="1400" b="1" smtClean="0">
                <a:solidFill>
                  <a:srgbClr val="FFFFFF"/>
                </a:solidFill>
              </a:rPr>
              <a:pPr algn="ctr"/>
              <a:t>‹#›</a:t>
            </a:fld>
            <a:endParaRPr kumimoji="0" lang="ru-RU" sz="14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latinLnBrk="0" hangingPunct="1"/>
            <a:r>
              <a:rPr kumimoji="0" lang="ru-RU"/>
              <a:t>Образец заголовка</a:t>
            </a:r>
            <a:endParaRPr kumimoji="0"/>
          </a:p>
        </p:txBody>
      </p:sp>
      <p:sp>
        <p:nvSpPr>
          <p:cNvPr id="3" name="Rectangl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06EA6-EFEA-4C30-9264-4F9291A5780D}" type="datetime1">
              <a:rPr kumimoji="0" lang="cs-CZ"/>
              <a:pPr/>
              <a:t>25.10.2025</a:t>
            </a:fld>
            <a:endParaRPr kumimoji="0" lang="ru-RU"/>
          </a:p>
        </p:txBody>
      </p:sp>
      <p:sp>
        <p:nvSpPr>
          <p:cNvPr id="4" name="Rectangl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ru-RU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kumimoji="0" lang="ru-RU" sz="1400" b="1">
                <a:solidFill>
                  <a:srgbClr val="FFFFFF"/>
                </a:solidFill>
              </a:rPr>
              <a:pPr algn="ctr"/>
              <a:t>‹#›</a:t>
            </a:fld>
            <a:endParaRPr kumimoji="0" lang="ru-RU"/>
          </a:p>
        </p:txBody>
      </p:sp>
      <p:sp>
        <p:nvSpPr>
          <p:cNvPr id="7" name="Rectangle 6"/>
          <p:cNvSpPr>
            <a:spLocks noGrp="1"/>
          </p:cNvSpPr>
          <p:nvPr>
            <p:ph sz="quarter" idx="13"/>
          </p:nvPr>
        </p:nvSpPr>
        <p:spPr>
          <a:xfrm>
            <a:off x="609600" y="1352550"/>
            <a:ext cx="8153400" cy="3276600"/>
          </a:xfrm>
        </p:spPr>
        <p:txBody>
          <a:bodyPr/>
          <a:lstStyle/>
          <a:p>
            <a:pPr lvl="0" eaLnBrk="1" latinLnBrk="0" hangingPunct="1"/>
            <a:r>
              <a:rPr kumimoji="0" lang="ru-RU"/>
              <a:t>Образец текста</a:t>
            </a:r>
          </a:p>
          <a:p>
            <a:pPr lvl="1" eaLnBrk="1" latinLnBrk="0" hangingPunct="1"/>
            <a:r>
              <a:rPr kumimoji="0" lang="ru-RU"/>
              <a:t>Второй уровень</a:t>
            </a:r>
          </a:p>
          <a:p>
            <a:pPr lvl="2" eaLnBrk="1" latinLnBrk="0" hangingPunct="1"/>
            <a:r>
              <a:rPr kumimoji="0" lang="ru-RU"/>
              <a:t>Третий уровень</a:t>
            </a:r>
          </a:p>
          <a:p>
            <a:pPr lvl="3" eaLnBrk="1" latinLnBrk="0" hangingPunct="1"/>
            <a:r>
              <a:rPr kumimoji="0" lang="ru-RU"/>
              <a:t>Четвертый уровень</a:t>
            </a:r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514350" y="788174"/>
            <a:ext cx="8629650" cy="1786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Текст 7"/>
          <p:cNvSpPr>
            <a:spLocks noGrp="1"/>
          </p:cNvSpPr>
          <p:nvPr>
            <p:ph type="body" idx="1"/>
          </p:nvPr>
        </p:nvSpPr>
        <p:spPr>
          <a:xfrm>
            <a:off x="304800" y="1165622"/>
            <a:ext cx="8686800" cy="339447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1" name="Дата 10"/>
          <p:cNvSpPr>
            <a:spLocks noGrp="1"/>
          </p:cNvSpPr>
          <p:nvPr>
            <p:ph type="dt" sz="half" idx="2"/>
          </p:nvPr>
        </p:nvSpPr>
        <p:spPr>
          <a:xfrm>
            <a:off x="6477000" y="57150"/>
            <a:ext cx="2514600" cy="216694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E4606EA6-EFEA-4C30-9264-4F9291A5780D}" type="datetime1">
              <a:rPr kumimoji="0" lang="cs-CZ" smtClean="0"/>
              <a:pPr/>
              <a:t>25.10.2025</a:t>
            </a:fld>
            <a:endParaRPr kumimoji="0" lang="ru-RU" sz="1400">
              <a:solidFill>
                <a:schemeClr val="tx2"/>
              </a:solidFill>
            </a:endParaRPr>
          </a:p>
        </p:txBody>
      </p:sp>
      <p:sp>
        <p:nvSpPr>
          <p:cNvPr id="28" name="Нижний колонтитул 27"/>
          <p:cNvSpPr>
            <a:spLocks noGrp="1"/>
          </p:cNvSpPr>
          <p:nvPr>
            <p:ph type="ftr" sz="quarter" idx="3"/>
          </p:nvPr>
        </p:nvSpPr>
        <p:spPr>
          <a:xfrm>
            <a:off x="3124200" y="57150"/>
            <a:ext cx="3352800" cy="216694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pPr algn="r"/>
            <a:endParaRPr kumimoji="0" lang="ru-RU" sz="1400">
              <a:solidFill>
                <a:schemeClr val="tx2"/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4"/>
          </p:nvPr>
        </p:nvSpPr>
        <p:spPr>
          <a:xfrm>
            <a:off x="8229600" y="4857751"/>
            <a:ext cx="762000" cy="183356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pPr algn="ctr"/>
            <a:fld id="{8F82E0A0-C266-4798-8C8F-B9F91E9DA37E}" type="slidenum">
              <a:rPr kumimoji="0" lang="ru-RU" sz="1400" b="1" smtClean="0">
                <a:solidFill>
                  <a:srgbClr val="FFFFFF"/>
                </a:solidFill>
              </a:rPr>
              <a:pPr algn="ctr"/>
              <a:t>‹#›</a:t>
            </a:fld>
            <a:endParaRPr kumimoji="0" lang="ru-RU" sz="1400" b="1">
              <a:solidFill>
                <a:srgbClr val="FFFFFF"/>
              </a:solidFill>
            </a:endParaRPr>
          </a:p>
        </p:txBody>
      </p:sp>
      <p:sp>
        <p:nvSpPr>
          <p:cNvPr id="10" name="Заголовок 9"/>
          <p:cNvSpPr>
            <a:spLocks noGrp="1"/>
          </p:cNvSpPr>
          <p:nvPr>
            <p:ph type="title"/>
          </p:nvPr>
        </p:nvSpPr>
        <p:spPr>
          <a:xfrm>
            <a:off x="304800" y="342900"/>
            <a:ext cx="8686800" cy="62865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514350" y="788174"/>
            <a:ext cx="8629650" cy="1786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Прямая соединительная линия 11"/>
          <p:cNvSpPr>
            <a:spLocks noChangeShapeType="1"/>
          </p:cNvSpPr>
          <p:nvPr/>
        </p:nvSpPr>
        <p:spPr bwMode="auto">
          <a:xfrm>
            <a:off x="514350" y="793490"/>
            <a:ext cx="8629650" cy="1786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5" r:id="rId1"/>
    <p:sldLayoutId id="2147483896" r:id="rId2"/>
    <p:sldLayoutId id="2147483897" r:id="rId3"/>
    <p:sldLayoutId id="2147483898" r:id="rId4"/>
    <p:sldLayoutId id="2147483899" r:id="rId5"/>
    <p:sldLayoutId id="2147483900" r:id="rId6"/>
    <p:sldLayoutId id="2147483901" r:id="rId7"/>
    <p:sldLayoutId id="2147483902" r:id="rId8"/>
    <p:sldLayoutId id="2147483903" r:id="rId9"/>
    <p:sldLayoutId id="2147483904" r:id="rId10"/>
    <p:sldLayoutId id="2147483905" r:id="rId11"/>
    <p:sldLayoutId id="2147483906" r:id="rId12"/>
  </p:sldLayoutIdLst>
  <p:txStyles>
    <p:titleStyle>
      <a:lvl1pPr algn="l" rtl="0" eaLnBrk="1" latinLnBrk="0" hangingPunct="1">
        <a:spcBef>
          <a:spcPct val="0"/>
        </a:spcBef>
        <a:buNone/>
        <a:defRPr kumimoji="0" sz="3600" kern="1200" cap="all" baseline="0">
          <a:solidFill>
            <a:schemeClr val="tx2"/>
          </a:solidFill>
          <a:effectLst>
            <a:reflection blurRad="12700" stA="48000" endA="300" endPos="55000" dir="5400000" sy="-90000" algn="bl" rotWithShape="0"/>
          </a:effectLst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"/>
        <a:defRPr kumimoji="0"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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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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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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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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file:////var/folders/85/fvs1qn8x0yx_n8bv6mmn9l480000gn/T/com.microsoft.Word/WebArchiveCopyPasteTempFiles/readmsg%3fid=15856508790353647233;0;0;1;1&amp;mode=attachment&amp;email=alday@inbox.ru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Grp="1"/>
          </p:cNvSpPr>
          <p:nvPr>
            <p:ph type="ctrTitle"/>
          </p:nvPr>
        </p:nvSpPr>
        <p:spPr>
          <a:xfrm>
            <a:off x="357159" y="1000114"/>
            <a:ext cx="8429684" cy="2143140"/>
          </a:xfrm>
          <a:ln>
            <a:solidFill>
              <a:srgbClr val="FFC000"/>
            </a:solidFill>
          </a:ln>
        </p:spPr>
        <p:txBody>
          <a:bodyPr>
            <a:normAutofit fontScale="90000"/>
          </a:bodyPr>
          <a:lstStyle/>
          <a:p>
            <a:pPr algn="ctr"/>
            <a:r>
              <a:rPr lang="ru-RU" sz="4000" b="1" dirty="0" smtClean="0">
                <a:solidFill>
                  <a:srgbClr val="FF0000"/>
                </a:solidFill>
                <a:latin typeface="Constantia" pitchFamily="18" charset="0"/>
              </a:rPr>
              <a:t>Организация </a:t>
            </a:r>
            <a:br>
              <a:rPr lang="ru-RU" sz="4000" b="1" dirty="0" smtClean="0">
                <a:solidFill>
                  <a:srgbClr val="FF0000"/>
                </a:solidFill>
                <a:latin typeface="Constantia" pitchFamily="18" charset="0"/>
              </a:rPr>
            </a:br>
            <a:r>
              <a:rPr lang="ru-RU" sz="4000" b="1" dirty="0" smtClean="0">
                <a:solidFill>
                  <a:srgbClr val="FF0000"/>
                </a:solidFill>
                <a:latin typeface="Constantia" pitchFamily="18" charset="0"/>
              </a:rPr>
              <a:t>дистанционного обучения с детьми дошкольного возраста</a:t>
            </a:r>
            <a:r>
              <a:rPr lang="ru-RU" sz="3300" b="1" dirty="0" smtClean="0">
                <a:latin typeface="Constantia" pitchFamily="18" charset="0"/>
              </a:rPr>
              <a:t/>
            </a:r>
            <a:br>
              <a:rPr lang="ru-RU" sz="3300" b="1" dirty="0" smtClean="0">
                <a:latin typeface="Constantia" pitchFamily="18" charset="0"/>
              </a:rPr>
            </a:br>
            <a:r>
              <a:rPr lang="ru-RU" sz="3300" b="1" dirty="0" smtClean="0">
                <a:latin typeface="Constantia" pitchFamily="18" charset="0"/>
              </a:rPr>
              <a:t/>
            </a:r>
            <a:br>
              <a:rPr lang="ru-RU" sz="3300" b="1" dirty="0" smtClean="0">
                <a:latin typeface="Constantia" pitchFamily="18" charset="0"/>
              </a:rPr>
            </a:br>
            <a:endParaRPr lang="ru-RU" sz="3300" dirty="0">
              <a:solidFill>
                <a:schemeClr val="tx2">
                  <a:lumMod val="75000"/>
                </a:schemeClr>
              </a:solidFill>
              <a:latin typeface="Constantia" pitchFamily="18" charset="0"/>
            </a:endParaRPr>
          </a:p>
        </p:txBody>
      </p:sp>
      <p:sp>
        <p:nvSpPr>
          <p:cNvPr id="5" name="Rectangle 4"/>
          <p:cNvSpPr>
            <a:spLocks noGrp="1"/>
          </p:cNvSpPr>
          <p:nvPr>
            <p:ph type="subTitle" idx="1"/>
          </p:nvPr>
        </p:nvSpPr>
        <p:spPr>
          <a:xfrm>
            <a:off x="4500562" y="2571750"/>
            <a:ext cx="4500594" cy="2000265"/>
          </a:xfrm>
        </p:spPr>
        <p:txBody>
          <a:bodyPr>
            <a:normAutofit/>
          </a:bodyPr>
          <a:lstStyle/>
          <a:p>
            <a:pPr algn="r"/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Выполнил: </a:t>
            </a:r>
          </a:p>
          <a:p>
            <a:pPr algn="r"/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воспитатель МБОУ СОШ №34</a:t>
            </a:r>
          </a:p>
          <a:p>
            <a:pPr algn="r"/>
            <a:r>
              <a:rPr lang="ru-RU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Дроздова Наталья Викторовна</a:t>
            </a:r>
            <a:endParaRPr lang="ru-RU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571472" y="785800"/>
            <a:ext cx="8072494" cy="29854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indent="452438" algn="ctr" fontAlgn="base">
              <a:spcBef>
                <a:spcPct val="0"/>
              </a:spcBef>
              <a:spcAft>
                <a:spcPct val="0"/>
              </a:spcAft>
            </a:pPr>
            <a:r>
              <a:rPr sz="3200" b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Дистанционное обучение </a:t>
            </a:r>
          </a:p>
          <a:p>
            <a:pPr indent="452438" algn="ctr" fontAlgn="base">
              <a:spcBef>
                <a:spcPct val="0"/>
              </a:spcBef>
              <a:spcAft>
                <a:spcPct val="0"/>
              </a:spcAft>
            </a:pPr>
            <a:r>
              <a:rPr sz="3200" b="1" i="1" u="sng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на данный момент </a:t>
            </a:r>
            <a:r>
              <a:rPr sz="3200" b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является одной из самых актуальных тем, </a:t>
            </a:r>
          </a:p>
          <a:p>
            <a:pPr indent="452438" algn="ctr" fontAlgn="base">
              <a:spcBef>
                <a:spcPct val="0"/>
              </a:spcBef>
              <a:spcAft>
                <a:spcPct val="0"/>
              </a:spcAft>
            </a:pPr>
            <a:r>
              <a:rPr sz="3200" b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обсуждаемых в ряду инноваций в системе образования.</a:t>
            </a:r>
          </a:p>
          <a:p>
            <a:pPr indent="452438" algn="ctr" fontAlgn="base">
              <a:spcBef>
                <a:spcPct val="0"/>
              </a:spcBef>
              <a:spcAft>
                <a:spcPct val="0"/>
              </a:spcAft>
            </a:pPr>
            <a:endParaRPr sz="2800" b="1" smtClean="0">
              <a:solidFill>
                <a:srgbClr val="8DFFA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1"/>
          <p:cNvSpPr>
            <a:spLocks noChangeArrowheads="1"/>
          </p:cNvSpPr>
          <p:nvPr/>
        </p:nvSpPr>
        <p:spPr bwMode="auto">
          <a:xfrm>
            <a:off x="428596" y="214296"/>
            <a:ext cx="8286808" cy="16927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52438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1" i="0" u="sng" strike="noStrike" cap="none" normalizeH="0" baseline="0" dirty="0" smtClean="0">
                <a:ln>
                  <a:noFill/>
                </a:ln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Дистанционное  образование  детей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endParaRPr kumimoji="0" lang="ru-RU" sz="2000" b="1" i="0" u="none" strike="noStrike" cap="none" normalizeH="0" baseline="0" dirty="0" smtClean="0">
              <a:ln>
                <a:noFill/>
              </a:ln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	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sz="2000" smtClean="0">
                <a:solidFill>
                  <a:srgbClr val="0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	</a:t>
            </a:r>
            <a:r>
              <a:rPr kumimoji="0" lang="ru-RU" sz="2000" b="1" i="1" u="sng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Основная цель заданий 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– освоение и закрепление пройденного материала в процессе выполнения творческого задания. 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500034" y="2214560"/>
            <a:ext cx="8215370" cy="20774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52438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1" i="1" u="sng" strike="noStrike" cap="none" normalizeH="0" baseline="0" dirty="0" smtClean="0">
                <a:ln>
                  <a:noFill/>
                </a:ln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Главные цели дистанционного обучения:</a:t>
            </a:r>
          </a:p>
          <a:p>
            <a:pPr marL="0" marR="0" lvl="0" indent="452438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400" b="1" i="1" u="sng" strike="noStrike" cap="none" normalizeH="0" baseline="0" dirty="0" smtClean="0">
              <a:ln>
                <a:noFill/>
              </a:ln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marL="0" marR="0" lvl="0" indent="452438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b="1" dirty="0" smtClean="0">
                <a:solidFill>
                  <a:srgbClr val="FF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П</a:t>
            </a: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редоставить ребенку возможность получить образование на дому;</a:t>
            </a:r>
          </a:p>
          <a:p>
            <a:pPr marL="0" marR="0" lvl="0" indent="452438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-"/>
              <a:tabLst/>
            </a:pPr>
            <a:r>
              <a:rPr b="1" dirty="0" smtClean="0">
                <a:solidFill>
                  <a:srgbClr val="FF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О</a:t>
            </a: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казать педагогическую поддержку и консультативную помощь родителям обучающихся. </a:t>
            </a:r>
            <a:endParaRPr kumimoji="0" lang="ru-RU" sz="28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ChangeArrowheads="1"/>
          </p:cNvSpPr>
          <p:nvPr/>
        </p:nvSpPr>
        <p:spPr bwMode="auto">
          <a:xfrm>
            <a:off x="714348" y="785800"/>
            <a:ext cx="7786742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1" i="0" u="sng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Особенности  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1" i="0" u="sng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дистанционного  обучения  дошкольников: 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1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1.Мотивация.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000" b="1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sz="2000" b="1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2.Ответственность родителей. </a:t>
            </a:r>
            <a:endParaRPr kumimoji="0" lang="ru-RU" sz="2000" b="1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 noChangeArrowheads="1"/>
          </p:cNvSpPr>
          <p:nvPr/>
        </p:nvSpPr>
        <p:spPr bwMode="auto">
          <a:xfrm>
            <a:off x="428596" y="357172"/>
            <a:ext cx="8215370" cy="38472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sz="2400" b="1" u="sng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3. «Плюсы»  дистанционного  обучения  дошкольника (ДОД</a:t>
            </a:r>
            <a:r>
              <a:rPr kumimoji="0" lang="ru-RU" b="1" u="sng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)</a:t>
            </a:r>
            <a:r>
              <a:rPr kumimoji="0" lang="ru-RU" b="1" u="sng" strike="noStrike" cap="none" normalizeH="0" baseline="0" dirty="0" smtClean="0">
                <a:ln>
                  <a:noFill/>
                </a:ln>
                <a:solidFill>
                  <a:srgbClr val="00206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ru-RU" b="0" i="0" u="none" strike="noStrike" cap="none" normalizeH="0" baseline="0" dirty="0" smtClean="0">
              <a:ln>
                <a:noFill/>
              </a:ln>
              <a:effectLst/>
              <a:latin typeface="Times New Roman" pitchFamily="18" charset="0"/>
              <a:cs typeface="Times New Roman" pitchFamily="18" charset="0"/>
            </a:endParaRP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1.Оптимальный режим обучения; </a:t>
            </a:r>
            <a:endParaRPr smtClean="0">
              <a:latin typeface="Times New Roman" pitchFamily="18" charset="0"/>
              <a:cs typeface="Times New Roman" pitchFamily="18" charset="0"/>
            </a:endParaRP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2.Промежуток дня для занятий;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3.Индивидуальный подход к ребенку; </a:t>
            </a:r>
            <a:endParaRPr smtClean="0">
              <a:latin typeface="Times New Roman" pitchFamily="18" charset="0"/>
              <a:cs typeface="Times New Roman" pitchFamily="18" charset="0"/>
            </a:endParaRP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4.Основное условие – наличие ПК и доступа к интернету;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mtClean="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5.Дистанционное обучение имеет под собой хороший методический фундамент – видео- и аудио-лекции, тесты, задания и т.д. </a:t>
            </a:r>
            <a:endParaRPr smtClean="0"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600" b="1" i="0" u="none" strike="noStrike" cap="none" normalizeH="0" baseline="0" dirty="0" smtClean="0">
              <a:ln>
                <a:noFill/>
              </a:ln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85720" y="214296"/>
            <a:ext cx="8501122" cy="44319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b="1" dirty="0" smtClean="0">
                <a:solidFill>
                  <a:srgbClr val="0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Недостатки  ДО детей </a:t>
            </a:r>
            <a:r>
              <a:rPr sz="2400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дошкольного</a:t>
            </a:r>
            <a:r>
              <a:rPr b="1" u="sng" dirty="0" smtClean="0">
                <a:solidFill>
                  <a:srgbClr val="C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b="1" dirty="0" smtClean="0">
                <a:solidFill>
                  <a:srgbClr val="0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возраста: 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endParaRPr b="1" i="1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600" b="1" u="sng" dirty="0" smtClean="0">
                <a:solidFill>
                  <a:srgbClr val="0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1.Максимальное участие родителей</a:t>
            </a:r>
            <a:r>
              <a:rPr sz="1600" dirty="0" smtClean="0">
                <a:solidFill>
                  <a:srgbClr val="0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. Если родители не имеют возможность посвящать процессу обучения ребенка достаточного времени, то уровень усвоения им знаний будет крайне низкий; </a:t>
            </a:r>
            <a:endParaRPr sz="16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600" b="1" u="sng" dirty="0" smtClean="0">
                <a:solidFill>
                  <a:srgbClr val="0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2.Не все имеют возможность получения дистанционного обучения</a:t>
            </a:r>
            <a:r>
              <a:rPr sz="1600" dirty="0" smtClean="0">
                <a:solidFill>
                  <a:srgbClr val="0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, в силу </a:t>
            </a:r>
            <a:endParaRPr sz="16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600" dirty="0" smtClean="0">
                <a:solidFill>
                  <a:srgbClr val="0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сложных материальных условий, так как необходимо специальное оборудование (компьютер или ноутбук, интернет); </a:t>
            </a:r>
            <a:endParaRPr sz="1600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600" b="1" u="sng" dirty="0" smtClean="0">
                <a:solidFill>
                  <a:srgbClr val="0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3.Отсутствие общения со сверстниками</a:t>
            </a:r>
            <a:r>
              <a:rPr sz="1600" dirty="0" smtClean="0">
                <a:solidFill>
                  <a:srgbClr val="0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. Дети не имеют возможности получить необходимые навыки коммуникации в обществе и социализации в обществе 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600" b="1" u="sng" dirty="0" smtClean="0">
                <a:solidFill>
                  <a:srgbClr val="0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4.В виду особенностей дистанционного обучения</a:t>
            </a:r>
            <a:r>
              <a:rPr sz="1600" dirty="0" smtClean="0">
                <a:solidFill>
                  <a:srgbClr val="0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, детям приходится много времени проводить за компьютером. </a:t>
            </a:r>
            <a:endParaRPr sz="16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1151325"/>
          </a:xfrm>
        </p:spPr>
        <p:txBody>
          <a:bodyPr>
            <a:normAutofit/>
          </a:bodyPr>
          <a:lstStyle/>
          <a:p>
            <a:pPr algn="ctr"/>
            <a:r>
              <a:rPr lang="ru-RU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При планировании </a:t>
            </a:r>
            <a:r>
              <a:rPr lang="ru-RU" sz="28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28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ru-RU" sz="2800" b="1" u="sng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необходимо</a:t>
            </a:r>
            <a:r>
              <a:rPr lang="ru-RU" sz="28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учитывать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533400" y="1571618"/>
            <a:ext cx="80772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возрастные особенности слушателей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(младшие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дошкольники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могут физически проводить  за компьютером намного меньше времени, чем 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дети старшего дошкольного возраста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);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гармоничное </a:t>
            </a:r>
            <a:r>
              <a:rPr lang="ru-RU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распределение </a:t>
            </a:r>
            <a:r>
              <a:rPr lang="ru-RU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домашних </a:t>
            </a:r>
            <a:r>
              <a:rPr lang="ru-RU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заданий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(многие 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воспитатели и педагоги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если не успевают дать материал на 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непосредственно-образовательной деятельности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задают его на самостоятельную доработку, что сильно утяжеляет учебный процесс и загружает детей и родителей);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учет нагрузки на глаза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b="1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учет собственных трудозатрат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(необходимо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запланировать еще и подготовку к </a:t>
            </a:r>
            <a:r>
              <a:rPr smtClean="0">
                <a:latin typeface="Times New Roman" pitchFamily="18" charset="0"/>
                <a:cs typeface="Times New Roman" pitchFamily="18" charset="0"/>
              </a:rPr>
              <a:t>домашним занятиям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что часто бывает не менее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трудо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и время затратным процессом). </a:t>
            </a:r>
          </a:p>
        </p:txBody>
      </p:sp>
    </p:spTree>
    <p:extLst>
      <p:ext uri="{BB962C8B-B14F-4D97-AF65-F5344CB8AC3E}">
        <p14:creationId xmlns="" xmlns:p14="http://schemas.microsoft.com/office/powerpoint/2010/main" val="3694011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304800" y="500048"/>
            <a:ext cx="8686800" cy="714380"/>
          </a:xfrm>
        </p:spPr>
        <p:txBody>
          <a:bodyPr>
            <a:noAutofit/>
          </a:bodyPr>
          <a:lstStyle/>
          <a:p>
            <a:pPr algn="ctr"/>
            <a:r>
              <a:rPr lang="ru-RU" sz="3200" b="1" u="sng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>Основные этапы запуска </a:t>
            </a:r>
            <a:r>
              <a:rPr lang="ru-RU" sz="3200" b="1" u="sng" dirty="0" smtClean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3200" b="1" u="sng" dirty="0" smtClean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</a:br>
            <a:r>
              <a:rPr lang="ru-RU" sz="3200" b="1" u="sng" dirty="0" smtClean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>дистанционного </a:t>
            </a:r>
            <a:r>
              <a:rPr lang="ru-RU" sz="3200" b="1" u="sng" dirty="0">
                <a:solidFill>
                  <a:srgbClr val="FF0000"/>
                </a:solidFill>
                <a:effectLst/>
                <a:latin typeface="Times New Roman" pitchFamily="18" charset="0"/>
                <a:cs typeface="Times New Roman" pitchFamily="18" charset="0"/>
              </a:rPr>
              <a:t>обучения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3"/>
          </p:nvPr>
        </p:nvSpPr>
        <p:spPr>
          <a:xfrm>
            <a:off x="609600" y="1857370"/>
            <a:ext cx="8153400" cy="2428892"/>
          </a:xfrm>
        </p:spPr>
        <p:txBody>
          <a:bodyPr>
            <a:noAutofit/>
          </a:bodyPr>
          <a:lstStyle/>
          <a:p>
            <a:pPr lvl="0"/>
            <a:r>
              <a:rPr lang="ru-RU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Подготовительный;</a:t>
            </a:r>
          </a:p>
          <a:p>
            <a:pPr lvl="0"/>
            <a:r>
              <a:rPr lang="ru-RU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Адаптационный;</a:t>
            </a:r>
          </a:p>
          <a:p>
            <a:pPr lvl="0"/>
            <a:r>
              <a:rPr lang="ru-RU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Основной.</a:t>
            </a:r>
          </a:p>
          <a:p>
            <a:pPr>
              <a:buFont typeface="Courier New"/>
              <a:buChar char="o"/>
            </a:pPr>
            <a:endParaRPr lang="ru-RU" sz="2400" dirty="0">
              <a:solidFill>
                <a:srgbClr val="000000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46693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>
          <a:xfrm>
            <a:off x="304800" y="342900"/>
            <a:ext cx="8686800" cy="871528"/>
          </a:xfrm>
        </p:spPr>
        <p:txBody>
          <a:bodyPr>
            <a:noAutofit/>
          </a:bodyPr>
          <a:lstStyle/>
          <a:p>
            <a:pPr algn="ctr"/>
            <a:r>
              <a:rPr lang="ru-RU" sz="2800" b="1" u="sng" dirty="0" smtClean="0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1. Подготовительный </a:t>
            </a:r>
            <a:r>
              <a:rPr lang="ru-RU" sz="2800" b="1" u="sng" dirty="0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этап:</a:t>
            </a:r>
            <a:br>
              <a:rPr lang="ru-RU" sz="2800" b="1" u="sng" dirty="0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</a:br>
            <a:r>
              <a:rPr lang="ru-RU" sz="2400" b="1" u="sng" dirty="0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пример </a:t>
            </a:r>
            <a:r>
              <a:rPr lang="ru-RU" sz="2400" b="1" u="sng" dirty="0" smtClean="0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площадки для ДОУ !!!</a:t>
            </a:r>
            <a:endParaRPr lang="ru-RU" sz="2800" b="1" u="sng" dirty="0">
              <a:solidFill>
                <a:srgbClr val="002060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2B3B65D8-88FB-0B4E-806C-6D464F412157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126833" y="1504949"/>
            <a:ext cx="9623717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1025" name="Рисунок 9" descr="Изображение выглядит как снимок экрана&#10;&#10;Автоматически созданное описание">
            <a:extLst>
              <a:ext uri="{FF2B5EF4-FFF2-40B4-BE49-F238E27FC236}">
                <a16:creationId xmlns:a16="http://schemas.microsoft.com/office/drawing/2014/main" xmlns="" id="{9DEA4313-D56E-1840-B020-281C1899DE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r:link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342379"/>
            <a:ext cx="6242050" cy="326137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124282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2800" b="1" u="sng" dirty="0" smtClean="0">
                <a:solidFill>
                  <a:srgbClr val="002060"/>
                </a:solidFill>
                <a:effectLst/>
                <a:latin typeface="Times New Roman" pitchFamily="18" charset="0"/>
                <a:cs typeface="Times New Roman" pitchFamily="18" charset="0"/>
              </a:rPr>
              <a:t>2. Адаптационный этап</a:t>
            </a:r>
            <a:endParaRPr lang="ru-RU" sz="2800" b="1" u="sng" dirty="0">
              <a:solidFill>
                <a:srgbClr val="002060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xmlns="" id="{D7075EFC-C587-984E-92A7-DD95FCEF1F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705655999"/>
              </p:ext>
            </p:extLst>
          </p:nvPr>
        </p:nvGraphicFramePr>
        <p:xfrm>
          <a:off x="357158" y="1071552"/>
          <a:ext cx="6357982" cy="342902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88984">
                  <a:extLst>
                    <a:ext uri="{9D8B030D-6E8A-4147-A177-3AD203B41FA5}">
                      <a16:colId xmlns:a16="http://schemas.microsoft.com/office/drawing/2014/main" xmlns="" val="3569126042"/>
                    </a:ext>
                  </a:extLst>
                </a:gridCol>
                <a:gridCol w="1589666">
                  <a:extLst>
                    <a:ext uri="{9D8B030D-6E8A-4147-A177-3AD203B41FA5}">
                      <a16:colId xmlns:a16="http://schemas.microsoft.com/office/drawing/2014/main" xmlns="" val="1677028156"/>
                    </a:ext>
                  </a:extLst>
                </a:gridCol>
                <a:gridCol w="1589666">
                  <a:extLst>
                    <a:ext uri="{9D8B030D-6E8A-4147-A177-3AD203B41FA5}">
                      <a16:colId xmlns:a16="http://schemas.microsoft.com/office/drawing/2014/main" xmlns="" val="2336352034"/>
                    </a:ext>
                  </a:extLst>
                </a:gridCol>
                <a:gridCol w="1589666">
                  <a:extLst>
                    <a:ext uri="{9D8B030D-6E8A-4147-A177-3AD203B41FA5}">
                      <a16:colId xmlns:a16="http://schemas.microsoft.com/office/drawing/2014/main" xmlns="" val="2873048044"/>
                    </a:ext>
                  </a:extLst>
                </a:gridCol>
              </a:tblGrid>
              <a:tr h="373510">
                <a:tc gridSpan="2"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225"/>
                        </a:spcAft>
                      </a:pPr>
                      <a:r>
                        <a:rPr lang="ru-RU" sz="1200" dirty="0">
                          <a:effectLst/>
                        </a:rPr>
                        <a:t>Технические особенности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225"/>
                        </a:spcAft>
                      </a:pPr>
                      <a:r>
                        <a:rPr lang="ru-RU" sz="1200">
                          <a:effectLst/>
                        </a:rPr>
                        <a:t>Коммуникации с участниками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320414943"/>
                  </a:ext>
                </a:extLst>
              </a:tr>
              <a:tr h="876711"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225"/>
                        </a:spcAft>
                      </a:pPr>
                      <a:r>
                        <a:rPr lang="ru-RU" sz="1200">
                          <a:effectLst/>
                        </a:rPr>
                        <a:t>Преимущества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225"/>
                        </a:spcAft>
                      </a:pPr>
                      <a:r>
                        <a:rPr lang="ru-RU" sz="1200" dirty="0">
                          <a:effectLst/>
                        </a:rPr>
                        <a:t>Недостатки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225"/>
                        </a:spcAft>
                      </a:pPr>
                      <a:r>
                        <a:rPr lang="ru-RU" sz="1200">
                          <a:effectLst/>
                        </a:rPr>
                        <a:t>Получилось хорошо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300"/>
                        </a:spcBef>
                        <a:spcAft>
                          <a:spcPts val="225"/>
                        </a:spcAft>
                      </a:pPr>
                      <a:r>
                        <a:rPr lang="ru-RU" sz="1200">
                          <a:effectLst/>
                        </a:rPr>
                        <a:t>Требует</a:t>
                      </a:r>
                    </a:p>
                    <a:p>
                      <a:pPr algn="ctr">
                        <a:spcBef>
                          <a:spcPts val="300"/>
                        </a:spcBef>
                        <a:spcAft>
                          <a:spcPts val="225"/>
                        </a:spcAft>
                      </a:pPr>
                      <a:r>
                        <a:rPr lang="ru-RU" sz="1200">
                          <a:effectLst/>
                        </a:rPr>
                        <a:t>доработки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86026971"/>
                  </a:ext>
                </a:extLst>
              </a:tr>
              <a:tr h="435761">
                <a:tc>
                  <a:txBody>
                    <a:bodyPr/>
                    <a:lstStyle/>
                    <a:p>
                      <a:pPr algn="just">
                        <a:spcBef>
                          <a:spcPts val="300"/>
                        </a:spcBef>
                        <a:spcAft>
                          <a:spcPts val="225"/>
                        </a:spcAft>
                      </a:pPr>
                      <a:r>
                        <a:rPr lang="ru-RU" sz="1400">
                          <a:effectLst/>
                        </a:rPr>
                        <a:t> 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300"/>
                        </a:spcBef>
                        <a:spcAft>
                          <a:spcPts val="225"/>
                        </a:spcAft>
                      </a:pPr>
                      <a:r>
                        <a:rPr lang="ru-RU" sz="1400" dirty="0">
                          <a:effectLst/>
                        </a:rPr>
                        <a:t> 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300"/>
                        </a:spcBef>
                        <a:spcAft>
                          <a:spcPts val="225"/>
                        </a:spcAft>
                      </a:pPr>
                      <a:r>
                        <a:rPr lang="ru-RU" sz="1400" dirty="0">
                          <a:effectLst/>
                        </a:rPr>
                        <a:t> 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300"/>
                        </a:spcBef>
                        <a:spcAft>
                          <a:spcPts val="225"/>
                        </a:spcAft>
                      </a:pPr>
                      <a:r>
                        <a:rPr lang="ru-RU" sz="1400">
                          <a:effectLst/>
                        </a:rPr>
                        <a:t> 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645983181"/>
                  </a:ext>
                </a:extLst>
              </a:tr>
              <a:tr h="435761">
                <a:tc>
                  <a:txBody>
                    <a:bodyPr/>
                    <a:lstStyle/>
                    <a:p>
                      <a:pPr algn="just">
                        <a:spcBef>
                          <a:spcPts val="300"/>
                        </a:spcBef>
                        <a:spcAft>
                          <a:spcPts val="225"/>
                        </a:spcAft>
                      </a:pPr>
                      <a:r>
                        <a:rPr lang="ru-RU" sz="1400">
                          <a:effectLst/>
                        </a:rPr>
                        <a:t> 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300"/>
                        </a:spcBef>
                        <a:spcAft>
                          <a:spcPts val="225"/>
                        </a:spcAft>
                      </a:pPr>
                      <a:r>
                        <a:rPr lang="ru-RU" sz="1400">
                          <a:effectLst/>
                        </a:rPr>
                        <a:t> 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300"/>
                        </a:spcBef>
                        <a:spcAft>
                          <a:spcPts val="225"/>
                        </a:spcAft>
                      </a:pPr>
                      <a:r>
                        <a:rPr lang="ru-RU" sz="1400" dirty="0">
                          <a:effectLst/>
                        </a:rPr>
                        <a:t> 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300"/>
                        </a:spcBef>
                        <a:spcAft>
                          <a:spcPts val="225"/>
                        </a:spcAft>
                      </a:pPr>
                      <a:r>
                        <a:rPr lang="ru-RU" sz="1400" dirty="0">
                          <a:effectLst/>
                        </a:rPr>
                        <a:t> 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45036003"/>
                  </a:ext>
                </a:extLst>
              </a:tr>
              <a:tr h="435761">
                <a:tc>
                  <a:txBody>
                    <a:bodyPr/>
                    <a:lstStyle/>
                    <a:p>
                      <a:pPr algn="just">
                        <a:spcBef>
                          <a:spcPts val="300"/>
                        </a:spcBef>
                        <a:spcAft>
                          <a:spcPts val="225"/>
                        </a:spcAft>
                      </a:pPr>
                      <a:r>
                        <a:rPr lang="ru-RU" sz="1400">
                          <a:effectLst/>
                        </a:rPr>
                        <a:t> 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300"/>
                        </a:spcBef>
                        <a:spcAft>
                          <a:spcPts val="225"/>
                        </a:spcAft>
                      </a:pPr>
                      <a:r>
                        <a:rPr lang="ru-RU" sz="1400">
                          <a:effectLst/>
                        </a:rPr>
                        <a:t> 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300"/>
                        </a:spcBef>
                        <a:spcAft>
                          <a:spcPts val="225"/>
                        </a:spcAft>
                      </a:pPr>
                      <a:r>
                        <a:rPr lang="ru-RU" sz="1400">
                          <a:effectLst/>
                        </a:rPr>
                        <a:t> 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300"/>
                        </a:spcBef>
                        <a:spcAft>
                          <a:spcPts val="225"/>
                        </a:spcAft>
                      </a:pPr>
                      <a:r>
                        <a:rPr lang="ru-RU" sz="1400">
                          <a:effectLst/>
                        </a:rPr>
                        <a:t> 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769383488"/>
                  </a:ext>
                </a:extLst>
              </a:tr>
              <a:tr h="435761">
                <a:tc>
                  <a:txBody>
                    <a:bodyPr/>
                    <a:lstStyle/>
                    <a:p>
                      <a:pPr algn="just">
                        <a:spcBef>
                          <a:spcPts val="300"/>
                        </a:spcBef>
                        <a:spcAft>
                          <a:spcPts val="225"/>
                        </a:spcAft>
                      </a:pPr>
                      <a:r>
                        <a:rPr lang="ru-RU" sz="1400">
                          <a:effectLst/>
                        </a:rPr>
                        <a:t> 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300"/>
                        </a:spcBef>
                        <a:spcAft>
                          <a:spcPts val="225"/>
                        </a:spcAft>
                      </a:pPr>
                      <a:r>
                        <a:rPr lang="ru-RU" sz="1400">
                          <a:effectLst/>
                        </a:rPr>
                        <a:t> 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300"/>
                        </a:spcBef>
                        <a:spcAft>
                          <a:spcPts val="225"/>
                        </a:spcAft>
                      </a:pPr>
                      <a:r>
                        <a:rPr lang="ru-RU" sz="1400">
                          <a:effectLst/>
                        </a:rPr>
                        <a:t> 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300"/>
                        </a:spcBef>
                        <a:spcAft>
                          <a:spcPts val="225"/>
                        </a:spcAft>
                      </a:pPr>
                      <a:r>
                        <a:rPr lang="ru-RU" sz="1400">
                          <a:effectLst/>
                        </a:rPr>
                        <a:t> 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41359040"/>
                  </a:ext>
                </a:extLst>
              </a:tr>
              <a:tr h="435761">
                <a:tc>
                  <a:txBody>
                    <a:bodyPr/>
                    <a:lstStyle/>
                    <a:p>
                      <a:pPr algn="just">
                        <a:spcBef>
                          <a:spcPts val="300"/>
                        </a:spcBef>
                        <a:spcAft>
                          <a:spcPts val="225"/>
                        </a:spcAft>
                      </a:pPr>
                      <a:r>
                        <a:rPr lang="ru-RU" sz="1400">
                          <a:effectLst/>
                        </a:rPr>
                        <a:t> 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300"/>
                        </a:spcBef>
                        <a:spcAft>
                          <a:spcPts val="225"/>
                        </a:spcAft>
                      </a:pPr>
                      <a:r>
                        <a:rPr lang="ru-RU" sz="1400">
                          <a:effectLst/>
                        </a:rPr>
                        <a:t> 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300"/>
                        </a:spcBef>
                        <a:spcAft>
                          <a:spcPts val="225"/>
                        </a:spcAft>
                      </a:pPr>
                      <a:r>
                        <a:rPr lang="ru-RU" sz="1400">
                          <a:effectLst/>
                        </a:rPr>
                        <a:t> 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300"/>
                        </a:spcBef>
                        <a:spcAft>
                          <a:spcPts val="225"/>
                        </a:spcAft>
                      </a:pPr>
                      <a:r>
                        <a:rPr lang="ru-RU" sz="1400" dirty="0">
                          <a:effectLst/>
                        </a:rPr>
                        <a:t> 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3841782839"/>
                  </a:ext>
                </a:extLst>
              </a:tr>
            </a:tbl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6786578" y="1643056"/>
            <a:ext cx="214314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b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Пример дневника анализа эффективности занятия </a:t>
            </a:r>
            <a:endParaRPr lang="ru-RU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9" name="Прямая со стрелкой 8"/>
          <p:cNvCxnSpPr/>
          <p:nvPr/>
        </p:nvCxnSpPr>
        <p:spPr>
          <a:xfrm rot="10800000" flipV="1">
            <a:off x="4929190" y="2001834"/>
            <a:ext cx="1000132" cy="69850"/>
          </a:xfrm>
          <a:prstGeom prst="straightConnector1">
            <a:avLst/>
          </a:prstGeom>
          <a:ln w="5715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3676887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357290" y="357172"/>
            <a:ext cx="65008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3200" b="1" u="sng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3. </a:t>
            </a:r>
            <a:r>
              <a:rPr lang="ru-RU" sz="3200" b="1" u="sng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О</a:t>
            </a:r>
            <a:r>
              <a:rPr sz="3200" b="1" u="sng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сновной этап</a:t>
            </a:r>
            <a:endParaRPr lang="ru-RU" sz="3200" b="1" u="sng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714348" y="1285866"/>
            <a:ext cx="7858180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sz="4000" b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!!!!!!!!!!!</a:t>
            </a:r>
            <a:r>
              <a:rPr sz="4000" b="1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ctr"/>
            <a:r>
              <a:rPr sz="2800" smtClean="0">
                <a:latin typeface="Times New Roman" pitchFamily="18" charset="0"/>
                <a:cs typeface="Times New Roman" pitchFamily="18" charset="0"/>
              </a:rPr>
              <a:t>В</a:t>
            </a:r>
            <a:r>
              <a:rPr sz="2400" smtClean="0">
                <a:latin typeface="Times New Roman" pitchFamily="18" charset="0"/>
                <a:cs typeface="Times New Roman" pitchFamily="18" charset="0"/>
              </a:rPr>
              <a:t> то же время, для того, чтобы у воспитателя </a:t>
            </a:r>
          </a:p>
          <a:p>
            <a:pPr algn="ctr"/>
            <a:r>
              <a:rPr sz="2400" smtClean="0">
                <a:latin typeface="Times New Roman" pitchFamily="18" charset="0"/>
                <a:cs typeface="Times New Roman" pitchFamily="18" charset="0"/>
              </a:rPr>
              <a:t>(педагога-логопеда, психолога) </a:t>
            </a:r>
          </a:p>
          <a:p>
            <a:pPr algn="ctr"/>
            <a:r>
              <a:rPr sz="2400" b="1" u="sng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«не замыливался глаз»</a:t>
            </a:r>
            <a:r>
              <a:rPr sz="240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ctr"/>
            <a:r>
              <a:rPr sz="2400" smtClean="0">
                <a:latin typeface="Times New Roman" pitchFamily="18" charset="0"/>
                <a:cs typeface="Times New Roman" pitchFamily="18" charset="0"/>
              </a:rPr>
              <a:t>очень важно обеспечивать себе </a:t>
            </a:r>
          </a:p>
          <a:p>
            <a:pPr algn="ctr"/>
            <a:r>
              <a:rPr sz="2800" b="1" i="1" u="sng" smtClean="0">
                <a:latin typeface="Times New Roman" pitchFamily="18" charset="0"/>
                <a:cs typeface="Times New Roman" pitchFamily="18" charset="0"/>
              </a:rPr>
              <a:t>супервизорское наблюдение</a:t>
            </a:r>
            <a:r>
              <a:rPr sz="2800" b="1" u="sng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ctr"/>
            <a:r>
              <a:rPr sz="2400" smtClean="0">
                <a:latin typeface="Times New Roman" pitchFamily="18" charset="0"/>
                <a:cs typeface="Times New Roman" pitchFamily="18" charset="0"/>
              </a:rPr>
              <a:t>со стороны коллег. </a:t>
            </a:r>
            <a:endParaRPr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smtClean="0">
                <a:latin typeface="Times New Roman" pitchFamily="18" charset="0"/>
                <a:cs typeface="Times New Roman" pitchFamily="18" charset="0"/>
              </a:rPr>
              <a:t>	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857356" y="571486"/>
            <a:ext cx="5286396" cy="707886"/>
          </a:xfrm>
          <a:prstGeom prst="rect">
            <a:avLst/>
          </a:prstGeom>
          <a:solidFill>
            <a:srgbClr val="FF0000"/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sz="2000" b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Добро пожаловать в онлайн-школу «ИНФОУРОК»!</a:t>
            </a:r>
            <a:endParaRPr sz="20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571472" y="1428742"/>
            <a:ext cx="8001056" cy="276998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2400" b="1" smtClean="0">
                <a:latin typeface="Times New Roman" pitchFamily="18" charset="0"/>
                <a:cs typeface="Times New Roman" pitchFamily="18" charset="0"/>
              </a:rPr>
              <a:t>Онлайн-школа «Инфоурок» – </a:t>
            </a:r>
          </a:p>
          <a:p>
            <a:pPr algn="ctr">
              <a:lnSpc>
                <a:spcPct val="150000"/>
              </a:lnSpc>
            </a:pPr>
            <a:r>
              <a:rPr sz="2000" smtClean="0">
                <a:latin typeface="Times New Roman" pitchFamily="18" charset="0"/>
                <a:cs typeface="Times New Roman" pitchFamily="18" charset="0"/>
              </a:rPr>
              <a:t>учебная система, разработанная командой проекта «Инфоурок» для максимально удобного проведения дистанционных занятий с учениками, а также с детьми дошкольного возраста.</a:t>
            </a:r>
          </a:p>
          <a:p>
            <a:pPr algn="ctr"/>
            <a:endParaRPr sz="200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sz="2000" b="1" u="sng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Давайте познакомимся </a:t>
            </a:r>
            <a:r>
              <a:rPr sz="2000" smtClean="0">
                <a:latin typeface="Times New Roman" pitchFamily="18" charset="0"/>
                <a:cs typeface="Times New Roman" pitchFamily="18" charset="0"/>
              </a:rPr>
              <a:t>с основными элементами интерфейса и функциями онлайн-школы.</a:t>
            </a: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1"/>
          <p:cNvSpPr>
            <a:spLocks noChangeArrowheads="1"/>
          </p:cNvSpPr>
          <p:nvPr/>
        </p:nvSpPr>
        <p:spPr bwMode="auto">
          <a:xfrm>
            <a:off x="500034" y="214296"/>
            <a:ext cx="8072494" cy="369332"/>
          </a:xfrm>
          <a:prstGeom prst="rect">
            <a:avLst/>
          </a:prstGeom>
          <a:solidFill>
            <a:srgbClr val="8CFBA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28638" algn="l"/>
              </a:tabLst>
            </a:pP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Система </a:t>
            </a:r>
            <a:r>
              <a:rPr kumimoji="0" lang="ru-RU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онлайн-школы</a:t>
            </a: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делится на четыре раздела:</a:t>
            </a:r>
            <a:endParaRPr kumimoji="0" 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3250" name="Picture 2" descr="C:\Users\ARTEM\Desktop\ДИСТАНТ\5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785800"/>
            <a:ext cx="7500990" cy="405053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 noChangeArrowheads="1"/>
          </p:cNvSpPr>
          <p:nvPr/>
        </p:nvSpPr>
        <p:spPr bwMode="auto">
          <a:xfrm>
            <a:off x="1000100" y="142858"/>
            <a:ext cx="3000396" cy="338554"/>
          </a:xfrm>
          <a:prstGeom prst="rect">
            <a:avLst/>
          </a:prstGeom>
          <a:solidFill>
            <a:srgbClr val="8DFFA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Раздел «Домашние задания» </a:t>
            </a:r>
            <a:r>
              <a:rPr sz="160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.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image46.jpe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282" y="857238"/>
            <a:ext cx="6215106" cy="3573783"/>
          </a:xfrm>
          <a:prstGeom prst="rect">
            <a:avLst/>
          </a:prstGeom>
        </p:spPr>
      </p:pic>
      <p:sp>
        <p:nvSpPr>
          <p:cNvPr id="10241" name="Rectangle 1"/>
          <p:cNvSpPr>
            <a:spLocks noChangeArrowheads="1"/>
          </p:cNvSpPr>
          <p:nvPr/>
        </p:nvSpPr>
        <p:spPr bwMode="auto">
          <a:xfrm>
            <a:off x="6500826" y="1071552"/>
            <a:ext cx="2357454" cy="304698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это удобный </a:t>
            </a:r>
            <a:r>
              <a:rPr kumimoji="0" lang="ru-RU" sz="160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онлайн-конструктор</a:t>
            </a:r>
            <a:r>
              <a:rPr kumimoji="0" lang="ru-RU" sz="16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, где можно задавать домашние задания, используя готовую: Базу тестов, Каталог </a:t>
            </a:r>
            <a:r>
              <a:rPr kumimoji="0" lang="ru-RU" sz="160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видеоуроков</a:t>
            </a:r>
            <a:r>
              <a:rPr kumimoji="0" lang="ru-RU" sz="160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, Библиотеку материалов, создавать домашние задания самостоятельно, а также посмотреть результаты домашней работы. </a:t>
            </a:r>
            <a:endParaRPr kumimoji="0" lang="ru-RU" sz="20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643174" y="285734"/>
            <a:ext cx="4143404" cy="369332"/>
          </a:xfrm>
          <a:prstGeom prst="rect">
            <a:avLst/>
          </a:prstGeom>
          <a:solidFill>
            <a:srgbClr val="8CFBA3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b="1" smtClean="0">
                <a:latin typeface="Times New Roman" pitchFamily="18" charset="0"/>
                <a:cs typeface="Times New Roman" pitchFamily="18" charset="0"/>
              </a:rPr>
              <a:t>Раздел     </a:t>
            </a:r>
            <a:r>
              <a:rPr b="1" u="sng" smtClean="0">
                <a:latin typeface="Times New Roman" pitchFamily="18" charset="0"/>
                <a:cs typeface="Times New Roman" pitchFamily="18" charset="0"/>
              </a:rPr>
              <a:t>Конкурсы и олимпиады</a:t>
            </a:r>
            <a:endParaRPr b="1" u="sng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3490" name="Picture 2" descr="C:\Users\ARTEM\Desktop\ДИСТАНТ\1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28794" y="1928808"/>
            <a:ext cx="6957932" cy="292895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chemeClr val="accent1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9217" name="Rectangle 1"/>
          <p:cNvSpPr>
            <a:spLocks noChangeArrowheads="1"/>
          </p:cNvSpPr>
          <p:nvPr/>
        </p:nvSpPr>
        <p:spPr bwMode="auto">
          <a:xfrm>
            <a:off x="142844" y="714362"/>
            <a:ext cx="8786874" cy="738664"/>
          </a:xfrm>
          <a:prstGeom prst="rect">
            <a:avLst/>
          </a:prstGeom>
          <a:ln>
            <a:solidFill>
              <a:srgbClr val="00B0F0"/>
            </a:solidFill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В этом разделе вы сможете назначать участников конкурсов и бесплатных олимпиад от проекта «</a:t>
            </a:r>
            <a:r>
              <a:rPr kumimoji="0" lang="ru-RU" sz="1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Инфоурок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». Просто выберите из списка нужную олимпиаду или конкурс, нажмите на кнопку «подробнее» для отображения полной информации о мероприятии.</a:t>
            </a:r>
            <a:endParaRPr kumimoji="0" 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9" name="Picture 3" descr="C:\Users\ARTEM\Downloads\Сертификат проекта infourok.ru №КР20147796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1" y="388728"/>
            <a:ext cx="2143140" cy="3030716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65540" name="Picture 4" descr="C:\Users\ARTEM\Downloads\Диплом проекта infourok.ru №РЧ23973776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86050" y="1500180"/>
            <a:ext cx="2266487" cy="3205148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65541" name="Picture 5" descr="C:\Users\ARTEM\Downloads\Свидетельство проекта infourok.ru №ОЗ29160615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72132" y="194719"/>
            <a:ext cx="3286148" cy="464612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285720" y="214296"/>
            <a:ext cx="8572560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b="1" i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Суть дистанционного обучения</a:t>
            </a:r>
            <a:r>
              <a:rPr b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дошкольника заключается в том, что ребенок получает возможность смотреть видео-занятия, изучать учебный материал, а также находясь дома, получить и выполнить задания.</a:t>
            </a:r>
            <a:endParaRPr lang="ru-RU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571472" y="1714494"/>
            <a:ext cx="591957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b="1" u="sng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Кратность обновления информации</a:t>
            </a:r>
            <a:r>
              <a:rPr lang="ru-RU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…..</a:t>
            </a:r>
            <a:r>
              <a:rPr b="1" u="sng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ru-RU" b="1" u="sng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2286000" y="2571750"/>
            <a:ext cx="6286528" cy="128907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b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Дистанционный формат работы предоставляет и воспитателям уникальные возможности по повышению своей квалификации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…..</a:t>
            </a:r>
            <a:endParaRPr lang="ru-RU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142844" y="214296"/>
            <a:ext cx="4714908" cy="375487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Я хочу продемонстрировать отчет о проделанной работе с родителями и детьми по осуществлению воспитательно-образовательного процесса в форме дистанционного обучения на данной платформе с </a:t>
            </a:r>
            <a:r>
              <a:rPr kumimoji="0" lang="ru-RU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частоболеющими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детьми.</a:t>
            </a:r>
            <a:endParaRPr kumimoji="0" lang="ru-RU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В период карантина в группе, в целях сохранения здоровья и жизни детей и взрослых – это возможность провести время всей семьей, пообщаться, научиться и научить друг друга чему-то новому, дружно смастерить поделки и нарисовать рисунки на конкурсы.</a:t>
            </a:r>
            <a:endParaRPr kumimoji="0" lang="ru-RU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rgbClr val="11111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Родителям было предложено поучаствовать в дистанционной работе вместе с детьми. С радостью, большинство родителей откликнулись на наше предложение.</a:t>
            </a:r>
            <a:endParaRPr kumimoji="0" lang="ru-RU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В поддержку всех, кто был вынужден остаться дома, мы с нашими ребятами запустили акцию рисунков «Все будет хорошо» по нетрадиционной техники рисования ватными палочками.</a:t>
            </a:r>
            <a:endParaRPr kumimoji="0" lang="ru-RU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docshape9" descr="C:\Users\АРТЕМ\Documents\Scanned Documents\Дистанционная работа по рисованию\IMG-20210213-WA003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14942" y="357172"/>
            <a:ext cx="3417387" cy="4558090"/>
          </a:xfrm>
          <a:prstGeom prst="rect">
            <a:avLst/>
          </a:prstGeom>
          <a:ln>
            <a:solidFill>
              <a:srgbClr val="00B0F0"/>
            </a:solidFill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7" name="docshape1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85734"/>
            <a:ext cx="3806794" cy="42862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5" name="Прямоугольник 4"/>
          <p:cNvSpPr/>
          <p:nvPr/>
        </p:nvSpPr>
        <p:spPr>
          <a:xfrm>
            <a:off x="4357686" y="928676"/>
            <a:ext cx="4572032" cy="255454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sz="1600" smtClean="0">
                <a:latin typeface="Times New Roman" pitchFamily="18" charset="0"/>
                <a:cs typeface="Times New Roman" pitchFamily="18" charset="0"/>
              </a:rPr>
              <a:t>Пуантилизм – увлекательная техника рисования ватными палочками для детей. Французское слово «pointillisme» переводится как «точечный» или «сделанный точками». Рисование ватными палочками (пуантилизм) вызывает интерес не только у маленьких детей, но и у школьников, даже взрослых. Для малышей – это промежуточная стадия знакомства с изобразительными средствами (между пальчиком и кистью).</a:t>
            </a:r>
            <a:endParaRPr sz="160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2" descr="C:\Users\АРТЕМ\Documents\Scanned Documents\Дистанционная работа по рисованию\IMG-20210213-WA0030.jp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596" y="357172"/>
            <a:ext cx="3236654" cy="4411984"/>
          </a:xfrm>
          <a:prstGeom prst="rect">
            <a:avLst/>
          </a:prstGeom>
          <a:ln>
            <a:solidFill>
              <a:srgbClr val="00B0F0"/>
            </a:solidFill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" name="Прямоугольник 2"/>
          <p:cNvSpPr/>
          <p:nvPr/>
        </p:nvSpPr>
        <p:spPr>
          <a:xfrm>
            <a:off x="3786182" y="857238"/>
            <a:ext cx="4929222" cy="230832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sz="1600" smtClean="0">
                <a:latin typeface="Times New Roman" pitchFamily="18" charset="0"/>
                <a:cs typeface="Times New Roman" pitchFamily="18" charset="0"/>
              </a:rPr>
              <a:t>Находясь в дали от своих воспитанников, мы активно поддерживали с ними общение по сотовой связи и видео-чатам, интересовались их успехами, здоровьем и настроением, дети с удовольствием делились своими достижениями и с нетерпением ждали новых встреч. Под руководством воспитателей, родители получили опыт проведения занятий, научились организовывать досуг детей и ознакомились с новой техникой рисования.</a:t>
            </a:r>
            <a:endParaRPr sz="16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3929058" y="3643320"/>
            <a:ext cx="5000660" cy="115608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За</a:t>
            </a:r>
            <a:r>
              <a:rPr lang="en-US" sz="16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это</a:t>
            </a:r>
            <a:r>
              <a:rPr lang="en-US" sz="16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время</a:t>
            </a:r>
            <a:r>
              <a:rPr lang="en-US" sz="16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сложились</a:t>
            </a:r>
            <a:r>
              <a:rPr lang="en-US" sz="16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новые</a:t>
            </a:r>
            <a:r>
              <a:rPr lang="en-US" sz="16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взаимоотношения</a:t>
            </a:r>
            <a:r>
              <a:rPr lang="en-US" sz="16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между</a:t>
            </a:r>
            <a:r>
              <a:rPr lang="en-US" sz="16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воспитателями</a:t>
            </a:r>
            <a:r>
              <a:rPr lang="en-US" sz="16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en-US" sz="16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родителями</a:t>
            </a:r>
            <a:r>
              <a:rPr lang="en-US" sz="16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6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родителями</a:t>
            </a:r>
            <a:r>
              <a:rPr lang="en-US" sz="16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en-US" sz="16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детьми</a:t>
            </a:r>
            <a:r>
              <a:rPr lang="en-US" sz="16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endParaRPr lang="ru-RU" sz="16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3" descr="C:\Users\АРТЕМ\Documents\Scanned Documents\Дистанционная работа по рисованию\IMG-20210213-WA0026.jp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57950" y="428610"/>
            <a:ext cx="2500330" cy="3643338"/>
          </a:xfrm>
          <a:prstGeom prst="ellipse">
            <a:avLst/>
          </a:prstGeom>
          <a:ln w="63500" cap="rnd">
            <a:solidFill>
              <a:srgbClr val="C8521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4" name="Прямоугольник 3"/>
          <p:cNvSpPr/>
          <p:nvPr/>
        </p:nvSpPr>
        <p:spPr>
          <a:xfrm>
            <a:off x="214282" y="142858"/>
            <a:ext cx="5643602" cy="5847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sz="1600" smtClean="0">
                <a:latin typeface="Times New Roman" pitchFamily="18" charset="0"/>
                <a:cs typeface="Times New Roman" pitchFamily="18" charset="0"/>
              </a:rPr>
              <a:t>В подтверждении проделанной работы с детьми, родители предоставили нам фото рисунков.</a:t>
            </a:r>
            <a:endParaRPr sz="160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docshape13" descr="C:\Users\АРТЕМ\Documents\Scanned Documents\Дистанционная работа по рисованию\IMG-20210215-WA0031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20" y="1071551"/>
            <a:ext cx="2714644" cy="3615163"/>
          </a:xfrm>
          <a:prstGeom prst="rect">
            <a:avLst/>
          </a:prstGeom>
          <a:ln w="38100" cap="sq">
            <a:solidFill>
              <a:srgbClr val="C8521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docshape15" descr="C:\Users\АРТЕМ\Documents\Scanned Documents\Дистанционная работа по рисованию\IMG-20210214-WA0019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428992" y="1214428"/>
            <a:ext cx="2660130" cy="355099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C85211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4357686" y="785800"/>
            <a:ext cx="4500594" cy="2806987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sz="2000" smtClean="0">
                <a:latin typeface="Times New Roman" pitchFamily="18" charset="0"/>
                <a:cs typeface="Times New Roman" pitchFamily="18" charset="0"/>
              </a:rPr>
              <a:t>Такая форма работы усилила обратную связь между нами и родителями, сложились доверительные отношения и получили приятный отклик в виде благодарственных слов и положительных отзывов.</a:t>
            </a:r>
            <a:endParaRPr sz="200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docshape14" descr="C:\Users\АРТЕМ\Documents\Scanned Documents\Дистанционная работа по рисованию\IMG-20210215-WA0027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357172"/>
            <a:ext cx="3286148" cy="4376096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C85211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142976" y="1500180"/>
            <a:ext cx="7072362" cy="175432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  <a:scene3d>
              <a:camera prst="isometricOffAxis2Lef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ru-RU" sz="5400" b="1" cap="none" spc="50" dirty="0" smtClean="0">
                <a:ln w="11430">
                  <a:solidFill>
                    <a:srgbClr val="C85211"/>
                  </a:solidFill>
                </a:ln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Спасибо за внимание</a:t>
            </a:r>
            <a:endParaRPr lang="ru-RU" sz="5400" b="1" cap="none" spc="50" dirty="0">
              <a:ln w="11430">
                <a:solidFill>
                  <a:srgbClr val="C85211"/>
                </a:solidFill>
              </a:ln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Трек">
  <a:themeElements>
    <a:clrScheme name="Трек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Трек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Трек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0</TotalTime>
  <Words>822</Words>
  <Application>Microsoft Office PowerPoint</Application>
  <PresentationFormat>Экран (16:9)</PresentationFormat>
  <Paragraphs>109</Paragraphs>
  <Slides>23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4" baseType="lpstr">
      <vt:lpstr>Трек</vt:lpstr>
      <vt:lpstr>Организация  дистанционного обучения с детьми дошкольного возраста  </vt:lpstr>
      <vt:lpstr>Слайд 2</vt:lpstr>
      <vt:lpstr>Слайд 3</vt:lpstr>
      <vt:lpstr>Слайд 4</vt:lpstr>
      <vt:lpstr>Слайд 5</vt:lpstr>
      <vt:lpstr>Слайд 6</vt:lpstr>
      <vt:lpstr>При планировании  необходимо учитывать</vt:lpstr>
      <vt:lpstr>Основные этапы запуска  дистанционного обучения</vt:lpstr>
      <vt:lpstr>1. Подготовительный этап: пример площадки для ДОУ !!!</vt:lpstr>
      <vt:lpstr>2. Адаптационный этап</vt:lpstr>
      <vt:lpstr>Слайд 11</vt:lpstr>
      <vt:lpstr>Слайд 12</vt:lpstr>
      <vt:lpstr>Слайд 13</vt:lpstr>
      <vt:lpstr>Слайд 14</vt:lpstr>
      <vt:lpstr>Слайд 15</vt:lpstr>
      <vt:lpstr>Слайд 16</vt:lpstr>
      <vt:lpstr>Слайд 17</vt:lpstr>
      <vt:lpstr>Слайд 18</vt:lpstr>
      <vt:lpstr>Слайд 19</vt:lpstr>
      <vt:lpstr>Слайд 20</vt:lpstr>
      <vt:lpstr>Слайд 21</vt:lpstr>
      <vt:lpstr>Слайд 22</vt:lpstr>
      <vt:lpstr>Слайд 23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modified xsi:type="dcterms:W3CDTF">2025-10-25T07:58:08Z</dcterms:modified>
</cp:coreProperties>
</file>