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83" r:id="rId10"/>
    <p:sldId id="286" r:id="rId11"/>
    <p:sldId id="268" r:id="rId12"/>
    <p:sldId id="263" r:id="rId13"/>
    <p:sldId id="267" r:id="rId14"/>
    <p:sldId id="284" r:id="rId15"/>
    <p:sldId id="285" r:id="rId16"/>
  </p:sldIdLst>
  <p:sldSz cx="9144000" cy="6858000"/>
  <p:notesSz cx="9882505" cy="676148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9pPr>
  </p:defaultTextStyle>
</p:presentation>
</file>

<file path=ppt/presProps.xml><?xml version="1.0" encoding="utf-8"?>
<p:presentationP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howPr showNarration="1"/>
  <p:extLst>
    <p:ext uri="smNativeData">
      <pr:smAppRevision xmlns:pr="smNativeData" dt="1706791663" val="962" revOS="4"/>
      <pr:smFileRevision xmlns:pr="smNativeData" dt="1706791663" val="0"/>
      <pr:guideOptions xmlns:pr="smNativeData" dt="1706791663" snapToGrid="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lideViewPr>
    <p:cSldViewPr>
      <p:cViewPr varScale="1">
        <p:scale>
          <a:sx n="60" d="100"/>
          <a:sy n="60" d="100"/>
        </p:scale>
        <p:origin x="2431" y="210"/>
      </p:cViewPr>
      <p:guideLst x="0" y="0"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" d="100"/>
        <a:sy n="1" d="100"/>
      </p:scale>
      <p:origin x="0" y="0"/>
    </p:cViewPr>
  </p:sorterViewPr>
  <p:notesViewPr>
    <p:cSldViewPr>
      <p:cViewPr>
        <p:scale>
          <a:sx n="60" d="100"/>
          <a:sy n="60" d="100"/>
        </p:scale>
        <p:origin x="2431" y="210"/>
      </p:cViewPr>
    </p:cSldViewPr>
  </p:notesViewPr>
  <p:gridSpacing cx="71755" cy="71755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YGgAAFA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4282440" cy="33782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ru-ru" sz="1200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</a:p>
        </p:txBody>
      </p:sp>
      <p:sp>
        <p:nvSpPr>
          <p:cNvPr id="3" name="Дата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yIAAAAAAADHPAAAFAIAABAAAAAmAAAACAAAAD+PAAAAAAAA"/>
              </a:ext>
            </a:extLst>
          </p:cNvSpPr>
          <p:nvPr>
            <p:ph type="dt" idx="1"/>
          </p:nvPr>
        </p:nvSpPr>
        <p:spPr>
          <a:xfrm>
            <a:off x="5597525" y="0"/>
            <a:ext cx="4282440" cy="33782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ru-ru" sz="1200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fld id="{18255056-18F5-70A6-BB9D-EEF31ED34DBB}" type="datetime1">
              <a:t>01.02.2024</a:t>
            </a:fld>
          </a:p>
        </p:txBody>
      </p:sp>
      <p:sp>
        <p:nvSpPr>
          <p:cNvPr id="4" name="Образ слайда 3"/>
          <p:cNvSpPr>
            <a:spLocks noGrp="1" noChangeArrowheads="1"/>
            <a:extLst>
              <a:ext uri="smNativeData">
                <pr:smNativeData xmlns:pr="smNativeData" val="SMDATA_16_75K7ZR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ABQAACADAADLKAAAthIAABAAAAAmAAAACAAAAL8PAAD/HwAA"/>
              </a:ext>
            </a:extLst>
          </p:cNvSpPr>
          <p:nvPr>
            <p:ph type="sldImg" idx="2"/>
          </p:nvPr>
        </p:nvSpPr>
        <p:spPr>
          <a:xfrm>
            <a:off x="3251200" y="508000"/>
            <a:ext cx="3380105" cy="253365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</a:p>
        </p:txBody>
      </p:sp>
      <p:sp>
        <p:nvSpPr>
          <p:cNvPr id="5" name="Заметки 4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FAYAAMITAAC2NgAAeSYAABAAAAAmAAAACAAAAD8vAAD/HwAA"/>
              </a:ext>
            </a:extLst>
          </p:cNvSpPr>
          <p:nvPr>
            <p:ph type="body" idx="3"/>
          </p:nvPr>
        </p:nvSpPr>
        <p:spPr>
          <a:xfrm>
            <a:off x="988060" y="3211830"/>
            <a:ext cx="7905750" cy="30422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IEnAABYGgAAlikAABAAAAAmAAAACAAAAL+PAAD/HwAA"/>
              </a:ext>
            </a:extLst>
          </p:cNvSpPr>
          <p:nvPr>
            <p:ph type="ftr" sz="quarter" idx="4"/>
          </p:nvPr>
        </p:nvSpPr>
        <p:spPr>
          <a:xfrm>
            <a:off x="0" y="6421755"/>
            <a:ext cx="4282440" cy="33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1200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yIAAIEnAADHPAAAlikAABAAAAAmAAAACAAAAL+PAAD/HwAA"/>
              </a:ext>
            </a:extLst>
          </p:cNvSpPr>
          <p:nvPr>
            <p:ph type="sldNum" sz="quarter" idx="5"/>
          </p:nvPr>
        </p:nvSpPr>
        <p:spPr>
          <a:xfrm>
            <a:off x="5597525" y="6421755"/>
            <a:ext cx="4282440" cy="33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ru-ru" sz="1200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fld id="{18256985-CBF5-709F-BB9D-3DCA27D34D6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spc="0" baseline="0">
        <a:solidFill>
          <a:schemeClr val="tx1"/>
        </a:solidFill>
        <a:effectLst/>
        <a:txBgFill val="auto"/>
        <a:latin typeface="Calibri" pitchFamily="2" charset="-52"/>
        <a:ea typeface="Calibri" pitchFamily="2" charset="-52"/>
        <a:cs typeface="Calibri" pitchFamily="2" charset="-52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FAYAAMITAAC2NgAAeSYAABAAAAAmAAAACAAAAAEA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/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yIAAIEnAADHPAAAlikAABAAAAAmAAAACAAAAAEAAAAAAAAA"/>
              </a:ext>
            </a:extLst>
          </p:cNvSpPr>
          <p:nvPr>
            <p:ph type="sldNum" sz="quarter" idx="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625A-14F5-7094-BB9D-E2C12CD34DB7}" type="slidenum"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/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4757-19F5-70B1-BB9D-EFE409D34DBA}" type="slidenum">
              <a:t>2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/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5902-4CF5-70AF-BB9D-BAFA17D34DEF}" type="slidenum">
              <a:t>3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T///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g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429496729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53CD-83F5-70A5-BB9D-75F01DD34D20}" type="slidenum">
              <a:t>4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v///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g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429496729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7E36-78F5-7088-BB9D-8EDD30D34DDB}" type="slidenum">
              <a:t>5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3///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v///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/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35D1-9FF5-70C3-BB9D-69967BD34D3C}" type="slidenum">
              <a:t>6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g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429496729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222E-60F5-70D4-BB9D-96816CD34DC3}" type="slidenum">
              <a:t>7</a:t>
            </a:fld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g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429496729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5CD7-99F5-70AA-BB9D-6FFF12D34D3A}" type="slidenum">
              <a:t>8</a:t>
            </a:fld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/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41CA-84F5-70B7-BB9D-72E20FD34D27}" type="slidenum">
              <a:t>9</a:t>
            </a:fld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ChangeArrowheads="1"/>
            <a:extLst>
              <a:ext uri="smNativeData">
                <pr:smNativeData xmlns:pr="smNativeData" val="SMDATA_16_75K7Z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sldImg"/>
          </p:nvPr>
        </p:nvSpPr>
        <p:spPr>
          <a:xfrm>
            <a:off x="988060" y="3211830"/>
            <a:ext cx="7905750" cy="3042285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Ay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YAAMITAAC2NgAAeSYAABAAAAAmAAAACAAAAAEAAAAAAAAA"/>
              </a:ext>
            </a:extLst>
          </p:cNvSpPr>
          <p:nvPr>
            <p:ph type="body" idx="1"/>
          </p:nvPr>
        </p:nvSpPr>
        <p:spPr>
          <a:xfrm>
            <a:off x="988060" y="3211830"/>
            <a:ext cx="7905750" cy="3042285"/>
          </a:xfrm>
        </p:spPr>
        <p:txBody>
          <a:bodyPr/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yIAAIEnAADHPAAAlikAABAAAAAmAAAACAAAAAEAAAAAAAAA"/>
              </a:ext>
            </a:extLst>
          </p:cNvSpPr>
          <p:nvPr>
            <p:ph type="sldNum" sz="quarter" idx="5"/>
          </p:nvPr>
        </p:nvSpPr>
        <p:spPr>
          <a:xfrm>
            <a:off x="5597525" y="6421755"/>
            <a:ext cx="4282440" cy="338455"/>
          </a:xfrm>
        </p:spPr>
        <p:txBody>
          <a:bodyPr/>
          <a:lstStyle/>
          <a:p>
            <a:pPr>
              <a:defRPr lang="ru-ru"/>
            </a:pPr>
            <a:fld id="{18253018-56F5-70C6-BB9D-A0937ED34DF5}" type="slidenum">
              <a:t>10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C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sNAAAINAAAJhYAABAAAAAmAAAACAAAAAEAAAAAAAAA"/>
              </a:ext>
            </a:extLst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Подзаголовок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gXAADQLwAAsCIAABAAAAAmAAAACAAAAAGAAAAAAAAA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ru-ru">
                <a:solidFill>
                  <a:srgbClr val="8C8C8C"/>
                </a:solidFill>
              </a:defRPr>
            </a:lvl1pPr>
            <a:lvl2pPr marL="457200" indent="0" algn="ctr">
              <a:buNone/>
              <a:defRPr lang="ru-ru">
                <a:solidFill>
                  <a:srgbClr val="8C8C8C"/>
                </a:solidFill>
              </a:defRPr>
            </a:lvl2pPr>
            <a:lvl3pPr marL="914400" indent="0" algn="ctr">
              <a:buNone/>
              <a:defRPr lang="ru-ru">
                <a:solidFill>
                  <a:srgbClr val="8C8C8C"/>
                </a:solidFill>
              </a:defRPr>
            </a:lvl3pPr>
            <a:lvl4pPr marL="1371600" indent="0" algn="ctr">
              <a:buNone/>
              <a:defRPr lang="ru-ru">
                <a:solidFill>
                  <a:srgbClr val="8C8C8C"/>
                </a:solidFill>
              </a:defRPr>
            </a:lvl4pPr>
            <a:lvl5pPr marL="1828800" indent="0" algn="ctr">
              <a:buNone/>
              <a:defRPr lang="ru-ru">
                <a:solidFill>
                  <a:srgbClr val="8C8C8C"/>
                </a:solidFill>
              </a:defRPr>
            </a:lvl5pPr>
            <a:lvl6pPr marL="2286000" indent="0" algn="ctr">
              <a:buNone/>
              <a:defRPr lang="ru-ru">
                <a:solidFill>
                  <a:srgbClr val="8C8C8C"/>
                </a:solidFill>
              </a:defRPr>
            </a:lvl6pPr>
            <a:lvl7pPr marL="2743200" indent="0" algn="ctr">
              <a:buNone/>
              <a:defRPr lang="ru-ru">
                <a:solidFill>
                  <a:srgbClr val="8C8C8C"/>
                </a:solidFill>
              </a:defRPr>
            </a:lvl7pPr>
            <a:lvl8pPr marL="3200400" indent="0" algn="ctr">
              <a:buNone/>
              <a:defRPr lang="ru-ru">
                <a:solidFill>
                  <a:srgbClr val="8C8C8C"/>
                </a:solidFill>
              </a:defRPr>
            </a:lvl8pPr>
            <a:lvl9pPr marL="3657600" indent="0" algn="ctr">
              <a:buNone/>
              <a:defRPr lang="ru-ru">
                <a:solidFill>
                  <a:srgbClr val="8C8C8C"/>
                </a:solidFill>
              </a:defRPr>
            </a:lvl9pPr>
          </a:lstStyle>
          <a:p>
            <a:pPr>
              <a:defRPr lang="ru-ru"/>
            </a:pPr>
            <a:r>
              <a:t>Образец подзаголовка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6AD3-9DF5-709C-BB9D-6BC924D34D3E}" type="datetime1">
              <a:t>01.02.2024</a:t>
            </a:fld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323B-75F5-70C4-BB9D-83917CD34DD6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2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A9yw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YOFg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4B78-36F5-70BD-BB9D-C0E805D34D95}" type="datetime1">
              <a:t>01.02.2024</a:t>
            </a:fld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DWZQc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23E2-ACF5-70D5-BB9D-5A806DD34D0F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3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B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BwbAABCNAAAfSMAABAAAAAmAAAACAAAAIGAAAAAAAAA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ru-ru" sz="4000" b="1" cap="all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 cap="all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OIRAABCNAAAHBsAABAAAAAmAAAACAAAAIGAAAAAAAAA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000">
                <a:solidFill>
                  <a:srgbClr val="8C8C8C"/>
                </a:solidFill>
              </a:defRPr>
            </a:lvl1pPr>
            <a:lvl2pPr marL="457200" indent="0">
              <a:buNone/>
              <a:defRPr lang="ru-ru" sz="1800">
                <a:solidFill>
                  <a:srgbClr val="8C8C8C"/>
                </a:solidFill>
              </a:defRPr>
            </a:lvl2pPr>
            <a:lvl3pPr marL="914400" indent="0">
              <a:buNone/>
              <a:defRPr lang="ru-ru" sz="1600">
                <a:solidFill>
                  <a:srgbClr val="8C8C8C"/>
                </a:solidFill>
              </a:defRPr>
            </a:lvl3pPr>
            <a:lvl4pPr marL="1371600" indent="0">
              <a:buNone/>
              <a:defRPr lang="ru-ru" sz="1400">
                <a:solidFill>
                  <a:srgbClr val="8C8C8C"/>
                </a:solidFill>
              </a:defRPr>
            </a:lvl4pPr>
            <a:lvl5pPr marL="1828800" indent="0">
              <a:buNone/>
              <a:defRPr lang="ru-ru" sz="1400">
                <a:solidFill>
                  <a:srgbClr val="8C8C8C"/>
                </a:solidFill>
              </a:defRPr>
            </a:lvl5pPr>
            <a:lvl6pPr marL="2286000" indent="0">
              <a:buNone/>
              <a:defRPr lang="ru-ru" sz="1400">
                <a:solidFill>
                  <a:srgbClr val="8C8C8C"/>
                </a:solidFill>
              </a:defRPr>
            </a:lvl6pPr>
            <a:lvl7pPr marL="2743200" indent="0">
              <a:buNone/>
              <a:defRPr lang="ru-ru" sz="1400">
                <a:solidFill>
                  <a:srgbClr val="8C8C8C"/>
                </a:solidFill>
              </a:defRPr>
            </a:lvl7pPr>
            <a:lvl8pPr marL="3200400" indent="0">
              <a:buNone/>
              <a:defRPr lang="ru-ru" sz="1400">
                <a:solidFill>
                  <a:srgbClr val="8C8C8C"/>
                </a:solidFill>
              </a:defRPr>
            </a:lvl8pPr>
            <a:lvl9pPr marL="3657600" indent="0">
              <a:buNone/>
              <a:defRPr lang="ru-ru" sz="1400">
                <a:solidFill>
                  <a:srgbClr val="8C8C8C"/>
                </a:solidFill>
              </a:defRPr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5F21-6FF5-70A9-BB9D-99FC11D34DCC}" type="datetime1">
              <a:t>01.02.2024</a:t>
            </a:fld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IEMA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gE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6C89-C7F5-709A-BB9D-31CF22D34D64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4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jttA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oGwAAsCUAABAAAAAmAAAACAAAAAGAAAAAAAAA"/>
              </a:ext>
            </a:extLst>
          </p:cNvSpPr>
          <p:nvPr>
            <p:ph idx="1"/>
          </p:nvPr>
        </p:nvSpPr>
        <p:spPr>
          <a:xfrm>
            <a:off x="457200" y="1600200"/>
            <a:ext cx="4038600" cy="4526280"/>
          </a:xfrm>
        </p:spPr>
        <p:txBody>
          <a:bodyPr/>
          <a:lstStyle>
            <a:lvl1pPr>
              <a:defRPr lang="ru-ru" sz="2800"/>
            </a:lvl1pPr>
            <a:lvl2pPr>
              <a:defRPr lang="ru-ru" sz="2400"/>
            </a:lvl2pPr>
            <a:lvl3pPr>
              <a:defRPr lang="ru-ru" sz="2000"/>
            </a:lvl3pPr>
            <a:lvl4pPr>
              <a:defRPr lang="ru-ru" sz="1800"/>
            </a:lvl4pPr>
            <a:lvl5pPr>
              <a:defRPr lang="ru-ru" sz="1800"/>
            </a:lvl5pPr>
            <a:lvl6pPr>
              <a:defRPr lang="ru-ru" sz="1800"/>
            </a:lvl6pPr>
            <a:lvl7pPr>
              <a:defRPr lang="ru-ru" sz="1800"/>
            </a:lvl7pPr>
            <a:lvl8pPr>
              <a:defRPr lang="ru-ru" sz="1800"/>
            </a:lvl8pPr>
            <a:lvl9pPr>
              <a:defRPr lang="ru-ru" sz="1800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4" name="Содержимое 3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NgJAABwNQAAsCUAABAAAAAmAAAACAAAAAGAAAAAAAAA"/>
              </a:ext>
            </a:extLst>
          </p:cNvSpPr>
          <p:nvPr>
            <p:ph idx="2"/>
          </p:nvPr>
        </p:nvSpPr>
        <p:spPr>
          <a:xfrm>
            <a:off x="4648200" y="1600200"/>
            <a:ext cx="4038600" cy="4526280"/>
          </a:xfrm>
        </p:spPr>
        <p:txBody>
          <a:bodyPr/>
          <a:lstStyle>
            <a:lvl1pPr>
              <a:defRPr lang="ru-ru" sz="2800"/>
            </a:lvl1pPr>
            <a:lvl2pPr>
              <a:defRPr lang="ru-ru" sz="2400"/>
            </a:lvl2pPr>
            <a:lvl3pPr>
              <a:defRPr lang="ru-ru" sz="2000"/>
            </a:lvl3pPr>
            <a:lvl4pPr>
              <a:defRPr lang="ru-ru" sz="1800"/>
            </a:lvl4pPr>
            <a:lvl5pPr>
              <a:defRPr lang="ru-ru" sz="1800"/>
            </a:lvl5pPr>
            <a:lvl6pPr>
              <a:defRPr lang="ru-ru" sz="1800"/>
            </a:lvl6pPr>
            <a:lvl7pPr>
              <a:defRPr lang="ru-ru" sz="1800"/>
            </a:lvl7pPr>
            <a:lvl8pPr>
              <a:defRPr lang="ru-ru" sz="1800"/>
            </a:lvl8pPr>
            <a:lvl9pPr>
              <a:defRPr lang="ru-ru" sz="1800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52E4-AAF5-70A4-BB9D-5CF11CD34D09}" type="datetime1">
              <a:t>01.02.2024</a:t>
            </a:fld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4F9F-D1F5-70B9-BB9D-27EC01D34D72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5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rG0g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HIJAACrGwAAYQ0AABAAAAAmAAAACAAAAIGAAAAAAAAA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400" b="1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4" name="Содержимое 3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ENAACrGwAAsCUAABAAAAAmAAAACAAAAAGAAAAAAAAA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lang="ru-ru" sz="2400"/>
            </a:lvl1pPr>
            <a:lvl2pPr>
              <a:defRPr lang="ru-ru" sz="2000"/>
            </a:lvl2pPr>
            <a:lvl3pPr>
              <a:defRPr lang="ru-ru" sz="1800"/>
            </a:lvl3pPr>
            <a:lvl4pPr>
              <a:defRPr lang="ru-ru" sz="1600"/>
            </a:lvl4pPr>
            <a:lvl5pPr>
              <a:defRPr lang="ru-ru" sz="1600"/>
            </a:lvl5pPr>
            <a:lvl6pPr>
              <a:defRPr lang="ru-ru" sz="1600"/>
            </a:lvl6pPr>
            <a:lvl7pPr>
              <a:defRPr lang="ru-ru" sz="1600"/>
            </a:lvl7pPr>
            <a:lvl8pPr>
              <a:defRPr lang="ru-ru" sz="1600"/>
            </a:lvl8pPr>
            <a:lvl9pPr>
              <a:defRPr lang="ru-ru" sz="1600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5" name="Текст 4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IE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HIJAABwNQAAYQ0AABAAAAAmAAAACAAAAIGAAAAAAAAA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400" b="1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6" name="Содержимое 5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xpZGU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GENAABwNQAAsCUAABAAAAAmAAAACAAAAAGAAAAAAAAA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lang="ru-ru" sz="2400"/>
            </a:lvl1pPr>
            <a:lvl2pPr>
              <a:defRPr lang="ru-ru" sz="2000"/>
            </a:lvl2pPr>
            <a:lvl3pPr>
              <a:defRPr lang="ru-ru" sz="1800"/>
            </a:lvl3pPr>
            <a:lvl4pPr>
              <a:defRPr lang="ru-ru" sz="1600"/>
            </a:lvl4pPr>
            <a:lvl5pPr>
              <a:defRPr lang="ru-ru" sz="1600"/>
            </a:lvl5pPr>
            <a:lvl6pPr>
              <a:defRPr lang="ru-ru" sz="1600"/>
            </a:lvl6pPr>
            <a:lvl7pPr>
              <a:defRPr lang="ru-ru" sz="1600"/>
            </a:lvl7pPr>
            <a:lvl8pPr>
              <a:defRPr lang="ru-ru" sz="1600"/>
            </a:lvl8pPr>
            <a:lvl9pPr>
              <a:defRPr lang="ru-ru" sz="1600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7" name="Дата 6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UC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4A63-2DF5-70BC-BB9D-DBE904D34D8E}" type="datetime1">
              <a:t>01.02.2024</a:t>
            </a:fld>
          </a:p>
        </p:txBody>
      </p:sp>
      <p:sp>
        <p:nvSpPr>
          <p:cNvPr id="8" name="Нижний колонтитул 7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9" name="Номер слайда 8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igk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723D-73F5-7084-BB9D-85D13CD34DD0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6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QAMQ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Дата 2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fg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54DC-92F5-70A2-BB9D-64F71AD34D31}" type="datetime1">
              <a:t>01.02.2024</a:t>
            </a:fld>
          </a:p>
        </p:txBody>
      </p:sp>
      <p:sp>
        <p:nvSpPr>
          <p:cNvPr id="4" name="Нижний колонтитул 3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ElQHU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5" name="Номер слайда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iwtQ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4C5E-10F5-70BA-BB9D-E6EF02D34DB3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7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DWtQ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2316-58F5-70D5-BB9D-AE806DD34DFB}" type="datetime1">
              <a:t>01.02.2024</a:t>
            </a:fld>
          </a:p>
        </p:txBody>
      </p:sp>
      <p:sp>
        <p:nvSpPr>
          <p:cNvPr id="3" name="Нижний колонтитул 2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ECDwI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5668-26F5-70A0-BB9D-D0F518D34D85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8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4BAABSFQAA1AgAABAAAAAmAAAACAAAAIGAAAAAAAAA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2000" b="1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K4BAABwNQAAsCUAABAAAAAmAAAACAAAAAGAAAAAAAAA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4" name="Текст 3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QIAABSFQAAsCUAABAAAAAmAAAACAAAAAGAAAAAAAAA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lang="ru-ru" sz="1400"/>
            </a:lvl1pPr>
            <a:lvl2pPr marL="457200" indent="0">
              <a:buNone/>
              <a:defRPr lang="ru-ru" sz="1200"/>
            </a:lvl2pPr>
            <a:lvl3pPr marL="914400" indent="0">
              <a:buNone/>
              <a:defRPr lang="ru-ru" sz="1000"/>
            </a:lvl3pPr>
            <a:lvl4pPr marL="1371600" indent="0">
              <a:buNone/>
              <a:defRPr lang="ru-ru" sz="900"/>
            </a:lvl4pPr>
            <a:lvl5pPr marL="1828800" indent="0">
              <a:buNone/>
              <a:defRPr lang="ru-ru" sz="900"/>
            </a:lvl5pPr>
            <a:lvl6pPr marL="2286000" indent="0">
              <a:buNone/>
              <a:defRPr lang="ru-ru" sz="900"/>
            </a:lvl6pPr>
            <a:lvl7pPr marL="2743200" indent="0">
              <a:buNone/>
              <a:defRPr lang="ru-ru" sz="900"/>
            </a:lvl7pPr>
            <a:lvl8pPr marL="3200400" indent="0">
              <a:buNone/>
              <a:defRPr lang="ru-ru" sz="900"/>
            </a:lvl8pPr>
            <a:lvl9pPr marL="3657600" indent="0">
              <a:buNone/>
              <a:defRPr lang="ru-ru" sz="900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bDnI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3CB7-F9F5-70CA-BB9D-0F9F72D34D5A}" type="datetime1">
              <a:t>01.02.2024</a:t>
            </a:fld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6CB4-FAF5-709A-BB9D-0CCF22D34D59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9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IgdAADHLAAABSEAABAAAAAmAAAACAAAAIGAAAAAAAAA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2000" b="1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MUDAADHLAAAFR0AABAAAAAmAAAACAAAAAGAAAAAAAAA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lang="ru-ru" sz="32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>
              <a:defRPr lang="ru-ru"/>
            </a:pPr>
          </a:p>
        </p:txBody>
      </p:sp>
      <p:sp>
        <p:nvSpPr>
          <p:cNvPr id="4" name="Текст 3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AUhAADHLAAA+CUAABAAAAAmAAAACAAAAAGAAAAAAAAA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lang="ru-ru" sz="1400"/>
            </a:lvl1pPr>
            <a:lvl2pPr marL="457200" indent="0">
              <a:buNone/>
              <a:defRPr lang="ru-ru" sz="1200"/>
            </a:lvl2pPr>
            <a:lvl3pPr marL="914400" indent="0">
              <a:buNone/>
              <a:defRPr lang="ru-ru" sz="1000"/>
            </a:lvl3pPr>
            <a:lvl4pPr marL="1371600" indent="0">
              <a:buNone/>
              <a:defRPr lang="ru-ru" sz="900"/>
            </a:lvl4pPr>
            <a:lvl5pPr marL="1828800" indent="0">
              <a:buNone/>
              <a:defRPr lang="ru-ru" sz="900"/>
            </a:lvl5pPr>
            <a:lvl6pPr marL="2286000" indent="0">
              <a:buNone/>
              <a:defRPr lang="ru-ru" sz="900"/>
            </a:lvl6pPr>
            <a:lvl7pPr marL="2743200" indent="0">
              <a:buNone/>
              <a:defRPr lang="ru-ru" sz="900"/>
            </a:lvl7pPr>
            <a:lvl8pPr marL="3200400" indent="0">
              <a:buNone/>
              <a:defRPr lang="ru-ru" sz="900"/>
            </a:lvl8pPr>
            <a:lvl9pPr marL="3657600" indent="0">
              <a:buNone/>
              <a:defRPr lang="ru-ru" sz="900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08AE-E0F5-70FE-BB9D-16AB46D34D43}" type="datetime1">
              <a:t>01.02.2024</a:t>
            </a:fld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478A-C4F5-70B1-BB9D-32E409D34D67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10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3D4B-05F5-70CB-BB9D-F39E73D34DA6}" type="datetime1">
              <a:t>01.02.2024</a:t>
            </a:fld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5744-0AF5-70A1-BB9D-FCF419D34DA9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Layouts/slideLayout1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LEBAABwNQAAsCUAABAAAAAmAAAACAAAAAMAAAAAAAAA"/>
              </a:ext>
            </a:extLst>
          </p:cNvSpPr>
          <p:nvPr>
            <p:ph type="title"/>
          </p:nvPr>
        </p:nvSpPr>
        <p:spPr>
          <a:xfrm>
            <a:off x="6629400" y="274955"/>
            <a:ext cx="2057400" cy="585152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DYJwAAsCUAABAAAAAmAAAACAAAAAMAAAAAAAAA"/>
              </a:ext>
            </a:extLst>
          </p:cNvSpPr>
          <p:nvPr>
            <p:ph idx="1"/>
          </p:nvPr>
        </p:nvSpPr>
        <p:spPr>
          <a:xfrm>
            <a:off x="457200" y="274955"/>
            <a:ext cx="6019800" cy="585152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182534A3-EDF5-70C2-BB9D-1B977AD34D4E}" type="datetime1">
              <a:t>01.02.2024</a:t>
            </a:fld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182503CE-80F5-70F5-BB9D-76A04DD34D23}" type="slidenum">
              <a:t>‹#›</a:t>
            </a:fld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LEBAABwNQAAuQgAABAAAAAmAAAACAAAAL8v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NgJAABwNQAAsCUAABAAAAAmAAAACAAAAD8v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BonAADwDwAAWSkAABAAAAAmAAAACAAAAL+PAAAAAAAA"/>
              </a:ext>
            </a:extLst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ru-ru" sz="1200">
                <a:solidFill>
                  <a:srgbClr val="8C8C8C"/>
                </a:solidFill>
              </a:defRPr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fld id="{18253152-1CF5-70C7-BB9D-EA927FD34DBF}" type="datetime1">
              <a:t/>
            </a:fld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MAABonAAAIJQAAWSkAABAAAAAmAAAACAAAAL+PAAAAAAAA"/>
              </a:ext>
            </a:extLst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ru-ru" sz="1200">
                <a:solidFill>
                  <a:srgbClr val="8C8C8C"/>
                </a:solidFill>
              </a:defRPr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CE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CgAABonAABwN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ru-ru" sz="1200">
                <a:solidFill>
                  <a:srgbClr val="8C8C8C"/>
                </a:solidFill>
              </a:defRPr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fld id="{18254CCF-81F5-70BA-BB9D-77EF02D34D22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76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32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1pPr>
      <a:lvl2pPr marL="742950" marR="0" indent="-285750" algn="l" defTabSz="914400">
        <a:lnSpc>
          <a:spcPct val="100000"/>
        </a:lnSpc>
        <a:spcBef>
          <a:spcPts val="670"/>
        </a:spcBef>
        <a:spcAft>
          <a:spcPts val="0"/>
        </a:spcAft>
        <a:buClrTx/>
        <a:buSzTx/>
        <a:buFont typeface="Arial" pitchFamily="2" charset="-52"/>
        <a:buChar char="–"/>
        <a:tabLst/>
        <a:defRPr lang="ru-ru" sz="2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2pPr>
      <a:lvl3pPr marL="1143000" marR="0" indent="-228600" algn="l" defTabSz="914400">
        <a:lnSpc>
          <a:spcPct val="100000"/>
        </a:lnSpc>
        <a:spcBef>
          <a:spcPts val="5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4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3pPr>
      <a:lvl4pPr marL="16002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 typeface="Arial" pitchFamily="2" charset="-52"/>
        <a:buChar char="–"/>
        <a:tabLst/>
        <a:defRPr lang="ru-ru" sz="20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4pPr>
      <a:lvl5pPr marL="20574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 typeface="Arial" pitchFamily="2" charset="-52"/>
        <a:buChar char="»"/>
        <a:tabLst/>
        <a:defRPr lang="ru-ru" sz="20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spc="0" baseline="0">
          <a:solidFill>
            <a:schemeClr val="tx1"/>
          </a:solidFill>
          <a:effectLst/>
          <a:txBgFill val="auto"/>
          <a:latin typeface="Calibri" pitchFamily="2" charset="-52"/>
          <a:ea typeface="Calibri" pitchFamily="2" charset="-52"/>
          <a:cs typeface="Calibri" pitchFamily="2" charset="-52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/Relationships>
</file>

<file path=ppt/slides/slide1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NAQAAAwCAACTMwAA3hYAABAAAAAmAAAACAAAAAEgAAAAAAAA"/>
              </a:ext>
            </a:extLst>
          </p:cNvSpPr>
          <p:nvPr>
            <p:ph type="ctrTitle"/>
          </p:nvPr>
        </p:nvSpPr>
        <p:spPr>
          <a:xfrm>
            <a:off x="683260" y="332740"/>
            <a:ext cx="7700645" cy="338455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rPr lang="ru-ru" sz="3600" b="1" i="1"/>
              <a:t>СОВРЕМЕННЫЕ ПОДХОДЫ К ОРГАНИЗАЦИИ РЕЧЕВОГО РАЗВИТИЯ ДОШКОЛЬНИКОВ В ДОО</a:t>
            </a:r>
            <a:endParaRPr lang="ru-ru" sz="3600" b="1" i="1"/>
          </a:p>
        </p:txBody>
      </p:sp>
      <p:sp>
        <p:nvSpPr>
          <p:cNvPr id="3" name="Подзаголовок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hQkAAN4WAADlMAAACiUAAAAAAAAmAAAACAAAAAEgAAAAAAAA"/>
              </a:ext>
            </a:extLst>
          </p:cNvSpPr>
          <p:nvPr>
            <p:ph type="subTitle" idx="1"/>
          </p:nvPr>
        </p:nvSpPr>
        <p:spPr>
          <a:xfrm>
            <a:off x="1547495" y="3717290"/>
            <a:ext cx="6400800" cy="23037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algn="r">
              <a:defRPr lang="ru-ru"/>
            </a:pPr>
            <a:r>
              <a:rPr lang="ru-ru" i="1">
                <a:solidFill>
                  <a:schemeClr val="tx1"/>
                </a:solidFill>
                <a:latin typeface="Times New Roman" pitchFamily="1" charset="-52"/>
                <a:ea typeface="Calibri" pitchFamily="2" charset="-52"/>
                <a:cs typeface="Times New Roman" pitchFamily="1" charset="-52"/>
              </a:rPr>
              <a:t>Сысоева А. С.</a:t>
            </a:r>
            <a:endParaRPr lang="ru-ru" i="1">
              <a:solidFill>
                <a:schemeClr val="tx1"/>
              </a:solidFill>
              <a:latin typeface="Times New Roman" pitchFamily="1" charset="-52"/>
              <a:ea typeface="Calibri" pitchFamily="2" charset="-52"/>
              <a:cs typeface="Times New Roman" pitchFamily="1" charset="-52"/>
            </a:endParaRPr>
          </a:p>
          <a:p>
            <a:pPr algn="r">
              <a:defRPr lang="ru-ru"/>
            </a:pPr>
            <a:r>
              <a:rPr lang="ru-ru" i="1">
                <a:solidFill>
                  <a:schemeClr val="tx1"/>
                </a:solidFill>
                <a:latin typeface="Times New Roman" pitchFamily="1" charset="-52"/>
                <a:ea typeface="Calibri" pitchFamily="2" charset="-52"/>
                <a:cs typeface="Times New Roman" pitchFamily="1" charset="-52"/>
              </a:rPr>
              <a:t>воспитатель МКДОУ .</a:t>
            </a:r>
            <a:endParaRPr lang="ru-ru" i="1">
              <a:solidFill>
                <a:schemeClr val="tx1"/>
              </a:solidFill>
              <a:latin typeface="Times New Roman" pitchFamily="1" charset="-52"/>
              <a:ea typeface="Calibri" pitchFamily="2" charset="-52"/>
              <a:cs typeface="Times New Roman" pitchFamily="1" charset="-52"/>
            </a:endParaRPr>
          </a:p>
          <a:p>
            <a:pPr algn="r">
              <a:defRPr lang="ru-ru"/>
            </a:pPr>
            <a:endParaRPr lang="ru-ru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2AkAABAAAAAmAAAACAAAAAEg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32524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br/>
            <a:r>
              <a:rPr lang="ru-ru" sz="3200" b="1" i="1" u="sng"/>
              <a:t>Педагогическая проблема. Актуальность проблемы и практическая значимость ее решения.</a:t>
            </a:r>
            <a:br/>
            <a:endParaRPr lang="ru-ru" sz="2800">
              <a:latin typeface="Times New Roman" pitchFamily="1" charset="-52"/>
              <a:ea typeface="Calibri" pitchFamily="2" charset="-52"/>
              <a:cs typeface="Times New Roman" pitchFamily="1" charset="-52"/>
            </a:endParaRPr>
          </a:p>
        </p:txBody>
      </p:sp>
      <p:sp>
        <p:nvSpPr>
          <p:cNvPr id="3" name="Содержимое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OgKAABwNQAA0CYAABAAAAAmAAAACAAAAAEgAAAAAAAA"/>
              </a:ext>
            </a:extLst>
          </p:cNvSpPr>
          <p:nvPr>
            <p:ph type="body" idx="1"/>
          </p:nvPr>
        </p:nvSpPr>
        <p:spPr>
          <a:xfrm>
            <a:off x="457200" y="1772920"/>
            <a:ext cx="8229600" cy="453644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rPr lang="ru-ru" sz="2400" b="1" i="1">
                <a:latin typeface="Times New Roman" pitchFamily="1" charset="-52"/>
                <a:ea typeface="Calibri" pitchFamily="2" charset="-52"/>
                <a:cs typeface="Times New Roman" pitchFamily="1" charset="-52"/>
              </a:rPr>
              <a:t> </a:t>
            </a:r>
            <a:r>
              <a:rPr lang="ru-ru" sz="2400" b="1" i="1"/>
              <a:t>Проблема речевого развития детей дошкольного возраста на сегодняшний день очень актуальна, т.к. процент дошкольников с различными речевыми нарушениями остается стабильно высоким. </a:t>
            </a:r>
            <a:endParaRPr lang="ru-ru" sz="2400"/>
          </a:p>
          <a:p>
            <a:pPr>
              <a:defRPr lang="ru-ru"/>
            </a:pPr>
            <a:r>
              <a:rPr lang="ru-ru" sz="2400" b="1" i="1"/>
              <a:t> В современном дошкольном образовании речь рассматривается как одна из основ воспитания и обучения детей. </a:t>
            </a:r>
            <a:endParaRPr lang="ru-ru" sz="2400"/>
          </a:p>
          <a:p>
            <a:pPr>
              <a:defRPr lang="ru-ru"/>
            </a:pPr>
            <a:r>
              <a:rPr lang="ru-ru" sz="2400" b="1" i="1"/>
              <a:t> С развитием речи связано формирование как личности в целом, так и во всех основных психических процессов. </a:t>
            </a:r>
            <a:endParaRPr lang="ru-ru" sz="2400"/>
          </a:p>
          <a:p>
            <a:pPr>
              <a:defRPr lang="ru-ru"/>
            </a:pPr>
            <a:r>
              <a:rPr lang="ru-ru" sz="2400" b="1" i="1"/>
              <a:t> Главной задачей развития связной речи ребёнка в дошкольном возрасте является совершенствование монологической речи. </a:t>
            </a:r>
            <a:endParaRPr lang="ru-ru" sz="2400"/>
          </a:p>
          <a:p>
            <a:pPr marL="0" indent="0">
              <a:buNone/>
              <a:defRPr lang="ru-ru"/>
            </a:pPr>
            <a:endParaRPr lang="ru-ru" sz="2400"/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5"/>
          <p:cNvSpPr>
            <a:spLocks noGrp="1" noChangeArrowheads="1"/>
            <a:extLst>
              <a:ext uri="smNativeData">
                <pr:smNativeData xmlns:pr="smNativeData" val="SMDATA_16_75K7ZRMAAAAlAAAAZAAAAE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D///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CMDAAAINAAAywwAABAgAAAmAAAACAAAAAEwAAAAAAAA"/>
              </a:ext>
            </a:extLst>
          </p:cNvSpPr>
          <p:nvPr>
            <p:ph type="ctrTitle"/>
          </p:nvPr>
        </p:nvSpPr>
        <p:spPr>
          <a:xfrm>
            <a:off x="685800" y="509905"/>
            <a:ext cx="7772400" cy="156972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rPr lang="ru-ru" sz="3200" b="1" i="1" u="sng"/>
              <a:t>Теоретическая основа опыта решения педагогической проблемы.</a:t>
            </a:r>
            <a:br/>
            <a:endParaRPr lang="ru-ru" sz="3200" b="1"/>
          </a:p>
        </p:txBody>
      </p:sp>
      <p:sp>
        <p:nvSpPr>
          <p:cNvPr id="3" name="Подзаголовок 2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b///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QAAAAEAAAAAAAAAAAAAAAAAAAAAAAAAAAAAAAAAAAAAAAAAAAAAAAJ/f38AAAAAA8zMzADAwP8Af39/AAAAAAAAAAAAAAAAAAAAAAAAAAAAIQAAABgAAAAUAAAAFwUAAMsMAAC0NgAABykAABAAAAAmAAAACAAAAAEgAAD/HwAA"/>
              </a:ext>
            </a:extLst>
          </p:cNvSpPr>
          <p:nvPr>
            <p:ph type="subTitle" idx="1"/>
          </p:nvPr>
        </p:nvSpPr>
        <p:spPr>
          <a:xfrm>
            <a:off x="827405" y="2079625"/>
            <a:ext cx="8065135" cy="4589780"/>
          </a:xfr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algn="l">
              <a:defRPr lang="ru-ru"/>
            </a:pPr>
            <a:r>
              <a:rPr lang="ru-ru" sz="2800" b="1" i="1">
                <a:solidFill>
                  <a:schemeClr val="tx1"/>
                </a:solidFill>
              </a:rPr>
              <a:t>- Обогащение активного словаря; </a:t>
            </a:r>
            <a:endParaRPr lang="ru-ru" sz="2800" b="1" i="1">
              <a:solidFill>
                <a:schemeClr val="tx1"/>
              </a:solidFill>
            </a:endParaRPr>
          </a:p>
          <a:p>
            <a:pPr algn="l">
              <a:defRPr lang="ru-ru"/>
            </a:pPr>
            <a:r>
              <a:rPr lang="ru-ru" sz="2800" b="1" i="1">
                <a:solidFill>
                  <a:schemeClr val="tx1"/>
                </a:solidFill>
              </a:rPr>
              <a:t>- развитие связной, грамматически правильной диалогической и монологической речи; </a:t>
            </a:r>
            <a:endParaRPr lang="ru-ru" sz="2800" b="1" i="1">
              <a:solidFill>
                <a:schemeClr val="tx1"/>
              </a:solidFill>
            </a:endParaRPr>
          </a:p>
          <a:p>
            <a:pPr algn="l">
              <a:defRPr lang="ru-ru"/>
            </a:pPr>
            <a:r>
              <a:rPr lang="ru-ru" sz="2800" b="1" i="1">
                <a:solidFill>
                  <a:schemeClr val="tx1"/>
                </a:solidFill>
              </a:rPr>
              <a:t>- развитие речевого творчества; </a:t>
            </a:r>
            <a:endParaRPr lang="ru-ru" sz="2800" b="1" i="1">
              <a:solidFill>
                <a:schemeClr val="tx1"/>
              </a:solidFill>
            </a:endParaRPr>
          </a:p>
          <a:p>
            <a:pPr algn="l">
              <a:defRPr lang="ru-ru"/>
            </a:pPr>
            <a:r>
              <a:rPr lang="ru-ru" sz="2800" b="1" i="1">
                <a:solidFill>
                  <a:schemeClr val="tx1"/>
                </a:solidFill>
              </a:rPr>
              <a:t>- развитие звуковой и интонационной культуры речи, фонематического слуха; </a:t>
            </a:r>
            <a:endParaRPr lang="ru-ru" sz="2800" b="1" i="1">
              <a:solidFill>
                <a:schemeClr val="tx1"/>
              </a:solidFill>
            </a:endParaRPr>
          </a:p>
          <a:p>
            <a:pPr algn="l">
              <a:defRPr lang="ru-ru"/>
            </a:pPr>
            <a:r>
              <a:rPr lang="ru-ru" sz="2800" b="1" i="1">
                <a:solidFill>
                  <a:schemeClr val="tx1"/>
                </a:solidFill>
              </a:rPr>
              <a:t>- знакомство с книжной культурой, детской литературой, понимание на слух текстов различных жанров детской литературы; </a:t>
            </a:r>
            <a:endParaRPr lang="ru-ru" sz="2800" b="1" i="1">
              <a:solidFill>
                <a:schemeClr val="tx1"/>
              </a:solidFill>
            </a:endParaRPr>
          </a:p>
          <a:p>
            <a:pPr>
              <a:defRPr lang="ru-ru"/>
            </a:pPr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wMAALQEAADRNQAAUhMAABAAAAAmAAAACAAAAAEgAAAAAAAA"/>
              </a:ext>
            </a:extLst>
          </p:cNvSpPr>
          <p:nvPr>
            <p:ph type="title"/>
          </p:nvPr>
        </p:nvSpPr>
        <p:spPr>
          <a:xfrm>
            <a:off x="611505" y="764540"/>
            <a:ext cx="8136890" cy="23761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rPr lang="ru-ru" sz="3200" b="1" i="1" u="sng"/>
              <a:t>Инновации в организации образовательного процесса, содержании образования, взаимодействии педагога и воспитанника.</a:t>
            </a:r>
            <a:br/>
            <a:endParaRPr lang="ru-ru" sz="3200"/>
          </a:p>
        </p:txBody>
      </p:sp>
      <p:sp>
        <p:nvSpPr>
          <p:cNvPr id="3" name="Прямоугольник 2"/>
          <p:cNvSpPr>
            <a:extLst>
              <a:ext uri="smNativeData">
                <pr:smNativeData xmlns:pr="smNativeData" val="SMDATA_16_75K7ZR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oAABkVAADyMAAABiEAABAgAAAmAAAACAAAAP//////////"/>
              </a:ext>
            </a:extLst>
          </p:cNvSpPr>
          <p:nvPr/>
        </p:nvSpPr>
        <p:spPr>
          <a:xfrm>
            <a:off x="1727200" y="3429635"/>
            <a:ext cx="6229350" cy="19386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3000" b="1" i="1"/>
              <a:t>1) Метод моделирования</a:t>
            </a:r>
            <a:endParaRPr lang="ru-ru" sz="3000" b="1" i="1"/>
          </a:p>
          <a:p>
            <a:pPr>
              <a:defRPr lang="ru-ru"/>
            </a:pPr>
            <a:r>
              <a:rPr lang="ru-ru" sz="3000" b="1" i="1"/>
              <a:t>2) ИКТ- технологии</a:t>
            </a:r>
            <a:endParaRPr lang="ru-ru" sz="3000" b="1" i="1"/>
          </a:p>
          <a:p>
            <a:pPr>
              <a:defRPr lang="ru-ru"/>
            </a:pPr>
            <a:r>
              <a:rPr lang="ru-ru" sz="3000" b="1" i="1"/>
              <a:t>3) Технологии мнемотаблиц</a:t>
            </a:r>
            <a:endParaRPr lang="ru-ru" sz="3000" b="1" i="1"/>
          </a:p>
          <a:p>
            <a:pPr>
              <a:defRPr lang="ru-ru"/>
            </a:pPr>
            <a:r>
              <a:rPr lang="ru-ru" sz="3000" b="1" i="1"/>
              <a:t>4) Педагогическая арт-терапия</a:t>
            </a:r>
            <a:endParaRPr lang="ru-ru" sz="3000" b="1" i="1"/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ApMwAAbAsAABAAAAAmAAAACAAAAAEgAAAAAAAA"/>
              </a:ext>
            </a:extLst>
          </p:cNvSpPr>
          <p:nvPr>
            <p:ph type="title"/>
          </p:nvPr>
        </p:nvSpPr>
        <p:spPr>
          <a:xfrm>
            <a:off x="457200" y="274955"/>
            <a:ext cx="7859395" cy="158178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rPr lang="ru-ru" sz="4000" b="1" i="1" u="sng"/>
              <a:t>Мнемотаблица</a:t>
            </a:r>
            <a:endParaRPr lang="ru-ru" sz="4000" b="1" i="1" u="sng"/>
          </a:p>
        </p:txBody>
      </p:sp>
      <p:pic>
        <p:nvPicPr>
          <p:cNvPr id="3" name="Picture 2" descr="C:\Users\admin\Desktop\Screenshot_20240125_114150_Chrome.jpg"/>
          <p:cNvPicPr>
            <a:picLocks noChangeAspect="1"/>
            <a:extLst>
              <a:ext uri="smNativeData">
                <pr:smNativeData xmlns:pr="smNativeData" val="SMDATA_18_75K7Z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OcTAACJFQAAvCQAAH8o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235325" y="3500755"/>
            <a:ext cx="2736215" cy="308229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3" descr="C:\Users\admin\Desktop\Screenshot_20240125_114220_Chrome.jpg"/>
          <p:cNvPicPr>
            <a:picLocks noChangeAspect="1"/>
            <a:extLst>
              <a:ext uri="smNativeData">
                <pr:smNativeData xmlns:pr="smNativeData" val="SMDATA_18_75K7Z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IskAAD+DQAAtDYAAH8h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940425" y="2274570"/>
            <a:ext cx="2952115" cy="317055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 descr="C:\Users\admin\Desktop\Screenshot_20240125_114121_Chrome.jpg"/>
          <p:cNvPicPr>
            <a:picLocks noChangeAspect="1"/>
            <a:extLst>
              <a:ext uri="smNativeData">
                <pr:smNativeData xmlns:pr="smNativeData" val="SMDATA_18_75K7Z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IwBAAD+DQAAmBQAAD8g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" y="2274570"/>
            <a:ext cx="3096260" cy="29673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gMAALgAAADyNQAAVg8AABAAAAAmAAAACAAAAAEgAAAAAAAA"/>
              </a:ext>
            </a:extLst>
          </p:cNvSpPr>
          <p:nvPr>
            <p:ph type="title"/>
          </p:nvPr>
        </p:nvSpPr>
        <p:spPr>
          <a:xfrm>
            <a:off x="539750" y="116840"/>
            <a:ext cx="8229600" cy="23761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rPr lang="ru-ru" sz="4000" b="1" i="1" u="sng"/>
              <a:t>Технология реализации решения педагогической проблемы</a:t>
            </a:r>
            <a:endParaRPr lang="ru-ru" sz="4000"/>
          </a:p>
        </p:txBody>
      </p:sp>
      <p:sp>
        <p:nvSpPr>
          <p:cNvPr id="3" name="Прямоугольник 2"/>
          <p:cNvSpPr>
            <a:extLst>
              <a:ext uri="smNativeData">
                <pr:smNativeData xmlns:pr="smNativeData" val="SMDATA_16_75K7ZR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j///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FAkAAFYPAAC3MgAAmCMAABAgAAAmAAAACAAAAP//////////"/>
              </a:ext>
            </a:extLst>
          </p:cNvSpPr>
          <p:nvPr/>
        </p:nvSpPr>
        <p:spPr>
          <a:xfrm>
            <a:off x="1475740" y="2493010"/>
            <a:ext cx="6768465" cy="3293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2400" b="1" i="1"/>
              <a:t>1</a:t>
            </a:r>
            <a:r>
              <a:rPr lang="ru-ru" sz="2600" b="1" i="1"/>
              <a:t>)Вызвать у педагогов осознание необходимости расширять свои знания в области развития речи у детей.</a:t>
            </a:r>
            <a:endParaRPr lang="ru-ru" sz="2600"/>
          </a:p>
          <a:p>
            <a:pPr>
              <a:defRPr lang="ru-ru"/>
            </a:pPr>
            <a:r>
              <a:rPr lang="ru-ru" sz="2600" b="1" i="1"/>
              <a:t>2)Владение педагогом правильной литературной речью.</a:t>
            </a:r>
            <a:endParaRPr lang="ru-ru" sz="2600"/>
          </a:p>
          <a:p>
            <a:pPr>
              <a:defRPr lang="ru-ru"/>
            </a:pPr>
            <a:r>
              <a:rPr lang="ru-ru" sz="2600" b="1" i="1"/>
              <a:t>3)Создание условий для овладения детьми грамматическим строем речи.</a:t>
            </a:r>
            <a:endParaRPr lang="ru-ru" sz="2600"/>
          </a:p>
          <a:p>
            <a:pPr>
              <a:defRPr lang="ru-ru"/>
            </a:pPr>
            <a:r>
              <a:rPr lang="ru-ru" sz="2600" b="1" i="1"/>
              <a:t>4)Поощрение детского словотворчества</a:t>
            </a:r>
            <a:r>
              <a:rPr lang="ru-ru" sz="2400" b="1" i="1"/>
              <a:t>.</a:t>
            </a:r>
            <a:endParaRPr lang="ru-ru" sz="2400"/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ABAABwNQAApgkAABAAAAAmAAAACAAAAAEgAAAAAAAA"/>
              </a:ext>
            </a:extLst>
          </p:cNvSpPr>
          <p:nvPr>
            <p:ph type="title"/>
          </p:nvPr>
        </p:nvSpPr>
        <p:spPr>
          <a:xfrm>
            <a:off x="457200" y="274320"/>
            <a:ext cx="8229600" cy="129413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br/>
            <a:r>
              <a:rPr lang="ru-ru" b="1" i="1" u="sng"/>
              <a:t>Методы речевого развития </a:t>
            </a:r>
            <a:br/>
          </a:p>
        </p:txBody>
      </p:sp>
      <p:sp>
        <p:nvSpPr>
          <p:cNvPr id="3" name="Прямоугольник 4"/>
          <p:cNvSpPr>
            <a:extLst>
              <a:ext uri="smNativeData">
                <pr:smNativeData xmlns:pr="smNativeData" val="SMDATA_16_75K7ZR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QycAAI0QAABwNQAA3SMAABAgAAAmAAAACAAAAP//////////"/>
              </a:ext>
            </a:extLst>
          </p:cNvSpPr>
          <p:nvPr/>
        </p:nvSpPr>
        <p:spPr>
          <a:xfrm>
            <a:off x="6382385" y="2690495"/>
            <a:ext cx="2304415" cy="3139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b="1"/>
              <a:t>ПРАКТИЧЕСКИЕ </a:t>
            </a:r>
            <a:r>
              <a:rPr lang="ru-ru" sz="2000"/>
              <a:t>дидактические игры, игры драматизации, инсценировки, дидактические упражнения, пластические этюды, хоровые игры.</a:t>
            </a:r>
            <a:endParaRPr lang="ru-ru" sz="2000"/>
          </a:p>
        </p:txBody>
      </p:sp>
      <p:sp>
        <p:nvSpPr>
          <p:cNvPr id="4" name="Прямоугольник 6"/>
          <p:cNvSpPr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EAAAAAAAAAT4G9DP///whk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tgjAB/f38AAAAAA8zMzADAwP8Af39/AAAAAAAAAAAAAAAAAAAAAAAAAAAAIQAAABgAAAAUAAAAqAIAALIMAAC4EQAAtycAABAAAAAmAAAACAAAAP//////////"/>
              </a:ext>
            </a:extLst>
          </p:cNvSpPr>
          <p:nvPr/>
        </p:nvSpPr>
        <p:spPr>
          <a:xfrm>
            <a:off x="431800" y="2063750"/>
            <a:ext cx="2448560" cy="4392295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 cap="flat" cmpd="sng" algn="ctr">
            <a:solidFill>
              <a:srgbClr val="3B608C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ru-ru">
                <a:solidFill>
                  <a:srgbClr val="FFFFFF"/>
                </a:solidFill>
                <a:latin typeface="Calibri" pitchFamily="2" charset="-52"/>
                <a:ea typeface="Calibri" pitchFamily="2" charset="-52"/>
                <a:cs typeface="Calibri" pitchFamily="2" charset="-52"/>
              </a:defRPr>
            </a:pPr>
            <a:r>
              <a:rPr lang="ru-ru" b="1">
                <a:solidFill>
                  <a:schemeClr val="tx1"/>
                </a:solidFill>
              </a:rPr>
              <a:t>НАГЛЯДНЫЕ </a:t>
            </a:r>
            <a:r>
              <a:rPr lang="ru-ru" sz="2000">
                <a:solidFill>
                  <a:schemeClr val="tx1"/>
                </a:solidFill>
              </a:rPr>
              <a:t>непосредственное наблюдение и его разновидности (наблюдения в природе, экскурсии), опосредованного наблюдение (изобразительная наглядность</a:t>
            </a:r>
            <a:r>
              <a:rPr lang="ru-ru" sz="2000">
                <a:solidFill>
                  <a:schemeClr val="tx1"/>
                </a:solidFill>
                <a:latin typeface="Times New Roman" pitchFamily="1" charset="-52"/>
                <a:ea typeface="Calibri" pitchFamily="2" charset="-52"/>
                <a:cs typeface="Times New Roman" pitchFamily="1" charset="-52"/>
              </a:rPr>
              <a:t>). </a:t>
            </a:r>
            <a:endParaRPr lang="ru-ru" sz="2000">
              <a:solidFill>
                <a:schemeClr val="tx1"/>
              </a:solidFill>
              <a:latin typeface="Times New Roman" pitchFamily="1" charset="-52"/>
              <a:ea typeface="Calibri" pitchFamily="2" charset="-52"/>
              <a:cs typeface="Times New Roman" pitchFamily="1" charset="-52"/>
            </a:endParaRPr>
          </a:p>
        </p:txBody>
      </p:sp>
      <p:sp>
        <p:nvSpPr>
          <p:cNvPr id="5" name="Прямоугольник 8"/>
          <p:cNvSpPr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EAAAAAAAAAT4G9DP///whk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tgjAB/f38AAAAAA8zMzADAwP8Af39/AAAAAAAAAAAAAAAAAAAAAAAAAAAAIQAAABgAAAAUAAAAzhIAAJANAAD3JAAAsycAABAAAAAmAAAACAAAAP//////////"/>
              </a:ext>
            </a:extLst>
          </p:cNvSpPr>
          <p:nvPr/>
        </p:nvSpPr>
        <p:spPr>
          <a:xfrm>
            <a:off x="3056890" y="2204720"/>
            <a:ext cx="2952115" cy="4248785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 cap="flat" cmpd="sng" algn="ctr">
            <a:solidFill>
              <a:srgbClr val="3B608C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ru-ru">
                <a:solidFill>
                  <a:srgbClr val="FFFFFF"/>
                </a:solidFill>
                <a:latin typeface="Calibri" pitchFamily="2" charset="-52"/>
                <a:ea typeface="Calibri" pitchFamily="2" charset="-52"/>
                <a:cs typeface="Calibri" pitchFamily="2" charset="-52"/>
              </a:defRPr>
            </a:pPr>
            <a:r>
              <a:rPr lang="ru-ru" b="1">
                <a:solidFill>
                  <a:schemeClr val="tx1"/>
                </a:solidFill>
              </a:rPr>
              <a:t>СЛОВЕСНЫЕ </a:t>
            </a:r>
            <a:endParaRPr lang="ru-ru" b="1">
              <a:solidFill>
                <a:schemeClr val="tx1"/>
              </a:solidFill>
            </a:endParaRPr>
          </a:p>
          <a:p>
            <a:pPr algn="ctr">
              <a:defRPr lang="ru-ru">
                <a:solidFill>
                  <a:srgbClr val="FFFFFF"/>
                </a:solidFill>
                <a:latin typeface="Calibri" pitchFamily="2" charset="-52"/>
                <a:ea typeface="Calibri" pitchFamily="2" charset="-52"/>
                <a:cs typeface="Calibri" pitchFamily="2" charset="-52"/>
              </a:defRPr>
            </a:pPr>
            <a:r>
              <a:rPr lang="ru-ru" sz="2000">
                <a:solidFill>
                  <a:schemeClr val="tx1"/>
                </a:solidFill>
              </a:rPr>
              <a:t>чтение и рассказывание художественных произведений, заучивание наизусть, пересказ, рассказывание с и без опоры на наглядные материалы</a:t>
            </a:r>
            <a:r>
              <a:rPr lang="ru-ru" sz="2000">
                <a:solidFill>
                  <a:schemeClr val="tx1"/>
                </a:solidFill>
              </a:rPr>
              <a:t>.</a:t>
            </a:r>
            <a:endParaRPr lang="ru-ru" sz="2000">
              <a:solidFill>
                <a:schemeClr val="tx1"/>
              </a:solidFill>
            </a:endParaRPr>
          </a:p>
        </p:txBody>
      </p:sp>
      <p:sp>
        <p:nvSpPr>
          <p:cNvPr id="6" name="Прямоугольник 10"/>
          <p:cNvSpPr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EAAAAAAAAAT4G9DP///whk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tgjAB/f38AAAAAA8zMzADAwP8Af39/AAAAAAAAAAAAAAAAAAAAAAAAAAAAIQAAABgAAAAUAAAACiYAAMEMAAD8NQAAxicAABAAAAAmAAAACAAAAP//////////"/>
              </a:ext>
            </a:extLst>
          </p:cNvSpPr>
          <p:nvPr/>
        </p:nvSpPr>
        <p:spPr>
          <a:xfrm>
            <a:off x="6183630" y="2073275"/>
            <a:ext cx="2592070" cy="4392295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 cap="flat" cmpd="sng" algn="ctr">
            <a:solidFill>
              <a:srgbClr val="3B608C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ru-ru">
                <a:solidFill>
                  <a:srgbClr val="FFFFFF"/>
                </a:solidFill>
                <a:latin typeface="Calibri" pitchFamily="2" charset="-52"/>
                <a:ea typeface="Calibri" pitchFamily="2" charset="-52"/>
                <a:cs typeface="Calibri" pitchFamily="2" charset="-52"/>
              </a:defRPr>
            </a:pPr>
            <a:endParaRPr lang="ru-ru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wIAAJoBAAA3NQAAXQ4AABAAAAAmAAAACAAAAAEgAAAAAAAA"/>
              </a:ext>
            </a:extLst>
          </p:cNvSpPr>
          <p:nvPr>
            <p:ph type="title"/>
          </p:nvPr>
        </p:nvSpPr>
        <p:spPr>
          <a:xfrm>
            <a:off x="421005" y="260350"/>
            <a:ext cx="8229600" cy="207454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rPr lang="ru-ru" sz="4000" b="1" i="1" u="sng"/>
              <a:t>Результативность опыта</a:t>
            </a:r>
            <a:br/>
            <a:endParaRPr lang="ru-ru" sz="3600" b="1" i="1" u="sng">
              <a:latin typeface="Times New Roman" pitchFamily="1" charset="-52"/>
              <a:ea typeface="Calibri" pitchFamily="2" charset="-52"/>
              <a:cs typeface="Times New Roman" pitchFamily="1" charset="-52"/>
            </a:endParaRPr>
          </a:p>
        </p:txBody>
      </p:sp>
      <p:sp>
        <p:nvSpPr>
          <p:cNvPr id="3" name="Прямоугольник 3"/>
          <p:cNvSpPr>
            <a:extLst>
              <a:ext uri="smNativeData">
                <pr:smNativeData xmlns:pr="smNativeData" val="SMDATA_16_75K7ZR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gQAAHYKAAApMwAAMCgAABAgAAAmAAAACAAAAP//////////"/>
              </a:ext>
            </a:extLst>
          </p:cNvSpPr>
          <p:nvPr/>
        </p:nvSpPr>
        <p:spPr>
          <a:xfrm>
            <a:off x="755650" y="1700530"/>
            <a:ext cx="7560945" cy="4832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just">
              <a:defRPr lang="ru-ru"/>
            </a:pPr>
            <a:r>
              <a:rPr lang="ru-ru" sz="2800" b="1" i="1"/>
              <a:t>Таким образом, можно сделать вывод о том, что развитие речи с помощью игровых форм деятельности даёт большой результат. Наблюдается желание абсолютно всех детей участвовать в этом процессе, который активизирует мыслительную деятельность, обогащает словарный запас детей, развивает умение наблюдать ,выделять главное, сопоставлять предметы, признаки и явления, приобретать новые знания.</a:t>
            </a:r>
            <a:endParaRPr lang="ru-ru" sz="2800" b="1" i="1"/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>
            <a:spLocks noGrp="1" noChangeArrowheads="1"/>
            <a:extLst>
              <a:ext uri="smNativeData">
                <pr:smNativeData xmlns:pr="smNativeData" val="SMDATA_16_75K7Z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JoBAAAINAAAIgkAABAAAAAmAAAACAAAAAEgAAAAAAAA"/>
              </a:ext>
            </a:extLst>
          </p:cNvSpPr>
          <p:nvPr>
            <p:ph type="ctrTitle"/>
          </p:nvPr>
        </p:nvSpPr>
        <p:spPr>
          <a:xfrm>
            <a:off x="685800" y="260350"/>
            <a:ext cx="7772400" cy="122428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rPr lang="ru-ru" sz="4000" b="1" i="1" u="sng"/>
              <a:t>Список литературы</a:t>
            </a:r>
            <a:endParaRPr lang="ru-ru" sz="4000" b="1" i="1" u="sng"/>
          </a:p>
        </p:txBody>
      </p:sp>
      <p:sp>
        <p:nvSpPr>
          <p:cNvPr id="3" name="Подзаголовок 3"/>
          <p:cNvSpPr>
            <a:spLocks noGrp="1" noChangeArrowheads="1"/>
            <a:extLst>
              <a:ext uri="smNativeData">
                <pr:smNativeData xmlns:pr="smNativeData" val="SMDATA_16_75K7Z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c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IAAOgKAACSNQAAsycAABAAAAAmAAAACAAAAAEgAAAAAAAA"/>
              </a:ext>
            </a:extLst>
          </p:cNvSpPr>
          <p:nvPr>
            <p:ph type="subTitle" idx="1"/>
          </p:nvPr>
        </p:nvSpPr>
        <p:spPr>
          <a:xfrm>
            <a:off x="467360" y="1772920"/>
            <a:ext cx="8241030" cy="468058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algn="l">
              <a:defRPr lang="ru-ru"/>
            </a:pPr>
            <a:r>
              <a:rPr lang="ru-ru" sz="2760" b="1" i="1">
                <a:solidFill>
                  <a:schemeClr val="tx1"/>
                </a:solidFill>
              </a:rPr>
              <a:t>Бутусова Н.Н., Развитие речи при коррекции звукопроизношения. Учебно-методическое пособие. Издательство: Детство Пресс, 2012г</a:t>
            </a:r>
            <a:endParaRPr lang="ru-ru" sz="2760" b="1" i="1">
              <a:solidFill>
                <a:schemeClr val="tx1"/>
              </a:solidFill>
            </a:endParaRPr>
          </a:p>
          <a:p>
            <a:pPr algn="l">
              <a:defRPr lang="ru-ru"/>
            </a:pPr>
            <a:r>
              <a:rPr lang="ru-ru" sz="2760" b="1" i="1">
                <a:solidFill>
                  <a:schemeClr val="tx1"/>
                </a:solidFill>
              </a:rPr>
              <a:t>В.В.Гербова, Развитие речи в детском саду. Издательство: Мозайка-Синтез, 2015г.</a:t>
            </a:r>
            <a:endParaRPr lang="ru-ru" sz="2760" b="1" i="1">
              <a:solidFill>
                <a:schemeClr val="tx1"/>
              </a:solidFill>
            </a:endParaRPr>
          </a:p>
          <a:p>
            <a:pPr algn="l">
              <a:defRPr lang="ru-ru"/>
            </a:pPr>
            <a:r>
              <a:rPr lang="ru-ru" sz="2760" b="1" i="1">
                <a:solidFill>
                  <a:schemeClr val="tx1"/>
                </a:solidFill>
              </a:rPr>
              <a:t>Т.С.Комарова, И.И.Комарова, А.В.Туликов.</a:t>
            </a:r>
            <a:endParaRPr lang="ru-ru" sz="2760" b="1" i="1">
              <a:solidFill>
                <a:schemeClr val="tx1"/>
              </a:solidFill>
            </a:endParaRPr>
          </a:p>
          <a:p>
            <a:pPr algn="l">
              <a:defRPr lang="ru-ru"/>
            </a:pPr>
            <a:r>
              <a:rPr lang="ru-ru" sz="2760" b="1" i="1">
                <a:solidFill>
                  <a:schemeClr val="tx1"/>
                </a:solidFill>
              </a:rPr>
              <a:t>Информационно-коммуникативные технологии в ДО.</a:t>
            </a:r>
            <a:endParaRPr lang="ru-ru" sz="2760" b="1" i="1">
              <a:solidFill>
                <a:schemeClr val="tx1"/>
              </a:solidFill>
            </a:endParaRPr>
          </a:p>
          <a:p>
            <a:pPr algn="l">
              <a:defRPr lang="ru-ru"/>
            </a:pPr>
            <a:r>
              <a:rPr lang="ru-ru" sz="2760" b="1" i="1">
                <a:solidFill>
                  <a:schemeClr val="tx1"/>
                </a:solidFill>
              </a:rPr>
              <a:t>Т.Б. Полянская.,  Использование метода мнемотехники в обучении рассказыванию детей дошкольного возраста. Издательство: Детство Пресс,2010г</a:t>
            </a:r>
            <a:endParaRPr lang="ru-ru" sz="2760" b="1" i="1">
              <a:solidFill>
                <a:schemeClr val="tx1"/>
              </a:solidFill>
            </a:endParaRPr>
          </a:p>
          <a:p>
            <a:pPr algn="l">
              <a:defRPr lang="ru-ru"/>
            </a:pPr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3" descr="img13 (1).jpg"/>
          <p:cNvPicPr>
            <a:picLocks noChangeAspect="1"/>
            <a:extLst>
              <a:ext uri="smNativeData">
                <pr:smNativeData xmlns:pr="smNativeData" val="SMDATA_18_75K7Z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PoFAAAmBQAA+jIAAOYm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836930"/>
            <a:ext cx="7315200" cy="54864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 spd="fast" p14:dur="800">
    <p:wedge/>
    <p:extLst>
      <p:ext uri="smNativeData">
        <pr:smNativeData xmlns:pr="smNativeData" val="75K7ZQAAAAAgAwAAAAAAABMAAAAAAAAAAAAAAAAAAAAAAAAAAQAAAAAAAAAAAAAAAAAAAAAAAAAAAAAA"/>
      </p:ext>
    </p:extLst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СОВРЕМЕННЫЕ ПОДХОДЫ К ОРГАНИЗАЦИИ РЕЧЕВОГО РАЗВИТИЯ ДОШКОЛЬНИКОВ В СООТВЕТСТВИИ С ТРЕБОВАНИЯМИ ФГОС ДОШКОЛЬНОГО ОБРАЗОВАНИЯ</dc:title>
  <dc:subject/>
  <dc:creator>Елена Ионова</dc:creator>
  <cp:keywords/>
  <dc:description/>
  <cp:lastModifiedBy>irina</cp:lastModifiedBy>
  <cp:revision>0</cp:revision>
  <dcterms:created xsi:type="dcterms:W3CDTF">2021-01-24T12:39:06Z</dcterms:created>
  <dcterms:modified xsi:type="dcterms:W3CDTF">2024-02-01T12:47:43Z</dcterms:modified>
</cp:coreProperties>
</file>