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9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94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2" r:id="rId34"/>
    <p:sldId id="295" r:id="rId35"/>
    <p:sldId id="293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9" d="100"/>
          <a:sy n="69" d="100"/>
        </p:scale>
        <p:origin x="-138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95321-C9BB-47E7-BC37-03B704993061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00520-B8B5-44F6-B0D7-34864D0077F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Ребята,</a:t>
            </a:r>
            <a:r>
              <a:rPr lang="ru-RU" baseline="0" dirty="0" smtClean="0"/>
              <a:t> как вы думаете, какой сегодня праздник</a:t>
            </a:r>
            <a:r>
              <a:rPr lang="en-US" baseline="0" dirty="0" smtClean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Ребята, а каких</a:t>
            </a:r>
            <a:r>
              <a:rPr lang="ru-RU" baseline="0" dirty="0" smtClean="0"/>
              <a:t> животных вы знаете? А загадки вы любите? Тогда я предлагаю отгадать вам загадки о животных.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Ловит он на завтрак рыбу.</a:t>
            </a:r>
          </a:p>
          <a:p>
            <a:endParaRPr lang="ru-RU" dirty="0" smtClean="0"/>
          </a:p>
          <a:p>
            <a:r>
              <a:rPr lang="ru-RU" dirty="0" smtClean="0"/>
              <a:t>Белоснежным он слывет</a:t>
            </a:r>
          </a:p>
          <a:p>
            <a:endParaRPr lang="ru-RU" dirty="0" smtClean="0"/>
          </a:p>
          <a:p>
            <a:r>
              <a:rPr lang="ru-RU" dirty="0" smtClean="0"/>
              <a:t>И на севере живет.</a:t>
            </a:r>
          </a:p>
          <a:p>
            <a:endParaRPr lang="ru-RU" dirty="0" smtClean="0"/>
          </a:p>
          <a:p>
            <a:r>
              <a:rPr lang="ru-RU" dirty="0" smtClean="0"/>
              <a:t>(Белый медведь).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Ребята, а вы знаете что</a:t>
            </a:r>
            <a:r>
              <a:rPr lang="ru-RU" baseline="0" dirty="0" smtClean="0"/>
              <a:t> многие животные занесены в красную книгу? Красный цвет книги – это цвет тревоги и опасности. Предупреждает нас о том, что природу нужно беречь и охранять. Иначе случится беда.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Знакомьтесь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Стремись животных защищать ,</a:t>
            </a:r>
          </a:p>
          <a:p>
            <a:r>
              <a:rPr lang="ru-RU" dirty="0" smtClean="0"/>
              <a:t>Они ведь братья наши!</a:t>
            </a:r>
          </a:p>
          <a:p>
            <a:r>
              <a:rPr lang="ru-RU" dirty="0" smtClean="0"/>
              <a:t>Стремись</a:t>
            </a:r>
            <a:r>
              <a:rPr lang="ru-RU" baseline="0" dirty="0" smtClean="0"/>
              <a:t> чуть-чуть добрее стать,</a:t>
            </a:r>
          </a:p>
          <a:p>
            <a:r>
              <a:rPr lang="ru-RU" baseline="0" dirty="0" smtClean="0"/>
              <a:t>Мир этот сделать краше!</a:t>
            </a:r>
          </a:p>
          <a:p>
            <a:r>
              <a:rPr lang="ru-RU" baseline="0" dirty="0" smtClean="0"/>
              <a:t>Их дружба крепкая верна ,</a:t>
            </a:r>
          </a:p>
          <a:p>
            <a:r>
              <a:rPr lang="ru-RU" baseline="0" dirty="0" smtClean="0"/>
              <a:t>Животные как люди,</a:t>
            </a:r>
          </a:p>
          <a:p>
            <a:r>
              <a:rPr lang="ru-RU" baseline="0" dirty="0" smtClean="0"/>
              <a:t>И нам их доброта нужна.</a:t>
            </a:r>
          </a:p>
          <a:p>
            <a:r>
              <a:rPr lang="ru-RU" baseline="0" dirty="0" smtClean="0"/>
              <a:t>Кем без добра мы будем</a:t>
            </a:r>
            <a:r>
              <a:rPr lang="en-US" baseline="0" dirty="0" smtClean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0520-B8B5-44F6-B0D7-34864D0077F7}" type="slidenum">
              <a:rPr lang="ru-RU" smtClean="0"/>
              <a:pPr/>
              <a:t>33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FF245-5680-408A-8C8F-A4750C2EF1B2}" type="datetimeFigureOut">
              <a:rPr lang="ru-RU" smtClean="0"/>
              <a:pPr/>
              <a:t>19.01.2024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56A6F-A458-4E41-8A1C-95118EBA515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andex.ru/video/preview/1736891600641953736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cdn.culture.ru/images/6eb71db3-1db6-52b8-b016-5f9d2d0a36c3"/>
          <p:cNvPicPr>
            <a:picLocks noChangeAspect="1" noChangeArrowheads="1"/>
          </p:cNvPicPr>
          <p:nvPr/>
        </p:nvPicPr>
        <p:blipFill>
          <a:blip r:embed="rId2"/>
          <a:srcRect t="4649" b="5959"/>
          <a:stretch>
            <a:fillRect/>
          </a:stretch>
        </p:blipFill>
        <p:spPr bwMode="auto">
          <a:xfrm>
            <a:off x="0" y="0"/>
            <a:ext cx="9179263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620861038_17-phonoteka_org-p-den-zashchiti-zhivotnikh-fon-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42" y="1571612"/>
            <a:ext cx="5857917" cy="507209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28794" y="0"/>
            <a:ext cx="5214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i="1" dirty="0" smtClean="0">
                <a:solidFill>
                  <a:srgbClr val="FF0000"/>
                </a:solidFill>
              </a:rPr>
              <a:t>4 октября всемирный день защиты животных</a:t>
            </a:r>
            <a:endParaRPr lang="ru-RU" sz="36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666850652_18-celes-club-p-shabloni-prezentatsii-zhivotnie-instagram-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345" y="0"/>
            <a:ext cx="9358346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286000" y="1720840"/>
            <a:ext cx="4572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С</a:t>
            </a:r>
            <a:r>
              <a:rPr lang="ru-RU" sz="2400" b="1" dirty="0" smtClean="0">
                <a:solidFill>
                  <a:srgbClr val="FF0000"/>
                </a:solidFill>
              </a:rPr>
              <a:t>егодня мы отмечаем День защиты животных.</a:t>
            </a:r>
          </a:p>
          <a:p>
            <a:endParaRPr lang="ru-RU" dirty="0" smtClean="0"/>
          </a:p>
          <a:p>
            <a:pPr algn="ct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В</a:t>
            </a:r>
            <a:r>
              <a:rPr lang="ru-RU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едь без зверей нам жить нельзя,</a:t>
            </a:r>
          </a:p>
          <a:p>
            <a:pPr algn="ctr"/>
            <a:endParaRPr lang="ru-RU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ru-RU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Они братья и друзья,</a:t>
            </a:r>
          </a:p>
          <a:p>
            <a:pPr algn="ctr"/>
            <a:endParaRPr lang="ru-RU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ru-RU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Это мы все знаем.</a:t>
            </a:r>
          </a:p>
          <a:p>
            <a:pPr algn="ctr"/>
            <a:endParaRPr lang="ru-RU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ru-RU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И с Всемирным днем зверей</a:t>
            </a:r>
          </a:p>
          <a:p>
            <a:pPr algn="ctr"/>
            <a:endParaRPr lang="ru-RU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ru-RU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Всех мы поздравляем!</a:t>
            </a:r>
            <a:endParaRPr lang="ru-RU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2976" y="1285860"/>
            <a:ext cx="72866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Ловит он на завтрак рыбу.</a:t>
            </a:r>
          </a:p>
          <a:p>
            <a:endParaRPr lang="ru-RU" sz="32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ru-RU" sz="32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Белоснежным он слывет</a:t>
            </a:r>
          </a:p>
          <a:p>
            <a:endParaRPr lang="ru-RU" sz="32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ru-RU" sz="32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И на севере живет.</a:t>
            </a:r>
          </a:p>
          <a:p>
            <a:endParaRPr lang="ru-RU" sz="32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ru-RU" sz="32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(Белый медведь).</a:t>
            </a:r>
            <a:endParaRPr lang="ru-RU" sz="32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ез названия (9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08" y="214290"/>
            <a:ext cx="4700614" cy="6438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71736" y="1285860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b="1" i="1" dirty="0" smtClean="0"/>
              <a:t>Говорят, она плутовка,</a:t>
            </a:r>
          </a:p>
          <a:p>
            <a:endParaRPr lang="ru-RU" sz="2400" b="1" i="1" dirty="0" smtClean="0"/>
          </a:p>
          <a:p>
            <a:r>
              <a:rPr lang="ru-RU" sz="2400" b="1" i="1" dirty="0" smtClean="0"/>
              <a:t>Длинный хвост, быстра сноровка,</a:t>
            </a:r>
          </a:p>
          <a:p>
            <a:endParaRPr lang="ru-RU" sz="2400" b="1" i="1" dirty="0" smtClean="0"/>
          </a:p>
          <a:p>
            <a:r>
              <a:rPr lang="ru-RU" sz="2400" b="1" i="1" dirty="0" smtClean="0"/>
              <a:t>Рыжий и пушистый мех.</a:t>
            </a:r>
          </a:p>
          <a:p>
            <a:endParaRPr lang="ru-RU" sz="2400" b="1" i="1" dirty="0" smtClean="0"/>
          </a:p>
          <a:p>
            <a:r>
              <a:rPr lang="ru-RU" sz="2400" b="1" i="1" dirty="0" smtClean="0"/>
              <a:t>Обмануть сумеет всех!</a:t>
            </a:r>
          </a:p>
          <a:p>
            <a:endParaRPr lang="ru-RU" sz="2400" b="1" i="1" dirty="0" smtClean="0"/>
          </a:p>
          <a:p>
            <a:r>
              <a:rPr lang="ru-RU" sz="2400" b="1" i="1" dirty="0" smtClean="0"/>
              <a:t>(Лиса).</a:t>
            </a:r>
            <a:endParaRPr lang="ru-RU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ba882c16effa5e7e9b14cbfee124f892--clip-art-f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50" y="214290"/>
            <a:ext cx="4410098" cy="6278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86050" y="500042"/>
            <a:ext cx="4572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b="1" dirty="0" smtClean="0"/>
              <a:t>Без расчески причесался</a:t>
            </a:r>
          </a:p>
          <a:p>
            <a:endParaRPr lang="ru-RU" sz="3200" b="1" dirty="0" smtClean="0"/>
          </a:p>
          <a:p>
            <a:r>
              <a:rPr lang="ru-RU" sz="3200" b="1" dirty="0" smtClean="0"/>
              <a:t>И умылся без воды,</a:t>
            </a:r>
          </a:p>
          <a:p>
            <a:endParaRPr lang="ru-RU" sz="3200" b="1" dirty="0" smtClean="0"/>
          </a:p>
          <a:p>
            <a:r>
              <a:rPr lang="ru-RU" sz="3200" b="1" dirty="0" smtClean="0"/>
              <a:t>В кресло мягкое забрался</a:t>
            </a:r>
          </a:p>
          <a:p>
            <a:endParaRPr lang="ru-RU" sz="3200" b="1" dirty="0" smtClean="0"/>
          </a:p>
          <a:p>
            <a:r>
              <a:rPr lang="ru-RU" sz="3200" b="1" dirty="0" smtClean="0"/>
              <a:t>И запел на все лады…</a:t>
            </a:r>
          </a:p>
          <a:p>
            <a:endParaRPr lang="ru-RU" sz="3200" b="1" dirty="0" smtClean="0"/>
          </a:p>
          <a:p>
            <a:r>
              <a:rPr lang="ru-RU" sz="3200" b="1" dirty="0" smtClean="0"/>
              <a:t>(Кот).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images (6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309722"/>
            <a:ext cx="7000924" cy="65482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57422" y="642918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600" b="1" i="1" dirty="0" smtClean="0">
                <a:solidFill>
                  <a:schemeClr val="accent2">
                    <a:lumMod val="50000"/>
                  </a:schemeClr>
                </a:solidFill>
              </a:rPr>
              <a:t>С хозяином дружит,</a:t>
            </a:r>
          </a:p>
          <a:p>
            <a:endParaRPr lang="ru-RU" sz="3600" b="1" i="1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3600" b="1" i="1" dirty="0" smtClean="0">
                <a:solidFill>
                  <a:schemeClr val="accent2">
                    <a:lumMod val="50000"/>
                  </a:schemeClr>
                </a:solidFill>
              </a:rPr>
              <a:t>Дом сторожит,</a:t>
            </a:r>
          </a:p>
          <a:p>
            <a:endParaRPr lang="ru-RU" sz="3600" b="1" i="1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3600" b="1" i="1" dirty="0" smtClean="0">
                <a:solidFill>
                  <a:schemeClr val="accent2">
                    <a:lumMod val="50000"/>
                  </a:schemeClr>
                </a:solidFill>
              </a:rPr>
              <a:t>Живет под крылечком,</a:t>
            </a:r>
          </a:p>
          <a:p>
            <a:endParaRPr lang="ru-RU" sz="3600" b="1" i="1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3600" b="1" i="1" dirty="0" smtClean="0">
                <a:solidFill>
                  <a:schemeClr val="accent2">
                    <a:lumMod val="50000"/>
                  </a:schemeClr>
                </a:solidFill>
              </a:rPr>
              <a:t>А хвост колечком.</a:t>
            </a:r>
          </a:p>
          <a:p>
            <a:endParaRPr lang="ru-RU" sz="3600" b="1" i="1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3600" b="1" i="1" dirty="0" smtClean="0">
                <a:solidFill>
                  <a:schemeClr val="accent2">
                    <a:lumMod val="50000"/>
                  </a:schemeClr>
                </a:solidFill>
              </a:rPr>
              <a:t>(Собака).</a:t>
            </a:r>
            <a:endParaRPr lang="ru-RU" sz="36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ез названия (10).jpg"/>
          <p:cNvPicPr>
            <a:picLocks noChangeAspect="1"/>
          </p:cNvPicPr>
          <p:nvPr/>
        </p:nvPicPr>
        <p:blipFill>
          <a:blip r:embed="rId2"/>
          <a:srcRect r="-2667" b="6023"/>
          <a:stretch>
            <a:fillRect/>
          </a:stretch>
        </p:blipFill>
        <p:spPr>
          <a:xfrm>
            <a:off x="2285984" y="170280"/>
            <a:ext cx="5500726" cy="668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57422" y="642918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 smtClean="0"/>
              <a:t>На ее спине уютный дом,</a:t>
            </a:r>
          </a:p>
          <a:p>
            <a:endParaRPr lang="ru-RU" sz="2800" b="1" dirty="0" smtClean="0"/>
          </a:p>
          <a:p>
            <a:r>
              <a:rPr lang="ru-RU" sz="2800" b="1" dirty="0" smtClean="0"/>
              <a:t>Домик этот служит ей щитом.</a:t>
            </a:r>
          </a:p>
          <a:p>
            <a:endParaRPr lang="ru-RU" sz="2800" b="1" dirty="0" smtClean="0"/>
          </a:p>
          <a:p>
            <a:r>
              <a:rPr lang="ru-RU" sz="2800" b="1" dirty="0" smtClean="0"/>
              <a:t>И хоть ей не страшен зной и дождь,</a:t>
            </a:r>
          </a:p>
          <a:p>
            <a:endParaRPr lang="ru-RU" sz="2800" b="1" dirty="0" smtClean="0"/>
          </a:p>
          <a:p>
            <a:r>
              <a:rPr lang="ru-RU" sz="2800" b="1" dirty="0" smtClean="0"/>
              <a:t>Медленней ее ты не найдешь.</a:t>
            </a:r>
          </a:p>
          <a:p>
            <a:endParaRPr lang="ru-RU" sz="2800" b="1" dirty="0" smtClean="0"/>
          </a:p>
          <a:p>
            <a:r>
              <a:rPr lang="ru-RU" sz="2800" b="1" dirty="0" smtClean="0"/>
              <a:t>(Черепаха).</a:t>
            </a:r>
            <a:endParaRPr lang="ru-RU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ез названия (1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42" y="357166"/>
            <a:ext cx="5929347" cy="59029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5984" y="857232"/>
            <a:ext cx="4572000" cy="443198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dirty="0" smtClean="0"/>
          </a:p>
          <a:p>
            <a:r>
              <a:rPr lang="ru-RU" sz="2400" dirty="0" smtClean="0"/>
              <a:t>Он гордо по пескам идет,</a:t>
            </a:r>
          </a:p>
          <a:p>
            <a:endParaRPr lang="ru-RU" sz="2400" dirty="0" smtClean="0"/>
          </a:p>
          <a:p>
            <a:r>
              <a:rPr lang="ru-RU" sz="2400" dirty="0" smtClean="0"/>
              <a:t>В пути не ест он и не пьет.</a:t>
            </a:r>
          </a:p>
          <a:p>
            <a:endParaRPr lang="ru-RU" sz="2400" dirty="0" smtClean="0"/>
          </a:p>
          <a:p>
            <a:r>
              <a:rPr lang="ru-RU" sz="2400" dirty="0" smtClean="0"/>
              <a:t>И, наслаждаясь небом синим,</a:t>
            </a:r>
          </a:p>
          <a:p>
            <a:endParaRPr lang="ru-RU" sz="2400" dirty="0" smtClean="0"/>
          </a:p>
          <a:p>
            <a:r>
              <a:rPr lang="ru-RU" sz="2400" dirty="0" smtClean="0"/>
              <a:t>Как будто бы корабль плывет!</a:t>
            </a:r>
          </a:p>
          <a:p>
            <a:endParaRPr lang="ru-RU" sz="2400" dirty="0" smtClean="0"/>
          </a:p>
          <a:p>
            <a:r>
              <a:rPr lang="ru-RU" sz="2400" dirty="0" smtClean="0"/>
              <a:t>На тех, кто злит его, – плюет.</a:t>
            </a:r>
          </a:p>
          <a:p>
            <a:endParaRPr lang="ru-RU" sz="2400" dirty="0" smtClean="0"/>
          </a:p>
          <a:p>
            <a:r>
              <a:rPr lang="ru-RU" sz="2400" dirty="0" smtClean="0"/>
              <a:t>(Верблюд).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ез названия (12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56" y="928670"/>
            <a:ext cx="5429281" cy="5405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57422" y="714356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b="1" dirty="0" smtClean="0"/>
              <a:t>По длинной шее всяк его </a:t>
            </a:r>
            <a:r>
              <a:rPr lang="ru-RU" sz="2400" b="1" dirty="0" err="1" smtClean="0"/>
              <a:t>узнет</a:t>
            </a:r>
            <a:r>
              <a:rPr lang="ru-RU" sz="2400" b="1" dirty="0" smtClean="0"/>
              <a:t>,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Он в жарких странах обитает,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Он в зоопарке – выше клетки,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Он травояден, любит ветки.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Похож он на подъемный кран,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И у него спокойный нрав.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(Жираф).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ез назва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46" y="0"/>
            <a:ext cx="4805390" cy="6500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03AB"/>
            </a:gs>
            <a:gs pos="21001">
              <a:srgbClr val="0819FB"/>
            </a:gs>
            <a:gs pos="35001">
              <a:srgbClr val="1A8D48"/>
            </a:gs>
            <a:gs pos="52000">
              <a:srgbClr val="FFFF00"/>
            </a:gs>
            <a:gs pos="73000">
              <a:srgbClr val="EE3F17"/>
            </a:gs>
            <a:gs pos="88000">
              <a:srgbClr val="E81766"/>
            </a:gs>
            <a:gs pos="100000">
              <a:srgbClr val="A603A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31058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hlinkClick r:id="rId3"/>
              </a:rPr>
              <a:t>https://www.yandex.ru/video/preview/17368916006419537367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</a:rPr>
              <a:t>В результате деятельности человека, многочисленные виды животных оказались на грани  исчезновения.</a:t>
            </a:r>
            <a:br>
              <a:rPr lang="ru-RU" sz="2400" b="1" dirty="0" smtClean="0">
                <a:solidFill>
                  <a:srgbClr val="FF0000"/>
                </a:solidFill>
              </a:rPr>
            </a:br>
            <a:r>
              <a:rPr lang="ru-RU" sz="2400" b="1" dirty="0" smtClean="0">
                <a:solidFill>
                  <a:srgbClr val="FF0000"/>
                </a:solidFill>
              </a:rPr>
              <a:t>Исчезающие виды животных попадают в </a:t>
            </a:r>
            <a:r>
              <a:rPr lang="ru-RU" sz="2400" b="1" dirty="0" err="1" smtClean="0">
                <a:solidFill>
                  <a:srgbClr val="FF0000"/>
                </a:solidFill>
              </a:rPr>
              <a:t>крансую</a:t>
            </a:r>
            <a:r>
              <a:rPr lang="ru-RU" sz="2400" b="1" dirty="0" smtClean="0">
                <a:solidFill>
                  <a:srgbClr val="FF0000"/>
                </a:solidFill>
              </a:rPr>
              <a:t> книгу.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cover1__w600.jpg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1052" y="1341804"/>
            <a:ext cx="4010882" cy="5327275"/>
          </a:xfrm>
        </p:spPr>
      </p:pic>
      <p:pic>
        <p:nvPicPr>
          <p:cNvPr id="6" name="Содержимое 5" descr="Без названия (13).jpg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072066" y="1342564"/>
            <a:ext cx="4071935" cy="527078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одержимое 4" descr="cover1__w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341" y="273050"/>
            <a:ext cx="4543167" cy="585311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571480"/>
            <a:ext cx="378618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smtClean="0">
                <a:solidFill>
                  <a:srgbClr val="FF0000"/>
                </a:solidFill>
              </a:rPr>
              <a:t>В России Красная книга появилась в 1978 году.</a:t>
            </a:r>
          </a:p>
          <a:p>
            <a:r>
              <a:rPr lang="ru-RU" sz="4000" b="1" dirty="0" smtClean="0">
                <a:solidFill>
                  <a:srgbClr val="FF0000"/>
                </a:solidFill>
              </a:rPr>
              <a:t>Всего в ней 259 видов животных.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666850677_12-celes-club-p-shabloni-prezentatsii-zhivotnie-instagram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14612" y="214290"/>
            <a:ext cx="378621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ЗНАКОМЬТЕСЬ</a:t>
            </a:r>
          </a:p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Животные из      </a:t>
            </a:r>
            <a:r>
              <a:rPr lang="ru-RU" sz="4000" dirty="0" smtClean="0">
                <a:solidFill>
                  <a:srgbClr val="FF0000"/>
                </a:solidFill>
              </a:rPr>
              <a:t>Красной книги</a:t>
            </a:r>
          </a:p>
          <a:p>
            <a:endParaRPr lang="ru-RU" sz="4000" dirty="0"/>
          </a:p>
          <a:p>
            <a:endParaRPr lang="ru-RU" sz="4000" dirty="0" smtClean="0"/>
          </a:p>
          <a:p>
            <a:endParaRPr lang="ru-RU" sz="4000" dirty="0"/>
          </a:p>
          <a:p>
            <a:endParaRPr lang="ru-RU" sz="4000" dirty="0" smtClean="0"/>
          </a:p>
          <a:p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3008313" cy="1162050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Уссурийский  </a:t>
            </a:r>
            <a:br>
              <a:rPr lang="ru-RU" sz="3200" dirty="0" smtClean="0">
                <a:solidFill>
                  <a:srgbClr val="FF0000"/>
                </a:solidFill>
              </a:rPr>
            </a:br>
            <a:r>
              <a:rPr lang="ru-RU" sz="3200" dirty="0" smtClean="0">
                <a:solidFill>
                  <a:srgbClr val="FF0000"/>
                </a:solidFill>
              </a:rPr>
              <a:t>(Амурский)</a:t>
            </a:r>
            <a:br>
              <a:rPr lang="ru-RU" sz="3200" dirty="0" smtClean="0">
                <a:solidFill>
                  <a:srgbClr val="FF0000"/>
                </a:solidFill>
              </a:rPr>
            </a:br>
            <a:r>
              <a:rPr lang="ru-RU" sz="3200" dirty="0" smtClean="0">
                <a:solidFill>
                  <a:srgbClr val="FF0000"/>
                </a:solidFill>
              </a:rPr>
              <a:t>тигр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Амурский тигр сохранился только на территории России, в охраняемой зоне на юге Дальнего Востока.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Амурскому тигру угрожает вырубка лесов и браконьерство.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6" name="Рисунок 5" descr="640afc52e40b906d9719cd7142bf53c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68" y="0"/>
            <a:ext cx="5020618" cy="3447725"/>
          </a:xfrm>
          <a:prstGeom prst="rect">
            <a:avLst/>
          </a:prstGeom>
        </p:spPr>
      </p:pic>
      <p:pic>
        <p:nvPicPr>
          <p:cNvPr id="8" name="Содержимое 4" descr="усурийский амурский тигр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71868" y="3857628"/>
            <a:ext cx="5214974" cy="264318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3050"/>
            <a:ext cx="3465513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Дальневосточный леопард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Находится на грани исчезновения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В России его можно встретить в Приморском крае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Это животное очень умное он никогда не нападает на человека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7" name="Содержимое 6" descr="regnum_picture_14532787846027704_big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306" y="428604"/>
            <a:ext cx="5111750" cy="45720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FF0000"/>
                </a:solidFill>
              </a:rPr>
              <a:t>Беломордый дельфин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беломордый днльфин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306" y="1500174"/>
            <a:ext cx="5111750" cy="3837869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У этого дельфина короткая голова и черные плавники. Обитает он в Балтийском и Баренцевом морях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Морж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Это животное почти </a:t>
            </a:r>
            <a:r>
              <a:rPr lang="ru-RU" sz="2400" b="1" dirty="0" err="1" smtClean="0">
                <a:solidFill>
                  <a:srgbClr val="FF0000"/>
                </a:solidFill>
              </a:rPr>
              <a:t>истрибили</a:t>
            </a:r>
            <a:r>
              <a:rPr lang="ru-RU" sz="2400" b="1" dirty="0" smtClean="0">
                <a:solidFill>
                  <a:srgbClr val="FF0000"/>
                </a:solidFill>
              </a:rPr>
              <a:t> к середине 20 века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Моржи проживают в холодных водах северных  морей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Кроме людей, врагами моржа являются белые медведи и </a:t>
            </a:r>
            <a:r>
              <a:rPr lang="ru-RU" sz="2400" b="1" dirty="0" err="1" smtClean="0">
                <a:solidFill>
                  <a:srgbClr val="FF0000"/>
                </a:solidFill>
              </a:rPr>
              <a:t>косатки</a:t>
            </a:r>
            <a:r>
              <a:rPr lang="ru-RU" sz="2400" b="1" dirty="0" smtClean="0">
                <a:solidFill>
                  <a:srgbClr val="FF0000"/>
                </a:solidFill>
              </a:rPr>
              <a:t> (киты)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7" name="Содержимое 6" descr="Noaa-walrus2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9049" y="857232"/>
            <a:ext cx="5048287" cy="50006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Снежный барс</a:t>
            </a:r>
            <a:br>
              <a:rPr lang="ru-RU" sz="3600" dirty="0" smtClean="0">
                <a:solidFill>
                  <a:srgbClr val="FF0000"/>
                </a:solidFill>
              </a:rPr>
            </a:br>
            <a:r>
              <a:rPr lang="ru-RU" sz="3600" dirty="0" smtClean="0">
                <a:solidFill>
                  <a:srgbClr val="FF0000"/>
                </a:solidFill>
              </a:rPr>
              <a:t>(Ирбис)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снежный бас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9058" y="785794"/>
            <a:ext cx="5000660" cy="500066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Снежный барс –животное высокогорное и обитает в труднодоступных снежных массивах Центральной Азии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Охота людей на снежных барсов привела к резкому сокращению их  численности 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Всего в мире насчитывается около 6,5 тысяч Ирбисов.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Пятнистый олень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пятнистый олень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4810" y="214290"/>
            <a:ext cx="4071966" cy="3074037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Изящное, красивое животное является символом природы и находится на грани вымирания.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Это связано с активным истреблением оленей из за вкусного мяса и красивой кожи, а так же из за уникальных рогов, обладающими особыми лекарственными свойствами.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6" name="Рисунок 5" descr="пятнистый олень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68" y="3357562"/>
            <a:ext cx="5572132" cy="35004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FF0000"/>
                </a:solidFill>
              </a:rPr>
              <a:t>Белый медведь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Без названия (7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868" y="1428736"/>
            <a:ext cx="5402716" cy="3785417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Занимает вторую строчку среди самых крупных сухопутных хищников.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В </a:t>
            </a:r>
            <a:r>
              <a:rPr lang="ru-RU" sz="2400" b="1" dirty="0">
                <a:solidFill>
                  <a:srgbClr val="FF0000"/>
                </a:solidFill>
              </a:rPr>
              <a:t>Р</a:t>
            </a:r>
            <a:r>
              <a:rPr lang="ru-RU" sz="2400" b="1" dirty="0" smtClean="0">
                <a:solidFill>
                  <a:srgbClr val="FF0000"/>
                </a:solidFill>
              </a:rPr>
              <a:t>оссии </a:t>
            </a:r>
            <a:r>
              <a:rPr lang="ru-RU" sz="2400" b="1" dirty="0">
                <a:solidFill>
                  <a:srgbClr val="FF0000"/>
                </a:solidFill>
              </a:rPr>
              <a:t>б</a:t>
            </a:r>
            <a:r>
              <a:rPr lang="ru-RU" sz="2400" b="1" dirty="0" smtClean="0">
                <a:solidFill>
                  <a:srgbClr val="FF0000"/>
                </a:solidFill>
              </a:rPr>
              <a:t>елые медведи  обитают по берегам Берингова и Чукотского  моря.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Питаются они морскими млекопитающими.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Ведут одинокий образ жизни.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FF0000"/>
                </a:solidFill>
              </a:rPr>
              <a:t>Алтайский горный баран (Аргали)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Этот самый крупный баран на планете предпочитает горные районы Юго-Восточного Алтая и Юго-Западной части Тывы. Этих животных истребляли в основном из за очень ценных рогов, которые используются в китайской народной медицине.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7" name="Содержимое 6" descr="Muflon-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868" y="928670"/>
            <a:ext cx="5111750" cy="421484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Содержимое 5" descr="красный или горный волк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1580" y="1071546"/>
            <a:ext cx="5310701" cy="4214842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В России этот вид волков встречается на Дальнем Востоке.</a:t>
            </a: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У него </a:t>
            </a:r>
            <a:r>
              <a:rPr lang="ru-RU" sz="2400" b="1" dirty="0" err="1" smtClean="0">
                <a:solidFill>
                  <a:srgbClr val="FF0000"/>
                </a:solidFill>
              </a:rPr>
              <a:t>красиввая</a:t>
            </a:r>
            <a:r>
              <a:rPr lang="ru-RU" sz="2400" b="1" dirty="0" smtClean="0">
                <a:solidFill>
                  <a:srgbClr val="FF0000"/>
                </a:solidFill>
              </a:rPr>
              <a:t> шерсть, ярко-рыжего оттенка как у лисы, с темным кончиком хвоста, поэтому они подвергались  массовому истреблению и находятся на грани исчезновения.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Красный или горный волк</a:t>
            </a:r>
            <a:endParaRPr lang="ru-RU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3050"/>
            <a:ext cx="3465513" cy="11620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Дальневосточная черепаха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Без названия (8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306" y="1071546"/>
            <a:ext cx="5254198" cy="4143404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2400" b="1" dirty="0" smtClean="0">
                <a:solidFill>
                  <a:srgbClr val="FF0000"/>
                </a:solidFill>
              </a:rPr>
              <a:t>Это пресноводная черепаха.</a:t>
            </a:r>
          </a:p>
          <a:p>
            <a:r>
              <a:rPr lang="ru-RU" sz="2400" b="1" dirty="0" smtClean="0">
                <a:solidFill>
                  <a:srgbClr val="FF0000"/>
                </a:solidFill>
              </a:rPr>
              <a:t>В России она обитает на юге Дальнего Востока.</a:t>
            </a:r>
          </a:p>
          <a:p>
            <a:r>
              <a:rPr lang="ru-RU" sz="2400" b="1" dirty="0" smtClean="0">
                <a:solidFill>
                  <a:srgbClr val="FF0000"/>
                </a:solidFill>
              </a:rPr>
              <a:t>Большую часть времени черепаха проводит в воде, хорошо плавает, ныряет и может подолгу оставаться под водой.</a:t>
            </a:r>
          </a:p>
          <a:p>
            <a:endParaRPr lang="ru-RU" sz="2400" b="1" dirty="0" smtClean="0">
              <a:solidFill>
                <a:srgbClr val="FF0000"/>
              </a:solidFill>
            </a:endParaRPr>
          </a:p>
          <a:p>
            <a:r>
              <a:rPr lang="ru-RU" sz="2400" b="1" dirty="0" smtClean="0">
                <a:solidFill>
                  <a:srgbClr val="FF0000"/>
                </a:solidFill>
              </a:rPr>
              <a:t>У этой черепахи мягкий панцирь, поэтому она является легкой добычей для разных хищников.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>Манул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5" name="Содержимое 4" descr="манул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868" y="214290"/>
            <a:ext cx="5111750" cy="3354586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Самая маленькая дикая кошка в России, которая обитает в Красноярском крае, на Алтае, в </a:t>
            </a:r>
            <a:r>
              <a:rPr lang="ru-RU" sz="2400" b="1" dirty="0" err="1" smtClean="0">
                <a:solidFill>
                  <a:srgbClr val="FF0000"/>
                </a:solidFill>
              </a:rPr>
              <a:t>Забайкале</a:t>
            </a:r>
            <a:r>
              <a:rPr lang="ru-RU" sz="2400" b="1" dirty="0" smtClean="0">
                <a:solidFill>
                  <a:srgbClr val="FF0000"/>
                </a:solidFill>
              </a:rPr>
              <a:t> и </a:t>
            </a:r>
            <a:r>
              <a:rPr lang="ru-RU" sz="2400" b="1" dirty="0" err="1" smtClean="0">
                <a:solidFill>
                  <a:srgbClr val="FF0000"/>
                </a:solidFill>
              </a:rPr>
              <a:t>туве</a:t>
            </a:r>
            <a:endParaRPr lang="ru-RU" sz="2400" b="1" dirty="0" smtClean="0">
              <a:solidFill>
                <a:srgbClr val="FF0000"/>
              </a:solidFill>
            </a:endParaRPr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Из за пушистого и густого меха на манула охотятся браконьеры.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pic>
        <p:nvPicPr>
          <p:cNvPr id="6" name="Рисунок 5" descr="манул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58" y="3643314"/>
            <a:ext cx="4500594" cy="30003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598301641_autumn-t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00364" y="571480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 smtClean="0"/>
              <a:t>Стремись животных защищать ,</a:t>
            </a:r>
          </a:p>
          <a:p>
            <a:r>
              <a:rPr lang="ru-RU" sz="2800" dirty="0" smtClean="0"/>
              <a:t>Они ведь братья наши!</a:t>
            </a:r>
          </a:p>
          <a:p>
            <a:r>
              <a:rPr lang="ru-RU" sz="2800" dirty="0" smtClean="0"/>
              <a:t>Стремись чуть-чуть добрее стать,</a:t>
            </a:r>
          </a:p>
          <a:p>
            <a:r>
              <a:rPr lang="ru-RU" sz="2800" dirty="0" smtClean="0"/>
              <a:t>Мир этот сделать краше!</a:t>
            </a:r>
          </a:p>
          <a:p>
            <a:r>
              <a:rPr lang="ru-RU" sz="2800" dirty="0" smtClean="0"/>
              <a:t>Их дружба крепкая верна ,</a:t>
            </a:r>
          </a:p>
          <a:p>
            <a:r>
              <a:rPr lang="ru-RU" sz="2800" dirty="0" smtClean="0"/>
              <a:t>Животные как люди,</a:t>
            </a:r>
          </a:p>
          <a:p>
            <a:r>
              <a:rPr lang="ru-RU" sz="2800" dirty="0" smtClean="0"/>
              <a:t>И нам их доброта нужна.</a:t>
            </a:r>
          </a:p>
          <a:p>
            <a:r>
              <a:rPr lang="ru-RU" sz="2800" dirty="0" smtClean="0"/>
              <a:t>Кем без добра мы будем</a:t>
            </a:r>
            <a:r>
              <a:rPr lang="en-US" sz="2800" dirty="0" smtClean="0"/>
              <a:t>?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99FF"/>
            </a:gs>
            <a:gs pos="16000">
              <a:srgbClr val="00CCCC"/>
            </a:gs>
            <a:gs pos="47000">
              <a:srgbClr val="9999FF"/>
            </a:gs>
            <a:gs pos="60001">
              <a:srgbClr val="2E6792"/>
            </a:gs>
            <a:gs pos="71001">
              <a:srgbClr val="3333CC"/>
            </a:gs>
            <a:gs pos="81000">
              <a:srgbClr val="1170FF"/>
            </a:gs>
            <a:gs pos="100000">
              <a:srgbClr val="00669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https://www.youtube.com/watch?v=gPCZH7d3KsE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0a0128cd9b12ebb752bbdf5f5e9458b0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536" y="0"/>
            <a:ext cx="992988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817</Words>
  <Application>Microsoft Office PowerPoint</Application>
  <PresentationFormat>Экран (4:3)</PresentationFormat>
  <Paragraphs>165</Paragraphs>
  <Slides>35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6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В результате деятельности человека, многочисленные виды животных оказались на грани  исчезновения. Исчезающие виды животных попадают в крансую книгу.</vt:lpstr>
      <vt:lpstr>Слайд 20</vt:lpstr>
      <vt:lpstr>Слайд 21</vt:lpstr>
      <vt:lpstr>Уссурийский   (Амурский) тигр</vt:lpstr>
      <vt:lpstr>Дальневосточный леопард</vt:lpstr>
      <vt:lpstr>Беломордый дельфин</vt:lpstr>
      <vt:lpstr>Морж</vt:lpstr>
      <vt:lpstr>Снежный барс (Ирбис)</vt:lpstr>
      <vt:lpstr>Пятнистый олень</vt:lpstr>
      <vt:lpstr>Белый медведь</vt:lpstr>
      <vt:lpstr>Алтайский горный баран (Аргали)</vt:lpstr>
      <vt:lpstr>Красный или горный волк</vt:lpstr>
      <vt:lpstr>Дальневосточная черепаха</vt:lpstr>
      <vt:lpstr>Манул</vt:lpstr>
      <vt:lpstr>Слайд 33</vt:lpstr>
      <vt:lpstr>Слайд 34</vt:lpstr>
      <vt:lpstr>Слайд 35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Acer</dc:creator>
  <cp:lastModifiedBy>Acer</cp:lastModifiedBy>
  <cp:revision>48</cp:revision>
  <dcterms:created xsi:type="dcterms:W3CDTF">2023-09-08T21:43:01Z</dcterms:created>
  <dcterms:modified xsi:type="dcterms:W3CDTF">2024-01-19T10:03:33Z</dcterms:modified>
</cp:coreProperties>
</file>