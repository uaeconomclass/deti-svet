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72" r:id="rId4"/>
    <p:sldId id="258" r:id="rId5"/>
    <p:sldId id="273" r:id="rId6"/>
    <p:sldId id="259" r:id="rId7"/>
    <p:sldId id="274" r:id="rId8"/>
    <p:sldId id="260" r:id="rId9"/>
    <p:sldId id="269" r:id="rId10"/>
    <p:sldId id="261" r:id="rId11"/>
    <p:sldId id="262" r:id="rId12"/>
    <p:sldId id="268" r:id="rId13"/>
    <p:sldId id="263" r:id="rId14"/>
    <p:sldId id="264" r:id="rId15"/>
    <p:sldId id="270" r:id="rId16"/>
    <p:sldId id="265" r:id="rId17"/>
    <p:sldId id="271" r:id="rId18"/>
    <p:sldId id="266" r:id="rId19"/>
    <p:sldId id="267" r:id="rId20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0" d="100"/>
          <a:sy n="40" d="100"/>
        </p:scale>
        <p:origin x="-1368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Скругленный прямоугольник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28" name="Дата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15.09.2021</a:t>
            </a:fld>
            <a:endParaRPr lang="ru-RU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9" name="Номер слайда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Прямоугольник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Прямоугольник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15.09.2021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Содержимое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Скругленный прямоугольник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15.09.2021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Прямоугольник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Прямоугольник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15.09.2021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9" name="Содержимое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1" name="Содержимое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15.09.2021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1" name="Содержимое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3" name="Содержимое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15.09.2021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15.09.2021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Скругленный прямоугольник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15.09.2021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1" name="Содержимое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15.09.2021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1" name="Прямоугольник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Прямоугольник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Прямоугольник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15.09.2021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15.09.2021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Скругленный прямоугольник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15.09.2021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295400" y="3861048"/>
            <a:ext cx="6400800" cy="1872208"/>
          </a:xfrm>
        </p:spPr>
        <p:txBody>
          <a:bodyPr>
            <a:normAutofit lnSpcReduction="10000"/>
          </a:bodyPr>
          <a:lstStyle/>
          <a:p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МКДОУ № 233</a:t>
            </a:r>
          </a:p>
          <a:p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Группа «Почемучки»</a:t>
            </a:r>
          </a:p>
          <a:p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Фещенко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Н.С.</a:t>
            </a:r>
          </a:p>
          <a:p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2021 год</a:t>
            </a:r>
          </a:p>
          <a:p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563030"/>
          </a:xfrm>
        </p:spPr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Мнемотехника в развитии </a:t>
            </a:r>
            <a:br>
              <a:rPr lang="ru-RU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связной речи у дошкольников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570186"/>
          </a:xfrm>
        </p:spPr>
        <p:txBody>
          <a:bodyPr>
            <a:noAutofit/>
          </a:bodyPr>
          <a:lstStyle/>
          <a:p>
            <a:pPr algn="ctr"/>
            <a:r>
              <a:rPr lang="ru-RU" sz="3200" b="1" dirty="0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Перемены последних лет </a:t>
            </a:r>
            <a:br>
              <a:rPr lang="ru-RU" sz="3200" b="1" dirty="0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ru-RU" sz="3200" b="1" dirty="0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показали несостоятельность</a:t>
            </a:r>
            <a:br>
              <a:rPr lang="ru-RU" sz="3200" b="1" dirty="0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ru-RU" sz="3200" b="1" dirty="0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«стандартной» личности.</a:t>
            </a:r>
            <a:endParaRPr lang="ru-RU" sz="3200" b="1" dirty="0">
              <a:solidFill>
                <a:schemeClr val="accent1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914400" y="1916832"/>
            <a:ext cx="7772400" cy="4102968"/>
          </a:xfrm>
        </p:spPr>
        <p:txBody>
          <a:bodyPr>
            <a:normAutofit/>
          </a:bodyPr>
          <a:lstStyle/>
          <a:p>
            <a:r>
              <a:rPr lang="ru-RU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Сегодня нужны люди интеллектуально смелые, самостоятельные, оригинально мыслящие, творческие, умеющие анализировать, делать умозаключения, принимать нестандартные решения и не бояться этого. Использование новых методик и технологий в обучении детей позволяет сделать обучение развивающим уже в детском саду. Одна из основных задач речевых занятий – обучение детей связной речи, т. е. умению четко, последовательно излагать свои мысли.</a:t>
            </a:r>
            <a:endParaRPr lang="ru-RU" dirty="0">
              <a:solidFill>
                <a:schemeClr val="accent1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Сказка «Колобок»</a:t>
            </a:r>
            <a:endParaRPr lang="ru-RU" b="1" dirty="0">
              <a:solidFill>
                <a:schemeClr val="accent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sz="quarter" idx="1"/>
          </p:nvPr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536744"/>
            <a:ext cx="7772400" cy="4394112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/>
            </a:r>
            <a:br>
              <a:rPr lang="ru-RU" dirty="0" smtClean="0"/>
            </a:br>
            <a:r>
              <a:rPr lang="ru-RU" sz="3600" b="1" dirty="0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Здесь мы столкнулись с проблемами </a:t>
            </a:r>
            <a:br>
              <a:rPr lang="ru-RU" sz="3600" b="1" dirty="0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ru-RU" sz="3600" b="1" dirty="0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речи детей дошкольного возраста:</a:t>
            </a:r>
            <a:endParaRPr lang="ru-RU" sz="3600" b="1" dirty="0">
              <a:solidFill>
                <a:schemeClr val="accent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Односложная, состоящая лишь из простых предложений речь.</a:t>
            </a:r>
          </a:p>
          <a:p>
            <a:r>
              <a:rPr lang="ru-RU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Бедность речи. Недостаточный словарный запас.</a:t>
            </a:r>
          </a:p>
          <a:p>
            <a:r>
              <a:rPr lang="ru-RU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Употребление нелитературных слов и выражений.</a:t>
            </a:r>
          </a:p>
          <a:p>
            <a:r>
              <a:rPr lang="ru-RU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Бедная диалогическая речь.</a:t>
            </a:r>
          </a:p>
          <a:p>
            <a:r>
              <a:rPr lang="ru-RU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Неспособность построить монолог.</a:t>
            </a:r>
          </a:p>
          <a:p>
            <a:r>
              <a:rPr lang="ru-RU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Отсутствие логического обоснования своих утверждений и выводов.</a:t>
            </a:r>
          </a:p>
          <a:p>
            <a:r>
              <a:rPr lang="ru-RU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Отсутствие навыков культуры речи</a:t>
            </a:r>
          </a:p>
          <a:p>
            <a:r>
              <a:rPr lang="ru-RU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Плохая дикция.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Грибочек.</a:t>
            </a:r>
            <a:endParaRPr lang="ru-RU" b="1" dirty="0">
              <a:solidFill>
                <a:schemeClr val="accent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sz="quarter" idx="1"/>
          </p:nvPr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1556792"/>
            <a:ext cx="7340365" cy="4968552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914400" y="620688"/>
            <a:ext cx="7772400" cy="5399112"/>
          </a:xfrm>
        </p:spPr>
        <p:txBody>
          <a:bodyPr>
            <a:normAutofit fontScale="92500" lnSpcReduction="10000"/>
          </a:bodyPr>
          <a:lstStyle/>
          <a:p>
            <a:r>
              <a:rPr lang="ru-RU" b="1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В исследованиях психологов обнаружено, что развитие речи идет намного активнее, если задействовано образное мышление, воображение, развита способность ребенка к замещению и наглядному моделированию, использованию речевых умений и навыков при решении разнообразных умственных задач. Способность к замещению является фундаментальной особенностью человеческого ума. Дошкольный возраст наиболее благоприятен для закладывания основ грамотной, четкой, красивой речи, что является важным условием умственного воспитания ребенка. Ребенок должен научиться выделять самое главное в повествовании, последовательно излагать основные действия и события.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Расскажи о животном.</a:t>
            </a:r>
            <a:endParaRPr lang="ru-RU" b="1" dirty="0">
              <a:solidFill>
                <a:schemeClr val="accent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Содержимое 3" descr="ÐÐ°ÑÑÐ¸Ð½ÐºÐ¸ Ð¿Ð¾ Ð·Ð°Ð¿ÑÐ¾ÑÑ Ð¼Ð½ÐµÐ¼Ð¾ÑÐ°Ð±Ð»Ð¸ÑÑ Ð² Ð´ÐµÑÑÐºÐ¾Ð¼ ÑÐ°Ð´Ñ"/>
          <p:cNvPicPr>
            <a:picLocks noGrp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7625" y="1447800"/>
            <a:ext cx="6801816" cy="5149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2650306"/>
          </a:xfrm>
        </p:spPr>
        <p:txBody>
          <a:bodyPr>
            <a:noAutofit/>
          </a:bodyPr>
          <a:lstStyle/>
          <a:p>
            <a:pPr algn="ctr"/>
            <a:r>
              <a:rPr lang="ru-RU" sz="3200" b="1" dirty="0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К. Д.</a:t>
            </a:r>
            <a:r>
              <a:rPr lang="ru-RU" sz="3200" b="1" u="sng" dirty="0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Ушинский писал</a:t>
            </a:r>
            <a:r>
              <a:rPr lang="ru-RU" sz="3200" b="1" dirty="0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: «Учите ребенка каким-нибудь неизвестным ему словам – он будет долго и напрасно мучиться, </a:t>
            </a:r>
            <a:br>
              <a:rPr lang="ru-RU" sz="3200" b="1" dirty="0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ru-RU" sz="3200" b="1" dirty="0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но свяжите двадцать таких слов с картинками, и он усвоит на лету».</a:t>
            </a:r>
            <a:endParaRPr lang="ru-RU" sz="3200" b="1" dirty="0">
              <a:solidFill>
                <a:schemeClr val="accent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914400" y="3284984"/>
            <a:ext cx="7772400" cy="2734816"/>
          </a:xfrm>
        </p:spPr>
        <p:txBody>
          <a:bodyPr>
            <a:normAutofit fontScale="85000" lnSpcReduction="20000"/>
          </a:bodyPr>
          <a:lstStyle/>
          <a:p>
            <a:r>
              <a:rPr lang="ru-RU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Использование мнемотехники для дошкольников сегодня становится все более актуальным. Мнемотехника, или мнемоника, в переводе с греческого – «искусство запоминания». Мнемотехника – это система методов и приемов, обеспечивающих эффективное запоминание, сохранение и воспроизведение информации. Мнемотехника – помогает развивать: ассоциативное мышление зрительную и слуховую память, </a:t>
            </a:r>
            <a:r>
              <a:rPr lang="ru-RU" dirty="0" err="1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воображение,связную</a:t>
            </a:r>
            <a:r>
              <a:rPr lang="ru-RU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речь, мелкую моторику рук.</a:t>
            </a:r>
            <a:endParaRPr lang="ru-RU" dirty="0">
              <a:solidFill>
                <a:schemeClr val="accent1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 err="1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Мнемотаблицы</a:t>
            </a:r>
            <a:r>
              <a:rPr lang="ru-RU" b="1" dirty="0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ru-RU" b="1" dirty="0">
              <a:solidFill>
                <a:schemeClr val="accent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Содержимое 4" descr="ÐÐ¾ÑÐ¾Ð¶ÐµÐµ Ð¸Ð·Ð¾Ð±ÑÐ°Ð¶ÐµÐ½Ð¸Ðµ"/>
          <p:cNvPicPr>
            <a:picLocks noGrp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1484784"/>
            <a:ext cx="4268539" cy="49685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Содержимое 5" descr="ÐÐ¾ÑÐ¾Ð¶ÐµÐµ Ð¸Ð·Ð¾Ð±ÑÐ°Ð¶ÐµÐ½Ð¸Ðµ"/>
          <p:cNvPicPr>
            <a:picLocks noGrp="1"/>
          </p:cNvPicPr>
          <p:nvPr>
            <p:ph sz="quarter" idx="2"/>
          </p:nvPr>
        </p:nvPicPr>
        <p:blipFill>
          <a:blip r:embed="rId3" cstate="print">
            <a:lum/>
          </a:blip>
          <a:srcRect/>
          <a:stretch>
            <a:fillRect/>
          </a:stretch>
        </p:blipFill>
        <p:spPr bwMode="auto">
          <a:xfrm>
            <a:off x="4644008" y="1556792"/>
            <a:ext cx="4039617" cy="48245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498178"/>
          </a:xfrm>
        </p:spPr>
        <p:txBody>
          <a:bodyPr>
            <a:noAutofit/>
          </a:bodyPr>
          <a:lstStyle/>
          <a:p>
            <a:pPr algn="ctr"/>
            <a:r>
              <a:rPr lang="ru-RU" sz="3200" b="1" dirty="0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Последовательность работы с </a:t>
            </a:r>
            <a:r>
              <a:rPr lang="ru-RU" sz="3200" b="1" dirty="0" err="1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мнемотаблицами</a:t>
            </a:r>
            <a:r>
              <a:rPr lang="ru-RU" sz="3200" b="1" dirty="0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 состоит </a:t>
            </a:r>
            <a:br>
              <a:rPr lang="ru-RU" sz="3200" b="1" dirty="0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ru-RU" sz="3200" b="1" dirty="0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из трех этапов.</a:t>
            </a:r>
            <a:endParaRPr lang="ru-RU" sz="3200" b="1" dirty="0">
              <a:solidFill>
                <a:schemeClr val="accent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914400" y="1844824"/>
            <a:ext cx="7772400" cy="4174976"/>
          </a:xfrm>
        </p:spPr>
        <p:txBody>
          <a:bodyPr>
            <a:normAutofit lnSpcReduction="10000"/>
          </a:bodyPr>
          <a:lstStyle/>
          <a:p>
            <a:r>
              <a:rPr lang="ru-RU" u="sng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1 этап</a:t>
            </a:r>
            <a:r>
              <a:rPr lang="ru-RU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: Рассматривание таблицы и разбор того, что на ней изображено.</a:t>
            </a:r>
          </a:p>
          <a:p>
            <a:r>
              <a:rPr lang="ru-RU" u="sng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2 этап</a:t>
            </a:r>
            <a:r>
              <a:rPr lang="ru-RU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: Осуществляется перекодирование информации, т. е. преобразование из абстрактных символов слов в образы.</a:t>
            </a:r>
          </a:p>
          <a:p>
            <a:r>
              <a:rPr lang="ru-RU" u="sng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3 этап</a:t>
            </a:r>
            <a:r>
              <a:rPr lang="ru-RU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: После перекодирования осуществляется пересказ сказки, рассказа по заданной теме или чтение стихотворения с опорой на символы (образы, т. е. происходит отработка метода запоминания.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b="1" dirty="0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Мнемосхемы можно использовать</a:t>
            </a:r>
            <a:r>
              <a:rPr lang="ru-RU" dirty="0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endParaRPr lang="ru-RU" dirty="0">
              <a:solidFill>
                <a:schemeClr val="accent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ru-RU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Для обогащения словарного запаса;</a:t>
            </a:r>
          </a:p>
          <a:p>
            <a:r>
              <a:rPr lang="ru-RU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При обучении составлению рассказов;</a:t>
            </a:r>
          </a:p>
          <a:p>
            <a:r>
              <a:rPr lang="ru-RU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При пересказах художественной литературы;</a:t>
            </a:r>
          </a:p>
          <a:p>
            <a:r>
              <a:rPr lang="ru-RU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При отгадывании и загадывании загадок;</a:t>
            </a:r>
          </a:p>
          <a:p>
            <a:r>
              <a:rPr lang="ru-RU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При заучивании стихов.</a:t>
            </a:r>
            <a:endParaRPr lang="ru-RU" dirty="0">
              <a:solidFill>
                <a:schemeClr val="accent1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Содержимое 3" descr="mnemo15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39752" y="3933056"/>
            <a:ext cx="3348608" cy="251145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Загадки.</a:t>
            </a:r>
            <a:endParaRPr lang="ru-RU" b="1" dirty="0">
              <a:solidFill>
                <a:schemeClr val="accent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" name="Содержимое 7" descr="ÐÐ¾ÑÐ¾Ð¶ÐµÐµ Ð¸Ð·Ð¾Ð±ÑÐ°Ð¶ÐµÐ½Ð¸Ðµ"/>
          <p:cNvPicPr>
            <a:picLocks noGrp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5617" y="1447800"/>
            <a:ext cx="6956540" cy="5005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 err="1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Мнемотаблицы</a:t>
            </a:r>
            <a:r>
              <a:rPr lang="ru-RU" b="1" dirty="0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 сказка.</a:t>
            </a:r>
            <a:endParaRPr lang="ru-RU" b="1" dirty="0">
              <a:solidFill>
                <a:schemeClr val="accent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ru-RU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Сказка играет особую роль в жизни ребенка, дети сопереживают героям, разделяют их чувства, поэтому в работе с детьми используют </a:t>
            </a:r>
            <a:r>
              <a:rPr lang="ru-RU" dirty="0" err="1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мнемотаблицы</a:t>
            </a:r>
            <a:r>
              <a:rPr lang="ru-RU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по сказкам. </a:t>
            </a:r>
          </a:p>
          <a:p>
            <a:r>
              <a:rPr lang="ru-RU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Для детей младшего и среднего дошкольного возраста необходимо давать цветные </a:t>
            </a:r>
            <a:r>
              <a:rPr lang="ru-RU" dirty="0" err="1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мнемотаблицы</a:t>
            </a:r>
            <a:r>
              <a:rPr lang="ru-RU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u="sng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т</a:t>
            </a:r>
            <a:r>
              <a:rPr lang="ru-RU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ак как в памяти у детей быстрее остаются отдельные образы: лиса- рыжая, мышка- серая, ёлочка- зелёная.</a:t>
            </a:r>
            <a:endParaRPr lang="ru-RU" dirty="0">
              <a:solidFill>
                <a:schemeClr val="accent1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914400" y="404664"/>
            <a:ext cx="7772400" cy="5615136"/>
          </a:xfrm>
        </p:spPr>
        <p:txBody>
          <a:bodyPr/>
          <a:lstStyle/>
          <a:p>
            <a:r>
              <a:rPr lang="ru-RU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Для детей старшего возраста схемы желательно рисовать в одном цвете, чтобы не привлекать внимание на яркость символических изображений.</a:t>
            </a:r>
          </a:p>
          <a:p>
            <a:r>
              <a:rPr lang="ru-RU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Это дает возможность разнообразить занятия, на которых решаются задачи обучения связной монологической речи.</a:t>
            </a:r>
          </a:p>
          <a:p>
            <a:endParaRPr lang="ru-RU" dirty="0"/>
          </a:p>
        </p:txBody>
      </p:sp>
      <p:pic>
        <p:nvPicPr>
          <p:cNvPr id="4" name="Содержимое 3" descr="ÐÐ°ÑÑÐ¸Ð½ÐºÐ¸ Ð¿Ð¾ Ð·Ð°Ð¿ÑÐ¾ÑÑ Ð¼Ð½ÐµÐ¼Ð¾ÑÐ°Ð±Ð»Ð¸ÑÑ Ð·Ð°Ð³Ð°Ð´ÐºÐ¸"/>
          <p:cNvPicPr>
            <a:picLocks/>
          </p:cNvPicPr>
          <p:nvPr/>
        </p:nvPicPr>
        <p:blipFill>
          <a:blip r:embed="rId2" cstate="print">
            <a:lum contrast="20000"/>
          </a:blip>
          <a:srcRect l="5860" t="9524" r="2019"/>
          <a:stretch>
            <a:fillRect/>
          </a:stretch>
        </p:blipFill>
        <p:spPr bwMode="auto">
          <a:xfrm>
            <a:off x="2051720" y="2996952"/>
            <a:ext cx="4968553" cy="3528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Жил был грибочек.</a:t>
            </a:r>
            <a:endParaRPr lang="ru-RU" b="1" dirty="0">
              <a:solidFill>
                <a:schemeClr val="accent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Содержимое 5" descr="ÐÐ¾ÑÐ¾Ð¶ÐµÐµ Ð¸Ð·Ð¾Ð±ÑÐ°Ð¶ÐµÐ½Ð¸Ðµ"/>
          <p:cNvPicPr>
            <a:picLocks noGrp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592" y="1484784"/>
            <a:ext cx="7704855" cy="48965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2002234"/>
          </a:xfrm>
        </p:spPr>
        <p:txBody>
          <a:bodyPr>
            <a:noAutofit/>
          </a:bodyPr>
          <a:lstStyle/>
          <a:p>
            <a:pPr algn="ctr"/>
            <a:r>
              <a:rPr lang="ru-RU" sz="3200" b="1" dirty="0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3200" b="1" dirty="0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ru-RU" sz="3200" b="1" dirty="0" err="1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Мнемотаблицы</a:t>
            </a:r>
            <a:r>
              <a:rPr lang="ru-RU" sz="3200" b="1" dirty="0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 по временам года используются при ознакомлении с характерными особенностями </a:t>
            </a:r>
            <a:br>
              <a:rPr lang="ru-RU" sz="3200" b="1" dirty="0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ru-RU" sz="3200" b="1" dirty="0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времен года.</a:t>
            </a:r>
            <a:endParaRPr lang="ru-RU" sz="3200" b="1" dirty="0">
              <a:solidFill>
                <a:schemeClr val="accent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914400" y="2348880"/>
            <a:ext cx="7772400" cy="4176464"/>
          </a:xfrm>
        </p:spPr>
        <p:txBody>
          <a:bodyPr>
            <a:normAutofit/>
          </a:bodyPr>
          <a:lstStyle/>
          <a:p>
            <a:r>
              <a:rPr lang="ru-RU" sz="2000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Метод мнемотехники помогает научить детей составлять описательные рассказы о предметах, объектах или явлениях природы, устанавливать взаимосвязи. </a:t>
            </a:r>
            <a:r>
              <a:rPr lang="ru-RU" sz="2000" dirty="0" err="1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Мнемотаблицы</a:t>
            </a:r>
            <a:r>
              <a:rPr lang="ru-RU" sz="2000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 по стихотворениям облегчают и ускоряют процесс запоминания и усвоения текстов, формируют приемы работы с памятью. Дети легко вспоминают картинку, а потом припоминают слова. </a:t>
            </a:r>
            <a:r>
              <a:rPr lang="ru-RU" sz="2000" dirty="0" err="1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Мнемотаблицы</a:t>
            </a:r>
            <a:r>
              <a:rPr lang="ru-RU" sz="2000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 по загадкам легко позволяют детям отгадывать и самим загадывать и составлять загадки, опираясь на наглядно-образное мышление. Дети старшего дошкольного возраста способны придумывать свои схемы-модели и </a:t>
            </a:r>
            <a:r>
              <a:rPr lang="ru-RU" sz="2000" dirty="0" err="1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мнемотаблицы</a:t>
            </a:r>
            <a:r>
              <a:rPr lang="ru-RU" sz="2000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, пользуясь известными им символами кодирования информации.</a:t>
            </a:r>
            <a:endParaRPr lang="ru-RU" sz="2000" dirty="0">
              <a:solidFill>
                <a:schemeClr val="accent1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Зима.</a:t>
            </a:r>
            <a:endParaRPr lang="ru-RU" b="1" dirty="0">
              <a:solidFill>
                <a:schemeClr val="accent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Содержимое 5" descr="images (2).jpg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1403648" y="1772816"/>
            <a:ext cx="6264696" cy="44345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570186"/>
          </a:xfrm>
        </p:spPr>
        <p:txBody>
          <a:bodyPr>
            <a:noAutofit/>
          </a:bodyPr>
          <a:lstStyle/>
          <a:p>
            <a:pPr algn="ctr"/>
            <a:r>
              <a:rPr lang="ru-RU" sz="3200" b="1" dirty="0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Таким образом, с помощью схем – моделей и </a:t>
            </a:r>
            <a:r>
              <a:rPr lang="ru-RU" sz="3200" b="1" dirty="0" err="1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мнемотаблиц</a:t>
            </a:r>
            <a:r>
              <a:rPr lang="ru-RU" sz="3200" b="1" dirty="0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 удаётся достичь следующих результатов:</a:t>
            </a:r>
            <a:endParaRPr lang="ru-RU" sz="3200" b="1" dirty="0">
              <a:solidFill>
                <a:schemeClr val="accent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914400" y="1916832"/>
            <a:ext cx="7772400" cy="4102968"/>
          </a:xfrm>
        </p:spPr>
        <p:txBody>
          <a:bodyPr>
            <a:normAutofit/>
          </a:bodyPr>
          <a:lstStyle/>
          <a:p>
            <a:r>
              <a:rPr lang="ru-RU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У детей появляется желание пересказывать сказки – как на занятии, так и в повседневной жизни; расширяется круг знаний об окружающем мире; обогащается словарный запас. </a:t>
            </a:r>
          </a:p>
          <a:p>
            <a:r>
              <a:rPr lang="ru-RU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Использование мнемотехники позволяет развивать не только память, воображение, внимание, но и учит детей рассуждать, доказывать, отстаивать свою точку зрения.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 smtClean="0">
                <a:solidFill>
                  <a:schemeClr val="accent1"/>
                </a:solidFill>
              </a:rPr>
              <a:t>Спасибо за внимание!</a:t>
            </a:r>
            <a:endParaRPr lang="ru-RU" b="1" dirty="0">
              <a:solidFill>
                <a:schemeClr val="accent1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ru-RU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Считаю, что чем раньше мы будем учить детей рассказывать или пересказывать, используя метод мнемотехники и схемы – модели, тем лучше подготовим их к школе, так как связная речь является важным показателем умственных способностей ребенка и готовности его к школьному обучению.</a:t>
            </a:r>
            <a:endParaRPr lang="ru-RU" dirty="0">
              <a:solidFill>
                <a:schemeClr val="accent1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праведливость">
  <a:themeElements>
    <a:clrScheme name="Справедливость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Справедливость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Справедливость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50</TotalTime>
  <Words>357</Words>
  <Application>Microsoft Office PowerPoint</Application>
  <PresentationFormat>Экран (4:3)</PresentationFormat>
  <Paragraphs>48</Paragraphs>
  <Slides>19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0" baseType="lpstr">
      <vt:lpstr>Справедливость</vt:lpstr>
      <vt:lpstr>Мнемотехника в развитии  связной речи у дошкольников</vt:lpstr>
      <vt:lpstr>Перемены последних лет  показали несостоятельность «стандартной» личности.</vt:lpstr>
      <vt:lpstr>Сказка «Колобок»</vt:lpstr>
      <vt:lpstr>   Здесь мы столкнулись с проблемами  речи детей дошкольного возраста:</vt:lpstr>
      <vt:lpstr>Грибочек.</vt:lpstr>
      <vt:lpstr>Слайд 6</vt:lpstr>
      <vt:lpstr>Расскажи о животном.</vt:lpstr>
      <vt:lpstr>К. Д.Ушинский писал: «Учите ребенка каким-нибудь неизвестным ему словам – он будет долго и напрасно мучиться,  но свяжите двадцать таких слов с картинками, и он усвоит на лету».</vt:lpstr>
      <vt:lpstr>Мнемотаблицы.</vt:lpstr>
      <vt:lpstr>Последовательность работы с мнемотаблицами состоит  из трех этапов.</vt:lpstr>
      <vt:lpstr>Мнемосхемы можно использовать:</vt:lpstr>
      <vt:lpstr>Загадки.</vt:lpstr>
      <vt:lpstr>Мнемотаблицы сказка.</vt:lpstr>
      <vt:lpstr>Слайд 14</vt:lpstr>
      <vt:lpstr>Жил был грибочек.</vt:lpstr>
      <vt:lpstr> Мнемотаблицы по временам года используются при ознакомлении с характерными особенностями  времен года.</vt:lpstr>
      <vt:lpstr>Зима.</vt:lpstr>
      <vt:lpstr>Таким образом, с помощью схем – моделей и мнемотаблиц удаётся достичь следующих результатов:</vt:lpstr>
      <vt:lpstr>Спасибо за внимание!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Мнемотехника в развитии  связной речи у дошкольников</dc:title>
  <cp:lastModifiedBy>Надежда</cp:lastModifiedBy>
  <cp:revision>7</cp:revision>
  <dcterms:modified xsi:type="dcterms:W3CDTF">2021-09-15T10:23:38Z</dcterms:modified>
</cp:coreProperties>
</file>