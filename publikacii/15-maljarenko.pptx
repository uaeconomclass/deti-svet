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82" r:id="rId25"/>
    <p:sldId id="283" r:id="rId26"/>
    <p:sldId id="279" r:id="rId27"/>
    <p:sldId id="280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8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6356D-B62C-419A-908F-E52FB8AB6A45}" type="datetimeFigureOut">
              <a:rPr lang="ru-RU" smtClean="0"/>
              <a:pPr/>
              <a:t>09.12.2017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5D04A-7283-4616-AD0A-EECA8BE778E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1%D1%83%D0%B1%D1%8A%D0%B5%D0%BA%D1%82%D0%B8%D0%B2%D0%BD%D0%BE%D1%81%D1%82%D1%8C" TargetMode="External"/><Relationship Id="rId7" Type="http://schemas.openxmlformats.org/officeDocument/2006/relationships/hyperlink" Target="https://ru.wikipedia.org/wiki/%D0%9D%D0%B0%D1%81%D1%82%D1%80%D0%BE%D0%B5%D0%BD%D0%B8%D0%B5" TargetMode="External"/><Relationship Id="rId2" Type="http://schemas.openxmlformats.org/officeDocument/2006/relationships/hyperlink" Target="https://ru.wikipedia.org/wiki/%D0%9F%D1%81%D0%B8%D1%85%D0%B8%D1%87%D0%B5%D1%81%D0%BA%D0%B8%D0%B9_%D0%BF%D1%80%D0%BE%D1%86%D0%B5%D1%81%D1%8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A7%D1%83%D0%B2%D1%81%D1%82%D0%B2%D0%BE" TargetMode="External"/><Relationship Id="rId5" Type="http://schemas.openxmlformats.org/officeDocument/2006/relationships/hyperlink" Target="https://ru.wikipedia.org/wiki/%D0%90%D1%84%D1%84%D0%B5%D0%BA%D1%82_(%D0%BF%D1%81%D0%B8%D1%85%D0%BE%D0%BB%D0%BE%D0%B3%D0%B8%D1%8F)" TargetMode="External"/><Relationship Id="rId4" Type="http://schemas.openxmlformats.org/officeDocument/2006/relationships/hyperlink" Target="https://ru.wikipedia.org/wiki/%D0%AD%D0%BC%D0%BE%D1%86%D0%B8%D0%BE%D0%BD%D0%B0%D0%BB%D1%8C%D0%BD%D1%8B%D0%B9_%D0%BF%D1%80%D0%BE%D1%86%D0%B5%D1%81%D1%8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A7%D0%B5%D0%BB%D0%BE%D0%B2%D0%B5%D0%BA" TargetMode="External"/><Relationship Id="rId2" Type="http://schemas.openxmlformats.org/officeDocument/2006/relationships/hyperlink" Target="https://ru.wikipedia.org/wiki/%D0%AD%D0%BC%D0%BE%D1%86%D0%B8%D0%BE%D0%BD%D0%B0%D0%BB%D1%8C%D0%BD%D1%8B%D0%B9_%D0%BF%D1%80%D0%BE%D1%86%D0%B5%D1%81%D1%81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ru.wikipedia.org/wiki/%D0%90%D0%B1%D1%81%D1%82%D1%80%D0%B0%D0%BA%D1%86%D0%B8%D1%8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90%D1%84%D1%84%D0%B5%D0%BA%D1%82_(%D0%BF%D1%81%D0%B8%D1%85%D0%BE%D0%BB%D0%BE%D0%B3%D0%B8%D1%8F)" TargetMode="Externa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0070C0"/>
                </a:solidFill>
              </a:rPr>
              <a:t>Презентация на тему: «Эмоции в структуре личности педагога»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 smtClean="0"/>
              <a:t>Подготовила: Маляренко Н.А.</a:t>
            </a:r>
            <a:endParaRPr lang="ru-RU" dirty="0"/>
          </a:p>
        </p:txBody>
      </p:sp>
    </p:spTree>
  </p:cSld>
  <p:clrMapOvr>
    <a:masterClrMapping/>
  </p:clrMapOvr>
  <p:transition advTm="5625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u="sng" dirty="0" smtClean="0">
                <a:solidFill>
                  <a:srgbClr val="0070C0"/>
                </a:solidFill>
              </a:rPr>
              <a:t>Основные понятия.</a:t>
            </a:r>
            <a:endParaRPr lang="ru-RU" sz="3200" b="1" u="sng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b="1" dirty="0" smtClean="0"/>
              <a:t>     </a:t>
            </a:r>
            <a:r>
              <a:rPr lang="ru-RU" b="1" dirty="0" err="1" smtClean="0">
                <a:solidFill>
                  <a:srgbClr val="0070C0"/>
                </a:solidFill>
              </a:rPr>
              <a:t>Эмо́ция</a:t>
            </a:r>
            <a:r>
              <a:rPr lang="ru-RU" dirty="0">
                <a:solidFill>
                  <a:srgbClr val="0070C0"/>
                </a:solidFill>
              </a:rPr>
              <a:t> </a:t>
            </a:r>
            <a:r>
              <a:rPr lang="ru-RU" dirty="0" smtClean="0"/>
              <a:t>-</a:t>
            </a:r>
            <a:r>
              <a:rPr lang="ru-RU" dirty="0"/>
              <a:t> </a:t>
            </a:r>
            <a:r>
              <a:rPr lang="ru-RU" dirty="0">
                <a:hlinkClick r:id="rId2" tooltip="Психический процесс"/>
              </a:rPr>
              <a:t>психический </a:t>
            </a:r>
            <a:r>
              <a:rPr lang="ru-RU" dirty="0" smtClean="0">
                <a:hlinkClick r:id="rId2" tooltip="Психический процесс"/>
              </a:rPr>
              <a:t>процесс</a:t>
            </a:r>
            <a:r>
              <a:rPr lang="ru-RU" dirty="0"/>
              <a:t> средней </a:t>
            </a:r>
            <a:r>
              <a:rPr lang="ru-RU" dirty="0" smtClean="0"/>
              <a:t>продолжительности, отражающий</a:t>
            </a:r>
            <a:r>
              <a:rPr lang="ru-RU" dirty="0"/>
              <a:t> </a:t>
            </a:r>
            <a:r>
              <a:rPr lang="ru-RU" dirty="0">
                <a:hlinkClick r:id="rId3" tooltip="Субъективность"/>
              </a:rPr>
              <a:t>субъективное</a:t>
            </a:r>
            <a:r>
              <a:rPr lang="ru-RU" dirty="0"/>
              <a:t> оценочное отношение к существующим или возможным ситуациям и объективному миру. Эмоции отличают от других видов </a:t>
            </a:r>
            <a:r>
              <a:rPr lang="ru-RU" dirty="0">
                <a:hlinkClick r:id="rId4" tooltip="Эмоциональный процесс"/>
              </a:rPr>
              <a:t>эмоциональных процессов</a:t>
            </a:r>
            <a:r>
              <a:rPr lang="ru-RU" dirty="0"/>
              <a:t>: </a:t>
            </a:r>
            <a:r>
              <a:rPr lang="ru-RU" dirty="0">
                <a:hlinkClick r:id="rId5" tooltip="Аффект (психология)"/>
              </a:rPr>
              <a:t>аффектов</a:t>
            </a:r>
            <a:r>
              <a:rPr lang="ru-RU" dirty="0"/>
              <a:t>, </a:t>
            </a:r>
            <a:r>
              <a:rPr lang="ru-RU" dirty="0">
                <a:hlinkClick r:id="rId6" tooltip="Чувство"/>
              </a:rPr>
              <a:t>чувств</a:t>
            </a:r>
            <a:r>
              <a:rPr lang="ru-RU" dirty="0"/>
              <a:t> и </a:t>
            </a:r>
            <a:r>
              <a:rPr lang="ru-RU" u="sng" dirty="0" smtClean="0">
                <a:hlinkClick r:id="rId7"/>
              </a:rPr>
              <a:t>настроений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ransition advTm="9578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85720" y="714356"/>
            <a:ext cx="82868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070C0"/>
                </a:solidFill>
              </a:rPr>
              <a:t>Аффе́кт</a:t>
            </a:r>
            <a:r>
              <a:rPr lang="ru-RU" sz="2800" dirty="0"/>
              <a:t>  — </a:t>
            </a:r>
            <a:r>
              <a:rPr lang="ru-RU" sz="2800" dirty="0">
                <a:hlinkClick r:id="rId2" tooltip="Эмоциональный процесс"/>
              </a:rPr>
              <a:t>эмоциональный процесс</a:t>
            </a:r>
            <a:r>
              <a:rPr lang="ru-RU" sz="2800" dirty="0"/>
              <a:t> взрывного характера, характеризующийся кратковременностью и высокой интенсивностью, сопровождающийся резко выраженными двигательными проявлениями и изменениями в работе внутренних органов.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85720" y="2928934"/>
            <a:ext cx="81439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070C0"/>
                </a:solidFill>
              </a:rPr>
              <a:t>Чу́вство</a:t>
            </a:r>
            <a:r>
              <a:rPr lang="ru-RU" sz="2800" dirty="0"/>
              <a:t> — </a:t>
            </a:r>
            <a:r>
              <a:rPr lang="ru-RU" sz="2800" dirty="0">
                <a:hlinkClick r:id="rId2" tooltip="Эмоциональный процесс"/>
              </a:rPr>
              <a:t>эмоциональный процесс</a:t>
            </a:r>
            <a:r>
              <a:rPr lang="ru-RU" sz="2800" dirty="0"/>
              <a:t> </a:t>
            </a:r>
            <a:r>
              <a:rPr lang="ru-RU" sz="2800" dirty="0">
                <a:hlinkClick r:id="rId3" tooltip="Человек"/>
              </a:rPr>
              <a:t>человека</a:t>
            </a:r>
            <a:r>
              <a:rPr lang="ru-RU" sz="2800" dirty="0"/>
              <a:t>, отражающий субъективное оценочное отношение к реальным или </a:t>
            </a:r>
            <a:r>
              <a:rPr lang="ru-RU" sz="2800" u="sng" dirty="0">
                <a:hlinkClick r:id="rId4"/>
              </a:rPr>
              <a:t>абстрактным</a:t>
            </a:r>
            <a:r>
              <a:rPr lang="ru-RU" sz="2800" dirty="0"/>
              <a:t> объектам.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85720" y="4357694"/>
            <a:ext cx="835824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>
                <a:solidFill>
                  <a:srgbClr val="0070C0"/>
                </a:solidFill>
              </a:rPr>
              <a:t>Настрое́ние</a:t>
            </a:r>
            <a:r>
              <a:rPr lang="ru-RU" sz="2800" dirty="0">
                <a:solidFill>
                  <a:srgbClr val="0070C0"/>
                </a:solidFill>
              </a:rPr>
              <a:t> </a:t>
            </a:r>
            <a:r>
              <a:rPr lang="ru-RU" sz="2800" dirty="0"/>
              <a:t>— достаточно продолжительный </a:t>
            </a:r>
            <a:r>
              <a:rPr lang="ru-RU" sz="2800" dirty="0">
                <a:hlinkClick r:id="rId2" tooltip="Эмоциональный процесс"/>
              </a:rPr>
              <a:t>эмоциональный процесс</a:t>
            </a:r>
            <a:r>
              <a:rPr lang="ru-RU" sz="2800" dirty="0"/>
              <a:t> невысокой интенсивности, образующий эмоциональный фон для протекающих психических </a:t>
            </a:r>
            <a:r>
              <a:rPr lang="ru-RU" sz="2800" dirty="0" smtClean="0"/>
              <a:t>процессов</a:t>
            </a:r>
            <a:r>
              <a:rPr lang="ru-RU" sz="2800" baseline="30000" dirty="0"/>
              <a:t> </a:t>
            </a:r>
            <a:r>
              <a:rPr lang="ru-RU" sz="2800" dirty="0"/>
              <a:t> </a:t>
            </a:r>
          </a:p>
        </p:txBody>
      </p:sp>
    </p:spTree>
  </p:cSld>
  <p:clrMapOvr>
    <a:masterClrMapping/>
  </p:clrMapOvr>
  <p:transition advTm="14296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u="sng" dirty="0" smtClean="0">
                <a:solidFill>
                  <a:srgbClr val="0070C0"/>
                </a:solidFill>
              </a:rPr>
              <a:t>Характеристики эмоций</a:t>
            </a:r>
            <a:endParaRPr lang="ru-RU" sz="3200" b="1" u="sng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>
                <a:solidFill>
                  <a:srgbClr val="0070C0"/>
                </a:solidFill>
              </a:rPr>
              <a:t>Модальность</a:t>
            </a:r>
            <a:r>
              <a:rPr lang="ru-RU" sz="2800" dirty="0" smtClean="0"/>
              <a:t>: страх, гнев, радость;</a:t>
            </a:r>
          </a:p>
          <a:p>
            <a:endParaRPr lang="ru-RU" sz="2800" dirty="0" smtClean="0"/>
          </a:p>
          <a:p>
            <a:r>
              <a:rPr lang="ru-RU" sz="2800" dirty="0" smtClean="0">
                <a:solidFill>
                  <a:srgbClr val="0070C0"/>
                </a:solidFill>
              </a:rPr>
              <a:t>Знак:</a:t>
            </a:r>
            <a:r>
              <a:rPr lang="ru-RU" sz="2800" dirty="0" smtClean="0"/>
              <a:t> отрицательное, положительное;</a:t>
            </a:r>
          </a:p>
          <a:p>
            <a:endParaRPr lang="ru-RU" sz="2800" dirty="0" smtClean="0"/>
          </a:p>
          <a:p>
            <a:r>
              <a:rPr lang="ru-RU" sz="2800" dirty="0" smtClean="0">
                <a:solidFill>
                  <a:srgbClr val="0070C0"/>
                </a:solidFill>
              </a:rPr>
              <a:t>Воздействие</a:t>
            </a:r>
            <a:r>
              <a:rPr lang="ru-RU" sz="2800" dirty="0" smtClean="0"/>
              <a:t>: </a:t>
            </a:r>
            <a:r>
              <a:rPr lang="ru-RU" sz="2800" dirty="0" err="1" smtClean="0"/>
              <a:t>стенические</a:t>
            </a:r>
            <a:r>
              <a:rPr lang="ru-RU" sz="2800" dirty="0" smtClean="0"/>
              <a:t>- повышающие, активность, </a:t>
            </a:r>
            <a:r>
              <a:rPr lang="ru-RU" sz="2800" dirty="0" err="1" smtClean="0"/>
              <a:t>астетические</a:t>
            </a:r>
            <a:r>
              <a:rPr lang="ru-RU" sz="2800" dirty="0" smtClean="0"/>
              <a:t>- снижающие;</a:t>
            </a:r>
          </a:p>
          <a:p>
            <a:endParaRPr lang="ru-RU" sz="2800" dirty="0" smtClean="0"/>
          </a:p>
          <a:p>
            <a:r>
              <a:rPr lang="ru-RU" sz="2800" dirty="0" smtClean="0">
                <a:solidFill>
                  <a:srgbClr val="0070C0"/>
                </a:solidFill>
              </a:rPr>
              <a:t>Сила, продолжительность, осознанность</a:t>
            </a:r>
            <a:r>
              <a:rPr lang="ru-RU" sz="2800" dirty="0" smtClean="0"/>
              <a:t>.</a:t>
            </a:r>
          </a:p>
          <a:p>
            <a:endParaRPr lang="ru-RU" sz="2800" dirty="0"/>
          </a:p>
        </p:txBody>
      </p:sp>
    </p:spTree>
  </p:cSld>
  <p:clrMapOvr>
    <a:masterClrMapping/>
  </p:clrMapOvr>
  <p:transition advTm="65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u="sng" dirty="0" smtClean="0">
                <a:solidFill>
                  <a:srgbClr val="0070C0"/>
                </a:solidFill>
              </a:rPr>
              <a:t>Функции эмоций.</a:t>
            </a:r>
            <a:endParaRPr lang="ru-RU" sz="3200" b="1" u="sng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85861"/>
            <a:ext cx="8229600" cy="1643074"/>
          </a:xfrm>
        </p:spPr>
        <p:txBody>
          <a:bodyPr/>
          <a:lstStyle/>
          <a:p>
            <a:pPr>
              <a:buNone/>
            </a:pPr>
            <a:r>
              <a:rPr lang="ru-RU" sz="2800" b="1" dirty="0" smtClean="0">
                <a:solidFill>
                  <a:srgbClr val="0070C0"/>
                </a:solidFill>
              </a:rPr>
              <a:t>  - Функция </a:t>
            </a:r>
            <a:r>
              <a:rPr lang="ru-RU" sz="2800" b="1" dirty="0">
                <a:solidFill>
                  <a:srgbClr val="0070C0"/>
                </a:solidFill>
              </a:rPr>
              <a:t>оценки</a:t>
            </a:r>
            <a:r>
              <a:rPr lang="ru-RU" sz="2800" b="1" dirty="0"/>
              <a:t>.</a:t>
            </a:r>
            <a:r>
              <a:rPr lang="ru-RU" sz="2800" dirty="0"/>
              <a:t> Эмоция дает возможность мгновенно оценить смысл изолированного раздражителя или ситуации для человека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2928934"/>
            <a:ext cx="807249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rgbClr val="0070C0"/>
                </a:solidFill>
              </a:rPr>
              <a:t>- Функция </a:t>
            </a:r>
            <a:r>
              <a:rPr lang="ru-RU" sz="2800" b="1" dirty="0">
                <a:solidFill>
                  <a:srgbClr val="0070C0"/>
                </a:solidFill>
              </a:rPr>
              <a:t>мобилизации</a:t>
            </a:r>
            <a:r>
              <a:rPr lang="ru-RU" sz="2800" b="1" dirty="0"/>
              <a:t>. </a:t>
            </a:r>
            <a:r>
              <a:rPr lang="ru-RU" sz="2800" dirty="0"/>
              <a:t>Мобилизующая функция эмоций проявляется, в первую очередь, на физиологическом уровне: выброс в кровь адреналина при эмоции страха повышает способность к бегству </a:t>
            </a:r>
            <a:r>
              <a:rPr lang="ru-RU" sz="2800" dirty="0" smtClean="0"/>
              <a:t>, </a:t>
            </a:r>
            <a:r>
              <a:rPr lang="ru-RU" sz="2800" dirty="0"/>
              <a:t>а понижение порога ощущения, как составляющая эмоции тревоги, помогает распознать угрожающие стимулы.</a:t>
            </a:r>
          </a:p>
        </p:txBody>
      </p:sp>
    </p:spTree>
  </p:cSld>
  <p:clrMapOvr>
    <a:masterClrMapping/>
  </p:clrMapOvr>
  <p:transition advTm="1725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2910" y="571480"/>
            <a:ext cx="792961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rgbClr val="0070C0"/>
                </a:solidFill>
              </a:rPr>
              <a:t>- Функция </a:t>
            </a:r>
            <a:r>
              <a:rPr lang="ru-RU" sz="2800" b="1" dirty="0" err="1">
                <a:solidFill>
                  <a:srgbClr val="0070C0"/>
                </a:solidFill>
              </a:rPr>
              <a:t>следообразования</a:t>
            </a:r>
            <a:r>
              <a:rPr lang="ru-RU" sz="2800" b="1" dirty="0"/>
              <a:t>.</a:t>
            </a:r>
            <a:r>
              <a:rPr lang="ru-RU" sz="2800" dirty="0"/>
              <a:t> Эмоция часто возникает уже после того, как то или иное событие завершилось, т.е. тогда, когда действовать уже поздно. 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71472" y="2357430"/>
            <a:ext cx="80010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rgbClr val="0070C0"/>
                </a:solidFill>
              </a:rPr>
              <a:t>- Функция </a:t>
            </a:r>
            <a:r>
              <a:rPr lang="ru-RU" sz="2800" b="1" dirty="0">
                <a:solidFill>
                  <a:srgbClr val="0070C0"/>
                </a:solidFill>
              </a:rPr>
              <a:t>компенсации</a:t>
            </a:r>
            <a:r>
              <a:rPr lang="ru-RU" sz="2800" dirty="0"/>
              <a:t> информационного дефицита. Описанная выше оценочная функция эмоций особенно полезна в том случае, когда нам не хватает информации для рационального принятия решения. 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472" y="4572008"/>
            <a:ext cx="814393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ru-RU" sz="2800" b="1" dirty="0" smtClean="0">
                <a:solidFill>
                  <a:srgbClr val="0070C0"/>
                </a:solidFill>
              </a:rPr>
              <a:t>Функция коммуникации</a:t>
            </a:r>
            <a:r>
              <a:rPr lang="ru-RU" sz="2800" b="1" dirty="0" smtClean="0"/>
              <a:t>.</a:t>
            </a:r>
          </a:p>
          <a:p>
            <a:pPr>
              <a:buFontTx/>
              <a:buChar char="-"/>
            </a:pPr>
            <a:r>
              <a:rPr lang="ru-RU" sz="2800" b="1" dirty="0" smtClean="0">
                <a:solidFill>
                  <a:srgbClr val="0070C0"/>
                </a:solidFill>
              </a:rPr>
              <a:t>Функция </a:t>
            </a:r>
            <a:r>
              <a:rPr lang="ru-RU" sz="2800" b="1" dirty="0">
                <a:solidFill>
                  <a:srgbClr val="0070C0"/>
                </a:solidFill>
              </a:rPr>
              <a:t>дезорганизации. </a:t>
            </a:r>
            <a:r>
              <a:rPr lang="ru-RU" sz="2800" dirty="0"/>
              <a:t>Интенсивные эмоции способны нарушить эффективное протекание деятельности</a:t>
            </a:r>
          </a:p>
        </p:txBody>
      </p:sp>
    </p:spTree>
  </p:cSld>
  <p:clrMapOvr>
    <a:masterClrMapping/>
  </p:clrMapOvr>
  <p:transition advTm="18484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u="sng" dirty="0">
                <a:solidFill>
                  <a:srgbClr val="0070C0"/>
                </a:solidFill>
              </a:rPr>
              <a:t>Т</a:t>
            </a:r>
            <a:r>
              <a:rPr lang="ru-RU" sz="3200" b="1" u="sng" dirty="0" smtClean="0">
                <a:solidFill>
                  <a:srgbClr val="0070C0"/>
                </a:solidFill>
              </a:rPr>
              <a:t>еория дифференцированных эмоций </a:t>
            </a:r>
            <a:r>
              <a:rPr lang="ru-RU" sz="3200" b="1" u="sng" dirty="0" err="1" smtClean="0">
                <a:solidFill>
                  <a:srgbClr val="0070C0"/>
                </a:solidFill>
              </a:rPr>
              <a:t>К.Эзарда</a:t>
            </a:r>
            <a:endParaRPr lang="ru-RU" sz="3200" b="1" u="sng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500174"/>
            <a:ext cx="9144000" cy="4625989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r>
              <a:rPr lang="ru-RU" dirty="0" smtClean="0"/>
              <a:t>      </a:t>
            </a:r>
            <a:r>
              <a:rPr lang="ru-RU" sz="11200" b="1" dirty="0" smtClean="0"/>
              <a:t>В </a:t>
            </a:r>
            <a:r>
              <a:rPr lang="ru-RU" sz="11200" b="1" dirty="0"/>
              <a:t>основе теории лежат 5 основных тезисов</a:t>
            </a:r>
            <a:r>
              <a:rPr lang="ru-RU" sz="11200" b="1" dirty="0" smtClean="0"/>
              <a:t>:</a:t>
            </a:r>
          </a:p>
          <a:p>
            <a:pPr algn="ctr">
              <a:buNone/>
            </a:pPr>
            <a:endParaRPr lang="ru-RU" sz="11200" dirty="0"/>
          </a:p>
          <a:p>
            <a:pPr algn="ctr">
              <a:buNone/>
            </a:pPr>
            <a:r>
              <a:rPr lang="ru-RU" sz="11200" dirty="0" smtClean="0"/>
              <a:t>1. Основную </a:t>
            </a:r>
            <a:r>
              <a:rPr lang="ru-RU" sz="11200" dirty="0"/>
              <a:t>мотивационную систему человека составляют десять базовых </a:t>
            </a:r>
            <a:r>
              <a:rPr lang="ru-RU" sz="11200" dirty="0" smtClean="0"/>
              <a:t>эмоций;</a:t>
            </a:r>
          </a:p>
          <a:p>
            <a:pPr algn="ctr">
              <a:buNone/>
            </a:pPr>
            <a:r>
              <a:rPr lang="ru-RU" sz="11200" dirty="0" smtClean="0"/>
              <a:t>2. </a:t>
            </a:r>
            <a:r>
              <a:rPr lang="ru-RU" sz="11200" dirty="0"/>
              <a:t>каждая эмоция подразумевает специфический способ переживания</a:t>
            </a:r>
            <a:r>
              <a:rPr lang="ru-RU" sz="11200" dirty="0" smtClean="0"/>
              <a:t>;</a:t>
            </a:r>
            <a:br>
              <a:rPr lang="ru-RU" sz="11200" dirty="0" smtClean="0"/>
            </a:br>
            <a:r>
              <a:rPr lang="ru-RU" sz="11200" dirty="0" smtClean="0"/>
              <a:t>3. Все </a:t>
            </a:r>
            <a:r>
              <a:rPr lang="ru-RU" sz="11200" dirty="0"/>
              <a:t>фундаментальные эмоции по-разному воздействуют на когнитивную сферу и на поведение в целом</a:t>
            </a:r>
            <a:r>
              <a:rPr lang="ru-RU" sz="11200" dirty="0" smtClean="0"/>
              <a:t>;</a:t>
            </a:r>
            <a:br>
              <a:rPr lang="ru-RU" sz="11200" dirty="0" smtClean="0"/>
            </a:br>
            <a:r>
              <a:rPr lang="ru-RU" sz="11200" dirty="0" smtClean="0"/>
              <a:t>4. Эмоциональные </a:t>
            </a:r>
            <a:r>
              <a:rPr lang="ru-RU" sz="11200" dirty="0"/>
              <a:t>процессы взаимодействуют с драйвами и оказывают на них влияние</a:t>
            </a:r>
            <a:r>
              <a:rPr lang="ru-RU" sz="11200" dirty="0" smtClean="0"/>
              <a:t>;</a:t>
            </a:r>
            <a:br>
              <a:rPr lang="ru-RU" sz="11200" dirty="0" smtClean="0"/>
            </a:br>
            <a:r>
              <a:rPr lang="ru-RU" sz="11200" dirty="0" smtClean="0"/>
              <a:t>5. В свою </a:t>
            </a:r>
            <a:r>
              <a:rPr lang="ru-RU" sz="11200" dirty="0"/>
              <a:t>очередь драйвы влияют на протекание эмоционального процесса.</a:t>
            </a:r>
            <a:r>
              <a:rPr lang="ru-RU" sz="11200" dirty="0" smtClean="0"/>
              <a:t/>
            </a:r>
            <a:br>
              <a:rPr lang="ru-RU" sz="11200" dirty="0" smtClean="0"/>
            </a:br>
            <a:r>
              <a:rPr lang="ru-RU" sz="11200" dirty="0" smtClean="0"/>
              <a:t/>
            </a:r>
            <a:br>
              <a:rPr lang="ru-RU" sz="11200" dirty="0" smtClean="0"/>
            </a:br>
            <a:endParaRPr lang="ru-RU" sz="11200" dirty="0"/>
          </a:p>
        </p:txBody>
      </p:sp>
    </p:spTree>
  </p:cSld>
  <p:clrMapOvr>
    <a:masterClrMapping/>
  </p:clrMapOvr>
  <p:transition advTm="1261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u="sng" dirty="0" smtClean="0">
                <a:solidFill>
                  <a:srgbClr val="0070C0"/>
                </a:solidFill>
              </a:rPr>
              <a:t>Критерии базовых эмоций.</a:t>
            </a:r>
            <a:endParaRPr lang="ru-RU" sz="3200" b="1" u="sng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142984"/>
            <a:ext cx="8715436" cy="557216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endParaRPr lang="ru-RU" sz="4000" b="1" dirty="0" smtClean="0"/>
          </a:p>
          <a:p>
            <a:pPr>
              <a:buNone/>
            </a:pPr>
            <a:r>
              <a:rPr lang="ru-RU" sz="4000" b="1" dirty="0" smtClean="0"/>
              <a:t>Вот </a:t>
            </a:r>
            <a:r>
              <a:rPr lang="ru-RU" sz="4000" b="1" dirty="0"/>
              <a:t>несколько критериев, на основе которых можно определить, является ли та или иная эмоция базовой</a:t>
            </a:r>
            <a:r>
              <a:rPr lang="ru-RU" sz="4000" b="1" dirty="0" smtClean="0"/>
              <a:t>:</a:t>
            </a:r>
          </a:p>
          <a:p>
            <a:pPr>
              <a:buNone/>
            </a:pPr>
            <a:endParaRPr lang="ru-RU" sz="4000" dirty="0"/>
          </a:p>
          <a:p>
            <a:r>
              <a:rPr lang="ru-RU" sz="3600" dirty="0"/>
              <a:t>1. Базовые эмоции имеют отчетливые и специфические нервные субстраты.</a:t>
            </a:r>
          </a:p>
          <a:p>
            <a:r>
              <a:rPr lang="ru-RU" sz="3600" dirty="0"/>
              <a:t>2. Базовая эмоция проявляет себя при помощи выразительной и специфической конфигурации мышечных движений лица (мимики).</a:t>
            </a:r>
          </a:p>
          <a:p>
            <a:r>
              <a:rPr lang="ru-RU" sz="3600" dirty="0"/>
              <a:t>3. Базовая эмоция влечет за собой отчетливое и специфическое переживание, которое осознается человеком.</a:t>
            </a:r>
          </a:p>
          <a:p>
            <a:r>
              <a:rPr lang="ru-RU" sz="3600" dirty="0"/>
              <a:t>4. Базовые эмоции возникли в результате эволюционно-биологических процессов.</a:t>
            </a:r>
          </a:p>
          <a:p>
            <a:r>
              <a:rPr lang="ru-RU" sz="3600" dirty="0"/>
              <a:t>5. Базовая эмоция оказывает организующее и мотивирующее влияние на человека, служит его адаптации.</a:t>
            </a:r>
          </a:p>
          <a:p>
            <a:endParaRPr lang="ru-RU" sz="3600" dirty="0"/>
          </a:p>
        </p:txBody>
      </p:sp>
    </p:spTree>
  </p:cSld>
  <p:clrMapOvr>
    <a:masterClrMapping/>
  </p:clrMapOvr>
  <p:transition advTm="16594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u="sng" dirty="0" smtClean="0">
                <a:solidFill>
                  <a:srgbClr val="0070C0"/>
                </a:solidFill>
              </a:rPr>
              <a:t> </a:t>
            </a:r>
            <a:r>
              <a:rPr lang="ru-RU" b="1" u="sng" dirty="0">
                <a:solidFill>
                  <a:srgbClr val="0070C0"/>
                </a:solidFill>
              </a:rPr>
              <a:t>Б</a:t>
            </a:r>
            <a:r>
              <a:rPr lang="ru-RU" b="1" u="sng" dirty="0" smtClean="0">
                <a:solidFill>
                  <a:srgbClr val="0070C0"/>
                </a:solidFill>
              </a:rPr>
              <a:t>азовые эмоции К. </a:t>
            </a:r>
            <a:r>
              <a:rPr lang="ru-RU" b="1" u="sng" dirty="0" err="1" smtClean="0">
                <a:solidFill>
                  <a:srgbClr val="0070C0"/>
                </a:solidFill>
              </a:rPr>
              <a:t>Эзарда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71472" y="1357298"/>
            <a:ext cx="8072494" cy="4525963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solidFill>
                  <a:srgbClr val="0070C0"/>
                </a:solidFill>
              </a:rPr>
              <a:t>1. Интерес </a:t>
            </a:r>
            <a:r>
              <a:rPr lang="ru-RU" dirty="0"/>
              <a:t>- положительное эмоциональное состояние, способствующее развитию навыков и умений, приобретению знаний. Интерес-возбуждение - это чувство любопытства.</a:t>
            </a:r>
          </a:p>
          <a:p>
            <a:r>
              <a:rPr lang="ru-RU" dirty="0">
                <a:solidFill>
                  <a:srgbClr val="0070C0"/>
                </a:solidFill>
              </a:rPr>
              <a:t>2. Радость </a:t>
            </a:r>
            <a:r>
              <a:rPr lang="ru-RU" dirty="0"/>
              <a:t>- положительная эмоция, связанная с возможностью достаточно полно удовлетворить актуальную потребность, вероятность чего до этого была невелика или неопределенна. Радость сопровождается </a:t>
            </a:r>
            <a:r>
              <a:rPr lang="ru-RU" dirty="0" err="1"/>
              <a:t>самоудовлетворенностью</a:t>
            </a:r>
            <a:r>
              <a:rPr lang="ru-RU" dirty="0"/>
              <a:t> и удовлетворенностью окружающим миром. Препятствия к самореализации являются препятствиями и для появления радости.</a:t>
            </a:r>
          </a:p>
          <a:p>
            <a:endParaRPr lang="ru-RU" dirty="0"/>
          </a:p>
        </p:txBody>
      </p:sp>
    </p:spTree>
  </p:cSld>
  <p:clrMapOvr>
    <a:masterClrMapping/>
  </p:clrMapOvr>
  <p:transition advTm="18031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596" y="214290"/>
            <a:ext cx="8429684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3. Удивление </a:t>
            </a:r>
            <a:r>
              <a:rPr lang="ru-RU" sz="2800" dirty="0"/>
              <a:t>- не имеющая четко выраженного положительного или отрицательного знака эмоциональная реакция на внезапно возникшие обстоятельства. Удивление тормозит все предыдущие эмоции, направляя внимание на новый объект и может переходить в интерес.</a:t>
            </a:r>
          </a:p>
          <a:p>
            <a:r>
              <a:rPr lang="ru-RU" sz="2800" dirty="0">
                <a:solidFill>
                  <a:srgbClr val="0070C0"/>
                </a:solidFill>
              </a:rPr>
              <a:t>4. Страдание (горе) </a:t>
            </a:r>
            <a:r>
              <a:rPr lang="ru-RU" sz="2800" dirty="0"/>
              <a:t>- наиболее распространенное отрицательное эмоциональное состояние, связанное с получением достоверной (или кажущейся таковой) информации о невозможности удовлетворения важнейших потребностей, достижение которых до этого представлялось более или менее вероятным. Страдание протекает в форме эмоционального стресса. Наиболее тяжелая форма страдания - горе, связанное с безвозвратной утратой.</a:t>
            </a:r>
          </a:p>
        </p:txBody>
      </p:sp>
    </p:spTree>
  </p:cSld>
  <p:clrMapOvr>
    <a:masterClrMapping/>
  </p:clrMapOvr>
  <p:transition advTm="18422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2910" y="571481"/>
            <a:ext cx="792961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5. Гнев </a:t>
            </a:r>
            <a:r>
              <a:rPr lang="ru-RU" sz="2800" dirty="0"/>
              <a:t>- сильное отрицательное эмоциональное состояние, протекающее чаще в форме аффекта; возникает в ответ на препятствие в достижении страстно желаемых целей.</a:t>
            </a:r>
          </a:p>
          <a:p>
            <a:r>
              <a:rPr lang="ru-RU" sz="2800" dirty="0">
                <a:solidFill>
                  <a:srgbClr val="0070C0"/>
                </a:solidFill>
              </a:rPr>
              <a:t>6. Отвращение </a:t>
            </a:r>
            <a:r>
              <a:rPr lang="ru-RU" sz="2800" dirty="0"/>
              <a:t>- отрицательное эмоциональное состояние, вызываемое объектами (предметами, людьми, обстоятельствами), соприкосновение с которыми вступает в резкое противоречие с эстетическими, нравственными или идеологическими принципами и установками субъекта.</a:t>
            </a:r>
          </a:p>
        </p:txBody>
      </p:sp>
    </p:spTree>
  </p:cSld>
  <p:clrMapOvr>
    <a:masterClrMapping/>
  </p:clrMapOvr>
  <p:transition advTm="1125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7158" y="500042"/>
            <a:ext cx="842968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7. Презрение </a:t>
            </a:r>
            <a:r>
              <a:rPr lang="ru-RU" sz="2800" dirty="0"/>
              <a:t>- отрицательное эмоциональное состояние, возникающее в межличностных отношениях и порождаемое рассогласованием жизненных позиций, взглядов и поведения субъекта с таковыми объекта чувства. Последние представляются субъекту как низменные, не соответствующие принятым нравственным нормам и этическим критериям.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85720" y="3929066"/>
            <a:ext cx="842968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70C0"/>
                </a:solidFill>
              </a:rPr>
              <a:t>8. </a:t>
            </a:r>
            <a:r>
              <a:rPr lang="ru-RU" sz="2800" dirty="0">
                <a:solidFill>
                  <a:srgbClr val="0070C0"/>
                </a:solidFill>
              </a:rPr>
              <a:t>Стыд </a:t>
            </a:r>
            <a:r>
              <a:rPr lang="ru-RU" sz="2800" dirty="0"/>
              <a:t>- отрицательное эмоциональное состояние, выражающееся в осознании несоответствия собственных помыслов, поступков и внешности не только ожиданиям окружающих, но и собственным представлениям о подобающем поведении и внешнем облике.</a:t>
            </a:r>
          </a:p>
        </p:txBody>
      </p:sp>
    </p:spTree>
  </p:cSld>
  <p:clrMapOvr>
    <a:masterClrMapping/>
  </p:clrMapOvr>
  <p:transition advTm="23063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142852"/>
            <a:ext cx="828680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70C0"/>
                </a:solidFill>
              </a:rPr>
              <a:t>9. </a:t>
            </a:r>
            <a:r>
              <a:rPr lang="ru-RU" sz="2800" dirty="0">
                <a:solidFill>
                  <a:srgbClr val="0070C0"/>
                </a:solidFill>
              </a:rPr>
              <a:t>Страх </a:t>
            </a:r>
            <a:r>
              <a:rPr lang="ru-RU" sz="2800" dirty="0"/>
              <a:t>- отрицательное эмоциональное состояние, появляющееся при получении субъектом информации о возможном ущербе для его жизненного благополучия, о реальной или воображаемой опасности. В отличие от страдания, вызываемого прямым блокированием важнейших потребностей, человек, переживая эмоцию страха, располагает лишь вероятностным прогнозом возможного неблагополучия и действует на основе этого прогноза (часто недостаточно достоверного или преувеличенного). Эмоция страха может иметь как </a:t>
            </a:r>
            <a:r>
              <a:rPr lang="ru-RU" sz="2800" dirty="0" err="1"/>
              <a:t>стенический</a:t>
            </a:r>
            <a:r>
              <a:rPr lang="ru-RU" sz="2800" dirty="0"/>
              <a:t>, так и астенический характер и протекать либо в виде стрессовых состояний, либо в виде устойчивого настроения подавленности и тревожности, либо в виде аффекта (ужас).</a:t>
            </a:r>
          </a:p>
        </p:txBody>
      </p:sp>
    </p:spTree>
  </p:cSld>
  <p:clrMapOvr>
    <a:masterClrMapping/>
  </p:clrMapOvr>
  <p:transition advTm="18891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1357298"/>
            <a:ext cx="821537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70C0"/>
                </a:solidFill>
              </a:rPr>
              <a:t>10. Вина </a:t>
            </a:r>
            <a:r>
              <a:rPr lang="ru-RU" sz="2800" dirty="0" smtClean="0"/>
              <a:t>- отрицательное эмоциональное состояние, выражающееся в осознании неблаговидности собственного поступка, помысла или чувств и выражающееся в сожалении и раскаянии.</a:t>
            </a:r>
            <a:endParaRPr lang="ru-RU" sz="2800" dirty="0"/>
          </a:p>
        </p:txBody>
      </p:sp>
    </p:spTree>
  </p:cSld>
  <p:clrMapOvr>
    <a:masterClrMapping/>
  </p:clrMapOvr>
  <p:transition advTm="12891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70C0"/>
                </a:solidFill>
              </a:rPr>
              <a:t>Когда мы начинаем испытывать эмоции?</a:t>
            </a:r>
            <a:br>
              <a:rPr lang="ru-RU" sz="3200" b="1" dirty="0">
                <a:solidFill>
                  <a:srgbClr val="0070C0"/>
                </a:solidFill>
              </a:rPr>
            </a:br>
            <a:r>
              <a:rPr lang="ru-RU" sz="3200" b="1" dirty="0" err="1" smtClean="0">
                <a:solidFill>
                  <a:srgbClr val="0070C0"/>
                </a:solidFill>
              </a:rPr>
              <a:t>П.Экман</a:t>
            </a:r>
            <a:r>
              <a:rPr lang="ru-RU" sz="3200" b="1" dirty="0" smtClean="0">
                <a:solidFill>
                  <a:srgbClr val="0070C0"/>
                </a:solidFill>
              </a:rPr>
              <a:t>.</a:t>
            </a:r>
            <a:endParaRPr lang="ru-RU" sz="3200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1435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dirty="0" smtClean="0"/>
              <a:t>     </a:t>
            </a:r>
            <a:r>
              <a:rPr lang="ru-RU" sz="2800" dirty="0" smtClean="0"/>
              <a:t>Большую </a:t>
            </a:r>
            <a:r>
              <a:rPr lang="ru-RU" sz="2800" dirty="0"/>
              <a:t>часть времени наши эмоции служат нам вполне успешно, мобилизуя нас заниматься тем, что является важным в нашей жизни, и доставляя нам самые разные виды удовольствия. Но иногда наши эмоции </a:t>
            </a:r>
            <a:r>
              <a:rPr lang="ru-RU" sz="2800" dirty="0" smtClean="0"/>
              <a:t>могут </a:t>
            </a:r>
            <a:r>
              <a:rPr lang="ru-RU" sz="2800" dirty="0"/>
              <a:t>создавать нам проблемы.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/>
              <a:t>     Это случается тогда, когда наши эмоциональные реакции становятся неадекватными ситуации одним из трех следующих способов. </a:t>
            </a:r>
            <a:r>
              <a:rPr lang="ru-RU" sz="2800" dirty="0">
                <a:solidFill>
                  <a:srgbClr val="0070C0"/>
                </a:solidFill>
              </a:rPr>
              <a:t>Во–первых, м</a:t>
            </a:r>
            <a:r>
              <a:rPr lang="ru-RU" sz="2800" dirty="0"/>
              <a:t>ы можем испытывать и показывать правильную эмоцию, но с неправильной интенсивностью </a:t>
            </a:r>
            <a:r>
              <a:rPr lang="ru-RU" sz="2800" dirty="0" smtClean="0"/>
              <a:t>. </a:t>
            </a:r>
            <a:r>
              <a:rPr lang="ru-RU" sz="2800" dirty="0" smtClean="0">
                <a:solidFill>
                  <a:srgbClr val="0070C0"/>
                </a:solidFill>
              </a:rPr>
              <a:t>Во–вторых</a:t>
            </a:r>
            <a:r>
              <a:rPr lang="ru-RU" sz="2800" dirty="0">
                <a:solidFill>
                  <a:srgbClr val="0070C0"/>
                </a:solidFill>
              </a:rPr>
              <a:t>, </a:t>
            </a:r>
            <a:r>
              <a:rPr lang="ru-RU" sz="2800" dirty="0"/>
              <a:t>мы можем испытывать правильную эмоцию, но проявлять ее ненадлежащим </a:t>
            </a:r>
            <a:r>
              <a:rPr lang="ru-RU" sz="2800" dirty="0" smtClean="0"/>
              <a:t>образом</a:t>
            </a:r>
            <a:endParaRPr lang="ru-RU" sz="2800" dirty="0"/>
          </a:p>
        </p:txBody>
      </p:sp>
    </p:spTree>
  </p:cSld>
  <p:clrMapOvr>
    <a:masterClrMapping/>
  </p:clrMapOvr>
  <p:transition advTm="12140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596" y="2136339"/>
            <a:ext cx="850112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70C0"/>
                </a:solidFill>
              </a:rPr>
              <a:t>Третий </a:t>
            </a:r>
            <a:r>
              <a:rPr lang="ru-RU" sz="2800" dirty="0">
                <a:solidFill>
                  <a:srgbClr val="0070C0"/>
                </a:solidFill>
              </a:rPr>
              <a:t>тип неподходящей эмоциональной реакции </a:t>
            </a:r>
            <a:r>
              <a:rPr lang="ru-RU" sz="2800" dirty="0"/>
              <a:t>— который труднее изменить и который оказывается даже хуже, чем первые два. Он проявляется не в том, что наша реакция оказывается чересчур сильной или выражается в неправильной форме, а в том, что мы вообще испытываем не ту эмоцию, которую должны были бы испытывать</a:t>
            </a:r>
          </a:p>
        </p:txBody>
      </p:sp>
    </p:spTree>
  </p:cSld>
  <p:clrMapOvr>
    <a:masterClrMapping/>
  </p:clrMapOvr>
  <p:transition advTm="12953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42910" y="1428736"/>
            <a:ext cx="800105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0070C0"/>
                </a:solidFill>
              </a:rPr>
              <a:t>Шесть </a:t>
            </a:r>
            <a:r>
              <a:rPr lang="ru-RU" sz="2800" b="1" dirty="0" smtClean="0">
                <a:solidFill>
                  <a:srgbClr val="0070C0"/>
                </a:solidFill>
              </a:rPr>
              <a:t>эмоций по П. </a:t>
            </a:r>
            <a:r>
              <a:rPr lang="ru-RU" sz="2800" b="1" dirty="0" err="1" smtClean="0">
                <a:solidFill>
                  <a:srgbClr val="0070C0"/>
                </a:solidFill>
              </a:rPr>
              <a:t>Экману</a:t>
            </a:r>
            <a:endParaRPr lang="ru-RU" sz="2800" b="1" dirty="0" smtClean="0">
              <a:solidFill>
                <a:srgbClr val="0070C0"/>
              </a:solidFill>
            </a:endParaRPr>
          </a:p>
          <a:p>
            <a:r>
              <a:rPr lang="ru-RU" sz="2800" dirty="0" smtClean="0"/>
              <a:t>- </a:t>
            </a:r>
            <a:r>
              <a:rPr lang="ru-RU" sz="2800" dirty="0" smtClean="0"/>
              <a:t>радость</a:t>
            </a:r>
            <a:r>
              <a:rPr lang="ru-RU" sz="2800" dirty="0"/>
              <a:t>;</a:t>
            </a:r>
            <a:r>
              <a:rPr lang="ru-RU" sz="2800" dirty="0" smtClean="0"/>
              <a:t> </a:t>
            </a:r>
          </a:p>
          <a:p>
            <a:r>
              <a:rPr lang="ru-RU" sz="2800" dirty="0" smtClean="0"/>
              <a:t>- печаль</a:t>
            </a:r>
            <a:r>
              <a:rPr lang="ru-RU" sz="2800" dirty="0"/>
              <a:t>;</a:t>
            </a:r>
            <a:r>
              <a:rPr lang="ru-RU" sz="2800" dirty="0" smtClean="0"/>
              <a:t> </a:t>
            </a:r>
          </a:p>
          <a:p>
            <a:r>
              <a:rPr lang="ru-RU" sz="2800" dirty="0" smtClean="0"/>
              <a:t>- удивление;</a:t>
            </a:r>
          </a:p>
          <a:p>
            <a:r>
              <a:rPr lang="ru-RU" sz="2800" dirty="0" smtClean="0"/>
              <a:t>- страх</a:t>
            </a:r>
            <a:r>
              <a:rPr lang="ru-RU" sz="2800" dirty="0"/>
              <a:t>;</a:t>
            </a:r>
            <a:r>
              <a:rPr lang="ru-RU" sz="2800" dirty="0" smtClean="0"/>
              <a:t> </a:t>
            </a:r>
          </a:p>
          <a:p>
            <a:r>
              <a:rPr lang="ru-RU" sz="2800" dirty="0" smtClean="0"/>
              <a:t>- гнев;  </a:t>
            </a:r>
          </a:p>
          <a:p>
            <a:r>
              <a:rPr lang="ru-RU" sz="2800" dirty="0" smtClean="0"/>
              <a:t>- отвращение </a:t>
            </a:r>
            <a:endParaRPr lang="ru-RU" sz="2800" dirty="0"/>
          </a:p>
        </p:txBody>
      </p:sp>
    </p:spTree>
  </p:cSld>
  <p:clrMapOvr>
    <a:masterClrMapping/>
  </p:clrMapOvr>
  <p:transition advTm="20563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5720" y="571480"/>
            <a:ext cx="80724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ru-RU" sz="2800" b="1" dirty="0">
                <a:solidFill>
                  <a:srgbClr val="0070C0"/>
                </a:solidFill>
              </a:rPr>
              <a:t>Печаль и </a:t>
            </a:r>
            <a:r>
              <a:rPr lang="ru-RU" sz="2800" b="1" dirty="0" smtClean="0">
                <a:solidFill>
                  <a:srgbClr val="0070C0"/>
                </a:solidFill>
              </a:rPr>
              <a:t>горе.</a:t>
            </a:r>
            <a:endParaRPr lang="ru-RU" sz="2800" b="1" dirty="0">
              <a:solidFill>
                <a:srgbClr val="0070C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7158" y="1000109"/>
            <a:ext cx="842968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Печаль могут вызвать разные виды потерь и утрат: потеря друга или возлюбленной; потеря самоуважения вследствие невозможности достичь поставленной карьерной цели; потеря части тела или утрата определенной функции по причине несчастного случая или болезни, а для некоторых людей — и потеря ценного для них предмета. Имеется много слов для описания человека, находящегося в состоянии печали: «разочарованный», «унылый», «грустный», «подавленный», «обескураженный», «огорченный», «несчастный», «скорбящий» и т. </a:t>
            </a:r>
            <a:r>
              <a:rPr lang="ru-RU" sz="2800" dirty="0" err="1"/>
              <a:t>д</a:t>
            </a:r>
            <a:endParaRPr lang="ru-RU" sz="2800" dirty="0"/>
          </a:p>
        </p:txBody>
      </p:sp>
    </p:spTree>
  </p:cSld>
  <p:clrMapOvr>
    <a:masterClrMapping/>
  </p:clrMapOvr>
  <p:transition advTm="9063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28596" y="2786058"/>
            <a:ext cx="828680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Одна из самых опасных особенностей гнева состоит в том, что он сам порождает гнев и этот циклический процесс может развиваться по нарастающей.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1472" y="1071546"/>
            <a:ext cx="792961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70C0"/>
                </a:solidFill>
              </a:rPr>
              <a:t>Гнев</a:t>
            </a:r>
            <a:r>
              <a:rPr lang="ru-RU" sz="2800" dirty="0"/>
              <a:t> — отрицательно окрашенный </a:t>
            </a:r>
            <a:r>
              <a:rPr lang="ru-RU" sz="2800" dirty="0">
                <a:hlinkClick r:id="rId2" tooltip="Аффект (психология)"/>
              </a:rPr>
              <a:t>аффект</a:t>
            </a:r>
            <a:r>
              <a:rPr lang="ru-RU" sz="2800" dirty="0"/>
              <a:t>, направленный против испытываемой несправедливости, и сопровождающийся желанием устранить </a:t>
            </a:r>
            <a:r>
              <a:rPr lang="ru-RU" sz="2800" dirty="0" smtClean="0"/>
              <a:t>её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00034" y="4000504"/>
            <a:ext cx="792961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Гнев может выражаться </a:t>
            </a:r>
            <a:r>
              <a:rPr lang="ru-RU" sz="2800" dirty="0" smtClean="0"/>
              <a:t>не только </a:t>
            </a:r>
            <a:r>
              <a:rPr lang="ru-RU" sz="2800" dirty="0"/>
              <a:t>в словах</a:t>
            </a:r>
            <a:r>
              <a:rPr lang="ru-RU" sz="2800" dirty="0" smtClean="0"/>
              <a:t>, человек, который испытывает гнев может  </a:t>
            </a:r>
            <a:r>
              <a:rPr lang="ru-RU" sz="2800" dirty="0"/>
              <a:t>причинить вред тому, кто этот гнев вызвал.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034" y="5429264"/>
            <a:ext cx="80010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70C0"/>
                </a:solidFill>
              </a:rPr>
              <a:t>Ярость </a:t>
            </a:r>
            <a:r>
              <a:rPr lang="ru-RU" sz="2800" dirty="0"/>
              <a:t>— это крайняя форма проявления гнева</a:t>
            </a:r>
          </a:p>
        </p:txBody>
      </p:sp>
    </p:spTree>
  </p:cSld>
  <p:clrMapOvr>
    <a:masterClrMapping/>
  </p:clrMapOvr>
  <p:transition advTm="13328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57224" y="928670"/>
            <a:ext cx="792961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ru-RU" sz="2800" b="1" dirty="0">
                <a:solidFill>
                  <a:srgbClr val="0070C0"/>
                </a:solidFill>
              </a:rPr>
              <a:t>Удивление и страх</a:t>
            </a:r>
          </a:p>
          <a:p>
            <a:r>
              <a:rPr lang="ru-RU" sz="2800" dirty="0"/>
              <a:t>     </a:t>
            </a:r>
            <a:r>
              <a:rPr lang="ru-RU" sz="2800" dirty="0">
                <a:solidFill>
                  <a:srgbClr val="0070C0"/>
                </a:solidFill>
              </a:rPr>
              <a:t>Удивление</a:t>
            </a:r>
            <a:r>
              <a:rPr lang="ru-RU" sz="2800" dirty="0"/>
              <a:t> — это самая кратковременная из всех эмоций, длящаяся не более нескольких секунд. Удивление мгновенно проходит, как только мы осознаем происходящее, и затем превращается в страх, радость, облегчение, гнев, отвращение и т. д. в зависимости от того, что нас удивило, или же после удивления может не наблюдаться никаких эмоций, если мы определим, что удивившее нас событие не имело для нас последствий</a:t>
            </a:r>
          </a:p>
        </p:txBody>
      </p:sp>
    </p:spTree>
  </p:cSld>
  <p:clrMapOvr>
    <a:masterClrMapping/>
  </p:clrMapOvr>
  <p:transition advTm="14812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14348" y="857232"/>
            <a:ext cx="800105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Известно множество эмоциональных расстройств, в которых страх играет главную </a:t>
            </a:r>
            <a:r>
              <a:rPr lang="ru-RU" sz="2800" dirty="0" err="1" smtClean="0"/>
              <a:t>роль.Фобии</a:t>
            </a:r>
            <a:r>
              <a:rPr lang="ru-RU" sz="2800" dirty="0" smtClean="0"/>
              <a:t> </a:t>
            </a:r>
            <a:r>
              <a:rPr lang="ru-RU" sz="2800" dirty="0"/>
              <a:t>относятся к числу наиболее очевидных и, возможно, самых известных: они характеризуются страхом перед абстрактными событиями или ситуациями, страхом смерти, страхом перед травмой, болезнью, кровопролитием, страхом перед животными, перед возможностью оказаться в переполненном людьми замкнутом помещении и т. п. </a:t>
            </a:r>
          </a:p>
        </p:txBody>
      </p:sp>
    </p:spTree>
  </p:cSld>
  <p:clrMapOvr>
    <a:masterClrMapping/>
  </p:clrMapOvr>
  <p:transition advTm="15953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7158" y="500042"/>
            <a:ext cx="80010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ru-RU" sz="2800" b="1" dirty="0">
                <a:solidFill>
                  <a:srgbClr val="0070C0"/>
                </a:solidFill>
              </a:rPr>
              <a:t>Отвращение и презрение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85720" y="1214422"/>
            <a:ext cx="835824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0070C0"/>
                </a:solidFill>
              </a:rPr>
              <a:t>Отвращение</a:t>
            </a:r>
            <a:r>
              <a:rPr lang="ru-RU" sz="2800" dirty="0"/>
              <a:t> не возникает как самостоятельная эмоция до достижения ребенком возраста от четырех до восьми лет. До этого возраста наблюдается неприязнь, отказ есть то, что имеет неприятный вкус, но не отвращение.</a:t>
            </a:r>
          </a:p>
        </p:txBody>
      </p:sp>
    </p:spTree>
  </p:cSld>
  <p:clrMapOvr>
    <a:masterClrMapping/>
  </p:clrMapOvr>
  <p:transition advTm="10109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71472" y="642918"/>
            <a:ext cx="807249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ahoma" pitchFamily="34" charset="0"/>
                <a:cs typeface="Tahoma" pitchFamily="34" charset="0"/>
              </a:rPr>
              <a:t>                                                                               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0034" y="285728"/>
            <a:ext cx="8286808" cy="49749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0070C0"/>
                </a:solidFill>
              </a:rPr>
              <a:t>Эмоции в работе педагога.</a:t>
            </a:r>
          </a:p>
          <a:p>
            <a:r>
              <a:rPr lang="ru-RU" sz="2800" dirty="0" smtClean="0"/>
              <a:t>Профессия педагога </a:t>
            </a:r>
            <a:r>
              <a:rPr lang="ru-RU" sz="2800" dirty="0" smtClean="0"/>
              <a:t>требует большой эмоциональной отдачи. Чтобы заинтересовать </a:t>
            </a:r>
            <a:r>
              <a:rPr lang="ru-RU" sz="2800" dirty="0" smtClean="0"/>
              <a:t>детей, </a:t>
            </a:r>
            <a:r>
              <a:rPr lang="ru-RU" sz="2800" dirty="0" smtClean="0"/>
              <a:t>увлечь </a:t>
            </a:r>
            <a:r>
              <a:rPr lang="ru-RU" sz="2800" dirty="0" smtClean="0"/>
              <a:t>их, </a:t>
            </a:r>
            <a:r>
              <a:rPr lang="ru-RU" sz="2800" dirty="0" smtClean="0"/>
              <a:t>объяснить материал доходчиво, педагогу нередко приходится быть еще и артистом. Эмоциональные педагоги обладают большим преимуществом по сравнению с неэмоциональными, потому что только им подвластно зажигать детские сердца и вести </a:t>
            </a:r>
            <a:r>
              <a:rPr lang="ru-RU" sz="2800" dirty="0" smtClean="0"/>
              <a:t>учеников </a:t>
            </a:r>
            <a:r>
              <a:rPr lang="ru-RU" sz="2800" dirty="0" smtClean="0"/>
              <a:t>или воспитанников детского сада за собой. </a:t>
            </a:r>
            <a:endParaRPr lang="ru-RU" sz="2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00034" y="5000636"/>
            <a:ext cx="814393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0070C0"/>
                </a:solidFill>
              </a:rPr>
              <a:t>Умение управлять своими эмоциями </a:t>
            </a:r>
            <a:r>
              <a:rPr lang="ru-RU" sz="2800" dirty="0" smtClean="0"/>
              <a:t>— важное профессиональное качество, которое необходимо вырабатывать любому педагогу. </a:t>
            </a:r>
            <a:endParaRPr lang="ru-RU" sz="2800" dirty="0"/>
          </a:p>
        </p:txBody>
      </p:sp>
    </p:spTree>
  </p:cSld>
  <p:clrMapOvr>
    <a:masterClrMapping/>
  </p:clrMapOvr>
  <p:transition advTm="20063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596" y="714356"/>
            <a:ext cx="82868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Эмоциональное </a:t>
            </a:r>
            <a:r>
              <a:rPr lang="ru-RU" sz="2800" dirty="0" smtClean="0"/>
              <a:t>состояние одного учителя, воспитателя «зажигает» десятки, сотни детей, находящихся рядом с ним в классе или в группе детского сада. И умение владеть собой необходимо не только самому педагогу, но и окружающим его детям.</a:t>
            </a:r>
            <a:endParaRPr lang="ru-RU" sz="28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00034" y="3500437"/>
            <a:ext cx="828680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Умение распознавать свои эмоции также необходимо педагогу для построения эффективного общения. Понимание собственных негативных эмоций учителем или воспитателем является первым шагом на пути управления ими и ситуации в целом.</a:t>
            </a:r>
            <a:endParaRPr lang="ru-RU" sz="2800" dirty="0"/>
          </a:p>
        </p:txBody>
      </p:sp>
    </p:spTree>
  </p:cSld>
  <p:clrMapOvr>
    <a:masterClrMapping/>
  </p:clrMapOvr>
  <p:transition advTm="18548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0034" y="2000240"/>
            <a:ext cx="792961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Если же педагог не уделяет должного внимания своему эмоциональному состоянию, возможен вариант возникновения такого эмоционального нарушения, как депрессия, гнев, </a:t>
            </a:r>
            <a:r>
              <a:rPr lang="ru-RU" sz="2800" dirty="0" smtClean="0"/>
              <a:t>беспокойство.</a:t>
            </a:r>
            <a:endParaRPr lang="ru-RU" sz="2800" dirty="0"/>
          </a:p>
        </p:txBody>
      </p:sp>
    </p:spTree>
  </p:cSld>
  <p:clrMapOvr>
    <a:masterClrMapping/>
  </p:clrMapOvr>
  <p:transition advTm="7906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596" y="1000109"/>
            <a:ext cx="814393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В современном цивилизованном обществе педагог является фигурой, которая требует особого внимания, и там, где его место занимают недостаточно профессионально подготовленные люди, в первую очередь страдают дети, причем потери, которые здесь возникают, обычно невосполнимы. Это требует от общества создания таких условий, чтобы среди учителей и воспитателей оказывались люди, которые наиболее подготовлены</a:t>
            </a:r>
            <a:r>
              <a:rPr lang="ru-RU" sz="2800" dirty="0" smtClean="0">
                <a:solidFill>
                  <a:srgbClr val="FF0000"/>
                </a:solidFill>
              </a:rPr>
              <a:t> интеллектуально и морально </a:t>
            </a:r>
            <a:r>
              <a:rPr lang="ru-RU" sz="2800" dirty="0" smtClean="0"/>
              <a:t>к работе с детьми, а это по плечу далеко не каждому человеку.</a:t>
            </a:r>
            <a:endParaRPr lang="ru-RU" sz="2800" dirty="0"/>
          </a:p>
        </p:txBody>
      </p:sp>
    </p:spTree>
  </p:cSld>
  <p:clrMapOvr>
    <a:masterClrMapping/>
  </p:clrMapOvr>
  <p:transition advTm="14922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rgbClr val="0070C0"/>
                </a:solidFill>
              </a:rPr>
              <a:t>Литература.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 err="1" smtClean="0"/>
              <a:t>Левитанов</a:t>
            </a:r>
            <a:r>
              <a:rPr lang="ru-RU" sz="2800" dirty="0" smtClean="0"/>
              <a:t> Н.Д. О психических состояниях человека. - М.:Просвещение,1964.с.324-327</a:t>
            </a:r>
          </a:p>
          <a:p>
            <a:pPr fontAlgn="t"/>
            <a:r>
              <a:rPr lang="ru-RU" sz="2800" dirty="0" smtClean="0"/>
              <a:t>Психологический словарь /под ред. В.П.Зинченко, Б.Г.Мещерякова - 2-е изд. </a:t>
            </a:r>
            <a:r>
              <a:rPr lang="ru-RU" sz="2800" dirty="0" err="1" smtClean="0"/>
              <a:t>Перераб</a:t>
            </a:r>
            <a:r>
              <a:rPr lang="ru-RU" sz="2800" dirty="0" smtClean="0"/>
              <a:t>. и доп. - М., 1996 - далее </a:t>
            </a:r>
            <a:r>
              <a:rPr lang="ru-RU" sz="2800" dirty="0" smtClean="0"/>
              <a:t>– ПС</a:t>
            </a:r>
          </a:p>
          <a:p>
            <a:pPr fontAlgn="t"/>
            <a:r>
              <a:rPr lang="ru-RU" sz="2800" dirty="0" smtClean="0"/>
              <a:t>Яновская М.Г. Эмоциональные аспекты нравственного воспитания. - М.: Просвещение,1986.-160с.</a:t>
            </a:r>
          </a:p>
          <a:p>
            <a:pPr fontAlgn="t"/>
            <a:endParaRPr lang="ru-RU" dirty="0"/>
          </a:p>
        </p:txBody>
      </p:sp>
    </p:spTree>
  </p:cSld>
  <p:clrMapOvr>
    <a:masterClrMapping/>
  </p:clrMapOvr>
  <p:transition advTm="5094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Моду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1316</Words>
  <Application>Microsoft Office PowerPoint</Application>
  <PresentationFormat>Экран (4:3)</PresentationFormat>
  <Paragraphs>80</Paragraphs>
  <Slides>27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Тема Office</vt:lpstr>
      <vt:lpstr>Презентация на тему: «Эмоции в структуре личности педагога»</vt:lpstr>
      <vt:lpstr>Основные понятия.</vt:lpstr>
      <vt:lpstr>Слайд 3</vt:lpstr>
      <vt:lpstr>Характеристики эмоций</vt:lpstr>
      <vt:lpstr>Функции эмоций.</vt:lpstr>
      <vt:lpstr>Слайд 6</vt:lpstr>
      <vt:lpstr>Теория дифференцированных эмоций К.Эзарда</vt:lpstr>
      <vt:lpstr>Критерии базовых эмоций.</vt:lpstr>
      <vt:lpstr> Базовые эмоции К. Эзарда</vt:lpstr>
      <vt:lpstr>Слайд 10</vt:lpstr>
      <vt:lpstr>Слайд 11</vt:lpstr>
      <vt:lpstr>Слайд 12</vt:lpstr>
      <vt:lpstr>Слайд 13</vt:lpstr>
      <vt:lpstr>Слайд 14</vt:lpstr>
      <vt:lpstr>Когда мы начинаем испытывать эмоции? П.Экман.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Литература.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alex</dc:creator>
  <cp:lastModifiedBy>alex</cp:lastModifiedBy>
  <cp:revision>15</cp:revision>
  <dcterms:created xsi:type="dcterms:W3CDTF">2017-12-06T04:48:03Z</dcterms:created>
  <dcterms:modified xsi:type="dcterms:W3CDTF">2017-12-09T05:34:29Z</dcterms:modified>
</cp:coreProperties>
</file>