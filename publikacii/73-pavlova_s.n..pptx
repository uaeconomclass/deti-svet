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72" r:id="rId14"/>
    <p:sldId id="268" r:id="rId15"/>
    <p:sldId id="269" r:id="rId16"/>
    <p:sldId id="271" r:id="rId1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109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Скругленный прямоугольник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10.11.2018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Прямоугольник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10.11.2018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Содержимое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Скругленный прямоугольник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10.11.2018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Прямоугольник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10.11.2018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Содержимое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10.11.2018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Содержимое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Содержимое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10.11.2018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10.11.2018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Скругленный прямоугольник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10.11.2018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10.11.2018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Прямоугольник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10.11.2018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10.11.2018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Скругленный прямоугольник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10.11.2018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286000" y="4149080"/>
            <a:ext cx="6172200" cy="2225842"/>
          </a:xfrm>
        </p:spPr>
        <p:txBody>
          <a:bodyPr>
            <a:normAutofit/>
          </a:bodyPr>
          <a:lstStyle/>
          <a:p>
            <a:pPr algn="r">
              <a:lnSpc>
                <a:spcPct val="100000"/>
              </a:lnSpc>
            </a:pPr>
            <a:r>
              <a:rPr lang="ru-RU" sz="2400" spc="50" dirty="0" smtClean="0">
                <a:ln w="0"/>
                <a:solidFill>
                  <a:srgbClr val="00206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Monotype Corsiva" pitchFamily="66" charset="0"/>
              </a:rPr>
              <a:t>Подготовила: воспитатель </a:t>
            </a:r>
            <a:br>
              <a:rPr lang="ru-RU" sz="2400" spc="50" dirty="0" smtClean="0">
                <a:ln w="0"/>
                <a:solidFill>
                  <a:srgbClr val="00206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Monotype Corsiva" pitchFamily="66" charset="0"/>
              </a:rPr>
            </a:br>
            <a:r>
              <a:rPr lang="ru-RU" sz="2400" spc="50" dirty="0" smtClean="0">
                <a:ln w="0"/>
                <a:solidFill>
                  <a:srgbClr val="00206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Monotype Corsiva" pitchFamily="66" charset="0"/>
              </a:rPr>
              <a:t>МБДОУ «Детский сад №33» </a:t>
            </a:r>
            <a:br>
              <a:rPr lang="ru-RU" sz="2400" spc="50" dirty="0" smtClean="0">
                <a:ln w="0"/>
                <a:solidFill>
                  <a:srgbClr val="00206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Monotype Corsiva" pitchFamily="66" charset="0"/>
              </a:rPr>
            </a:br>
            <a:r>
              <a:rPr lang="ru-RU" sz="2400" spc="50" dirty="0" smtClean="0">
                <a:ln w="0"/>
                <a:solidFill>
                  <a:srgbClr val="00206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Monotype Corsiva" pitchFamily="66" charset="0"/>
              </a:rPr>
              <a:t>Павлова Светлана Николаевна</a:t>
            </a:r>
            <a:endParaRPr lang="ru-RU" sz="2400" dirty="0">
              <a:solidFill>
                <a:srgbClr val="002060"/>
              </a:solidFill>
              <a:latin typeface="Cambria" panose="02040503050406030204" pitchFamily="18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39552" y="0"/>
            <a:ext cx="7134944" cy="3789040"/>
          </a:xfrm>
        </p:spPr>
        <p:txBody>
          <a:bodyPr>
            <a:noAutofit/>
          </a:bodyPr>
          <a:lstStyle/>
          <a:p>
            <a:pPr algn="ctr"/>
            <a:r>
              <a:rPr lang="ru-RU" sz="3600" i="1" dirty="0" smtClean="0">
                <a:solidFill>
                  <a:srgbClr val="002060"/>
                </a:solidFill>
                <a:latin typeface="Monotype Corsiva" pitchFamily="66" charset="0"/>
              </a:rPr>
              <a:t>       Проект </a:t>
            </a:r>
            <a:r>
              <a:rPr lang="ru-RU" sz="3600" i="1" dirty="0" smtClean="0">
                <a:solidFill>
                  <a:srgbClr val="002060"/>
                </a:solidFill>
                <a:latin typeface="Monotype Corsiva" pitchFamily="66" charset="0"/>
              </a:rPr>
              <a:t>по теме: </a:t>
            </a:r>
            <a:r>
              <a:rPr lang="ru-RU" sz="3600" i="1" dirty="0" smtClean="0">
                <a:solidFill>
                  <a:srgbClr val="C00000"/>
                </a:solidFill>
                <a:latin typeface="Monotype Corsiva" pitchFamily="66" charset="0"/>
              </a:rPr>
              <a:t/>
            </a:r>
            <a:br>
              <a:rPr lang="ru-RU" sz="3600" i="1" dirty="0" smtClean="0">
                <a:solidFill>
                  <a:srgbClr val="C00000"/>
                </a:solidFill>
                <a:latin typeface="Monotype Corsiva" pitchFamily="66" charset="0"/>
              </a:rPr>
            </a:br>
            <a:r>
              <a:rPr lang="ru-RU" sz="3600" i="1" dirty="0" smtClean="0">
                <a:solidFill>
                  <a:srgbClr val="C00000"/>
                </a:solidFill>
                <a:latin typeface="Monotype Corsiva" pitchFamily="66" charset="0"/>
              </a:rPr>
              <a:t> </a:t>
            </a:r>
            <a:br>
              <a:rPr lang="ru-RU" sz="3600" i="1" dirty="0" smtClean="0">
                <a:solidFill>
                  <a:srgbClr val="C00000"/>
                </a:solidFill>
                <a:latin typeface="Monotype Corsiva" pitchFamily="66" charset="0"/>
              </a:rPr>
            </a:br>
            <a:r>
              <a:rPr lang="ru-RU" sz="3600" i="1" dirty="0" smtClean="0">
                <a:solidFill>
                  <a:srgbClr val="002060"/>
                </a:solidFill>
                <a:latin typeface="Monotype Corsiva" pitchFamily="66" charset="0"/>
              </a:rPr>
              <a:t>   «</a:t>
            </a:r>
            <a:r>
              <a:rPr lang="ru-RU" sz="3600" i="1" dirty="0" smtClean="0">
                <a:solidFill>
                  <a:srgbClr val="002060"/>
                </a:solidFill>
                <a:latin typeface="Monotype Corsiva" pitchFamily="66" charset="0"/>
              </a:rPr>
              <a:t>Сохраним ёлочку – </a:t>
            </a:r>
            <a:r>
              <a:rPr lang="ru-RU" sz="3600" i="1" dirty="0" smtClean="0">
                <a:solidFill>
                  <a:srgbClr val="002060"/>
                </a:solidFill>
                <a:latin typeface="Monotype Corsiva" pitchFamily="66" charset="0"/>
              </a:rPr>
              <a:t>   красавицу      наших </a:t>
            </a:r>
            <a:r>
              <a:rPr lang="ru-RU" sz="3600" i="1" dirty="0" smtClean="0">
                <a:solidFill>
                  <a:srgbClr val="002060"/>
                </a:solidFill>
                <a:latin typeface="Monotype Corsiva" pitchFamily="66" charset="0"/>
              </a:rPr>
              <a:t>лесов»</a:t>
            </a:r>
            <a:endParaRPr lang="ru-RU" sz="36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b="1" u="sng" dirty="0" smtClean="0">
                <a:solidFill>
                  <a:srgbClr val="002060"/>
                </a:solidFill>
                <a:latin typeface="Monotype Corsiva" pitchFamily="66" charset="0"/>
              </a:rPr>
              <a:t>Вид </a:t>
            </a:r>
            <a:r>
              <a:rPr lang="ru-RU" sz="2800" b="1" u="sng" dirty="0" smtClean="0">
                <a:solidFill>
                  <a:srgbClr val="002060"/>
                </a:solidFill>
                <a:latin typeface="Monotype Corsiva" pitchFamily="66" charset="0"/>
              </a:rPr>
              <a:t>проекта: </a:t>
            </a:r>
            <a:r>
              <a:rPr lang="ru-RU" sz="2800" dirty="0" err="1" smtClean="0">
                <a:solidFill>
                  <a:srgbClr val="002060"/>
                </a:solidFill>
                <a:latin typeface="Monotype Corsiva" pitchFamily="66" charset="0"/>
              </a:rPr>
              <a:t>творческо</a:t>
            </a:r>
            <a:r>
              <a:rPr lang="ru-RU" sz="2800" dirty="0" smtClean="0">
                <a:solidFill>
                  <a:srgbClr val="002060"/>
                </a:solidFill>
                <a:latin typeface="Monotype Corsiva" pitchFamily="66" charset="0"/>
              </a:rPr>
              <a:t> - познавательный</a:t>
            </a:r>
            <a:endParaRPr lang="ru-RU" sz="2800" dirty="0">
              <a:solidFill>
                <a:srgbClr val="002060"/>
              </a:solidFill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ru-RU" sz="2800" b="1" u="sng" dirty="0" smtClean="0">
                <a:solidFill>
                  <a:srgbClr val="002060"/>
                </a:solidFill>
                <a:latin typeface="Monotype Corsiva" pitchFamily="66" charset="0"/>
              </a:rPr>
              <a:t>Продолжительность проекта</a:t>
            </a:r>
            <a:r>
              <a:rPr lang="ru-RU" sz="2800" dirty="0" smtClean="0">
                <a:solidFill>
                  <a:srgbClr val="002060"/>
                </a:solidFill>
                <a:latin typeface="Monotype Corsiva" pitchFamily="66" charset="0"/>
              </a:rPr>
              <a:t>:</a:t>
            </a:r>
            <a:r>
              <a:rPr lang="ru-RU" sz="2800" dirty="0" smtClean="0">
                <a:solidFill>
                  <a:srgbClr val="002060"/>
                </a:solidFill>
              </a:rPr>
              <a:t> </a:t>
            </a:r>
            <a:r>
              <a:rPr lang="ru-RU" sz="2800" b="0" dirty="0" smtClean="0">
                <a:solidFill>
                  <a:srgbClr val="002060"/>
                </a:solidFill>
                <a:latin typeface="Monotype Corsiva" pitchFamily="66" charset="0"/>
              </a:rPr>
              <a:t>краткосрочный </a:t>
            </a:r>
            <a:endParaRPr lang="ru-RU" sz="2800" b="0" dirty="0" smtClean="0">
              <a:solidFill>
                <a:srgbClr val="002060"/>
              </a:solidFill>
              <a:latin typeface="Monotype Corsiva" pitchFamily="66" charset="0"/>
            </a:endParaRPr>
          </a:p>
          <a:p>
            <a:r>
              <a:rPr lang="ru-RU" sz="2800" b="0" dirty="0" smtClean="0">
                <a:solidFill>
                  <a:srgbClr val="002060"/>
                </a:solidFill>
                <a:latin typeface="Monotype Corsiva" pitchFamily="66" charset="0"/>
              </a:rPr>
              <a:t>(</a:t>
            </a:r>
            <a:r>
              <a:rPr lang="ru-RU" sz="2800" b="0" dirty="0" smtClean="0">
                <a:solidFill>
                  <a:srgbClr val="002060"/>
                </a:solidFill>
                <a:latin typeface="Monotype Corsiva" pitchFamily="66" charset="0"/>
              </a:rPr>
              <a:t>2 недели)  </a:t>
            </a:r>
            <a:r>
              <a:rPr lang="ru-RU" sz="2800" b="0" dirty="0" smtClean="0">
                <a:solidFill>
                  <a:srgbClr val="002060"/>
                </a:solidFill>
                <a:latin typeface="Monotype Corsiva" pitchFamily="66" charset="0"/>
              </a:rPr>
              <a:t>С </a:t>
            </a:r>
            <a:r>
              <a:rPr lang="ru-RU" sz="2800" b="0" dirty="0" smtClean="0">
                <a:solidFill>
                  <a:srgbClr val="002060"/>
                </a:solidFill>
                <a:latin typeface="Monotype Corsiva" pitchFamily="66" charset="0"/>
              </a:rPr>
              <a:t>16 декабря  по 30 декабря</a:t>
            </a:r>
            <a:endParaRPr lang="ru-RU" sz="2800" b="0" dirty="0">
              <a:solidFill>
                <a:srgbClr val="002060"/>
              </a:solidFill>
              <a:latin typeface="Monotype Corsiva" pitchFamily="66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b="1" u="sng" dirty="0" smtClean="0">
                <a:solidFill>
                  <a:srgbClr val="002060"/>
                </a:solidFill>
                <a:latin typeface="Monotype Corsiva" pitchFamily="66" charset="0"/>
              </a:rPr>
              <a:t>Участники проекта: </a:t>
            </a:r>
            <a:br>
              <a:rPr lang="ru-RU" sz="2800" b="1" u="sng" dirty="0" smtClean="0">
                <a:solidFill>
                  <a:srgbClr val="002060"/>
                </a:solidFill>
                <a:latin typeface="Monotype Corsiva" pitchFamily="66" charset="0"/>
              </a:rPr>
            </a:br>
            <a:endParaRPr lang="ru-RU" sz="280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514350" indent="-514350">
              <a:buFont typeface="Arial" pitchFamily="34" charset="0"/>
              <a:buChar char="•"/>
            </a:pPr>
            <a:r>
              <a:rPr lang="ru-RU" sz="2800" dirty="0" smtClean="0">
                <a:solidFill>
                  <a:srgbClr val="002060"/>
                </a:solidFill>
                <a:latin typeface="Monotype Corsiva" pitchFamily="66" charset="0"/>
              </a:rPr>
              <a:t>Дети </a:t>
            </a:r>
          </a:p>
          <a:p>
            <a:pPr marL="514350" indent="-514350">
              <a:buFont typeface="Arial" pitchFamily="34" charset="0"/>
              <a:buChar char="•"/>
            </a:pPr>
            <a:r>
              <a:rPr lang="ru-RU" sz="2800" dirty="0" smtClean="0">
                <a:solidFill>
                  <a:srgbClr val="002060"/>
                </a:solidFill>
                <a:latin typeface="Monotype Corsiva" pitchFamily="66" charset="0"/>
              </a:rPr>
              <a:t>Родители</a:t>
            </a:r>
          </a:p>
          <a:p>
            <a:pPr marL="514350" indent="-514350">
              <a:buFont typeface="Arial" pitchFamily="34" charset="0"/>
              <a:buChar char="•"/>
            </a:pPr>
            <a:r>
              <a:rPr lang="ru-RU" sz="2800" dirty="0" smtClean="0">
                <a:solidFill>
                  <a:srgbClr val="002060"/>
                </a:solidFill>
                <a:latin typeface="Monotype Corsiva" pitchFamily="66" charset="0"/>
              </a:rPr>
              <a:t>Воспитатели</a:t>
            </a:r>
            <a:endParaRPr lang="ru-RU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b="1" u="sng" dirty="0" smtClean="0">
                <a:solidFill>
                  <a:srgbClr val="002060"/>
                </a:solidFill>
                <a:latin typeface="Monotype Corsiva" pitchFamily="66" charset="0"/>
              </a:rPr>
              <a:t>Образовательные области:</a:t>
            </a:r>
            <a:endParaRPr lang="ru-RU" sz="280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71600" y="2636912"/>
            <a:ext cx="7200800" cy="1914326"/>
          </a:xfrm>
        </p:spPr>
        <p:txBody>
          <a:bodyPr anchor="t">
            <a:normAutofit fontScale="92500" lnSpcReduction="20000"/>
          </a:bodyPr>
          <a:lstStyle/>
          <a:p>
            <a:pPr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endParaRPr lang="ru-RU" sz="2800" dirty="0" smtClean="0">
              <a:solidFill>
                <a:srgbClr val="002060"/>
              </a:solidFill>
              <a:latin typeface="Monotype Corsiva" pitchFamily="66" charset="0"/>
              <a:ea typeface="Times New Roman" pitchFamily="18" charset="0"/>
              <a:cs typeface="Times New Roman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tabLst>
                <a:tab pos="457200" algn="l"/>
              </a:tabLst>
            </a:pPr>
            <a:r>
              <a:rPr lang="ru-RU" sz="3000" dirty="0" smtClean="0">
                <a:solidFill>
                  <a:srgbClr val="002060"/>
                </a:solidFill>
                <a:latin typeface="Monotype Corsiva" pitchFamily="66" charset="0"/>
                <a:ea typeface="Times New Roman" pitchFamily="18" charset="0"/>
                <a:cs typeface="Times New Roman" pitchFamily="18" charset="0"/>
              </a:rPr>
              <a:t>социально-коммуникативное </a:t>
            </a:r>
            <a:r>
              <a:rPr lang="ru-RU" sz="3000" dirty="0" smtClean="0">
                <a:solidFill>
                  <a:srgbClr val="002060"/>
                </a:solidFill>
                <a:latin typeface="Monotype Corsiva" pitchFamily="66" charset="0"/>
                <a:ea typeface="Times New Roman" pitchFamily="18" charset="0"/>
                <a:cs typeface="Times New Roman" pitchFamily="18" charset="0"/>
              </a:rPr>
              <a:t>развитие;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tabLst>
                <a:tab pos="457200" algn="l"/>
              </a:tabLst>
            </a:pPr>
            <a:r>
              <a:rPr lang="ru-RU" sz="3000" dirty="0" smtClean="0">
                <a:solidFill>
                  <a:srgbClr val="002060"/>
                </a:solidFill>
                <a:latin typeface="Monotype Corsiva" pitchFamily="66" charset="0"/>
                <a:ea typeface="Times New Roman" pitchFamily="18" charset="0"/>
                <a:cs typeface="Times New Roman" pitchFamily="18" charset="0"/>
              </a:rPr>
              <a:t>познавательное  развитие;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tabLst>
                <a:tab pos="457200" algn="l"/>
              </a:tabLst>
            </a:pPr>
            <a:r>
              <a:rPr lang="ru-RU" sz="3000" dirty="0" smtClean="0">
                <a:solidFill>
                  <a:srgbClr val="002060"/>
                </a:solidFill>
                <a:latin typeface="Monotype Corsiva" pitchFamily="66" charset="0"/>
                <a:ea typeface="Times New Roman" pitchFamily="18" charset="0"/>
                <a:cs typeface="Times New Roman" pitchFamily="18" charset="0"/>
              </a:rPr>
              <a:t>речевое </a:t>
            </a:r>
            <a:r>
              <a:rPr lang="ru-RU" sz="3000" dirty="0" smtClean="0">
                <a:solidFill>
                  <a:srgbClr val="002060"/>
                </a:solidFill>
                <a:latin typeface="Monotype Corsiva" pitchFamily="66" charset="0"/>
                <a:ea typeface="Times New Roman" pitchFamily="18" charset="0"/>
                <a:cs typeface="Times New Roman" pitchFamily="18" charset="0"/>
              </a:rPr>
              <a:t>развитие</a:t>
            </a:r>
          </a:p>
          <a:p>
            <a:pPr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r>
              <a:rPr lang="ru-RU" sz="3000" dirty="0" smtClean="0">
                <a:solidFill>
                  <a:srgbClr val="002060"/>
                </a:solidFill>
                <a:latin typeface="Monotype Corsiva" pitchFamily="66" charset="0"/>
                <a:ea typeface="Times New Roman" pitchFamily="18" charset="0"/>
                <a:cs typeface="Times New Roman" pitchFamily="18" charset="0"/>
              </a:rPr>
              <a:t>художественно-эстетическое </a:t>
            </a:r>
            <a:r>
              <a:rPr lang="ru-RU" sz="3000" dirty="0" smtClean="0">
                <a:solidFill>
                  <a:srgbClr val="002060"/>
                </a:solidFill>
                <a:latin typeface="Monotype Corsiva" pitchFamily="66" charset="0"/>
                <a:ea typeface="Times New Roman" pitchFamily="18" charset="0"/>
                <a:cs typeface="Times New Roman" pitchFamily="18" charset="0"/>
              </a:rPr>
              <a:t>развитие</a:t>
            </a:r>
            <a:endParaRPr lang="ru-RU" sz="3000" dirty="0" smtClean="0">
              <a:solidFill>
                <a:srgbClr val="002060"/>
              </a:solidFill>
              <a:latin typeface="Monotype Corsiva" pitchFamily="66" charset="0"/>
              <a:ea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b="1" u="sng" dirty="0" smtClean="0">
                <a:solidFill>
                  <a:srgbClr val="002060"/>
                </a:solidFill>
                <a:latin typeface="Monotype Corsiva" pitchFamily="66" charset="0"/>
              </a:rPr>
              <a:t>Актуальность проекта :</a:t>
            </a:r>
            <a:endParaRPr lang="ru-RU" sz="280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401342"/>
          </a:xfrm>
        </p:spPr>
        <p:txBody>
          <a:bodyPr>
            <a:noAutofit/>
          </a:bodyPr>
          <a:lstStyle/>
          <a:p>
            <a:pPr algn="just"/>
            <a:r>
              <a:rPr lang="ru-RU" sz="2800" dirty="0" smtClean="0">
                <a:solidFill>
                  <a:srgbClr val="002060"/>
                </a:solidFill>
                <a:latin typeface="Monotype Corsiva" pitchFamily="66" charset="0"/>
              </a:rPr>
              <a:t>Все любят Новый Год, всем нравится встречать праздник с ёлочкой, ведь именно на её долю «выпала честь» украшать новогодние торжества, но никто не задумывается о том, какую пользу приносит дерево человеку. Поэтому мы, взрослые, должны рассказать о пользе ели для людей, животного и растительного мира. Предоставить детям возможность сделать своими руками альтернативу живой ели – искусственную ёлочку. </a:t>
            </a:r>
            <a:endParaRPr lang="ru-RU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b="1" u="sng" dirty="0" smtClean="0">
                <a:solidFill>
                  <a:srgbClr val="002060"/>
                </a:solidFill>
                <a:latin typeface="Monotype Corsiva" pitchFamily="66" charset="0"/>
              </a:rPr>
              <a:t>Цель проекта:</a:t>
            </a:r>
            <a:endParaRPr lang="ru-RU" sz="280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>
              <a:buFont typeface="Arial" pitchFamily="34" charset="0"/>
              <a:buChar char="•"/>
            </a:pPr>
            <a:r>
              <a:rPr lang="ru-RU" sz="2800" dirty="0" smtClean="0">
                <a:solidFill>
                  <a:srgbClr val="002060"/>
                </a:solidFill>
                <a:latin typeface="Monotype Corsiva" pitchFamily="66" charset="0"/>
              </a:rPr>
              <a:t>Воспитывать бережное отношение к природе; </a:t>
            </a:r>
          </a:p>
          <a:p>
            <a:pPr>
              <a:buFont typeface="Arial" pitchFamily="34" charset="0"/>
              <a:buChar char="•"/>
            </a:pPr>
            <a:r>
              <a:rPr lang="ru-RU" sz="2800" dirty="0" smtClean="0">
                <a:solidFill>
                  <a:srgbClr val="002060"/>
                </a:solidFill>
                <a:latin typeface="Monotype Corsiva" pitchFamily="66" charset="0"/>
              </a:rPr>
              <a:t>Развивать наблюдательность, познавательную активность, творческие способности детей;</a:t>
            </a:r>
          </a:p>
          <a:p>
            <a:pPr>
              <a:buFont typeface="Arial" pitchFamily="34" charset="0"/>
              <a:buChar char="•"/>
            </a:pPr>
            <a:r>
              <a:rPr lang="ru-RU" sz="2800" dirty="0" smtClean="0">
                <a:solidFill>
                  <a:srgbClr val="002060"/>
                </a:solidFill>
                <a:latin typeface="Monotype Corsiva" pitchFamily="66" charset="0"/>
              </a:rPr>
              <a:t>Приобщать родителей к жизни группы. </a:t>
            </a:r>
            <a:endParaRPr lang="ru-RU" sz="2800" dirty="0">
              <a:solidFill>
                <a:srgbClr val="002060"/>
              </a:solidFill>
              <a:latin typeface="Monotype Corsiva" pitchFamily="66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b="1" u="sng" dirty="0" smtClean="0">
                <a:solidFill>
                  <a:srgbClr val="002060"/>
                </a:solidFill>
                <a:latin typeface="Monotype Corsiva" pitchFamily="66" charset="0"/>
              </a:rPr>
              <a:t>Задачи проекта:</a:t>
            </a:r>
            <a:endParaRPr lang="ru-RU" sz="280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>
              <a:buFont typeface="Arial" pitchFamily="34" charset="0"/>
              <a:buChar char="•"/>
            </a:pPr>
            <a:r>
              <a:rPr lang="ru-RU" sz="2800" dirty="0" smtClean="0">
                <a:solidFill>
                  <a:srgbClr val="002060"/>
                </a:solidFill>
                <a:latin typeface="Monotype Corsiva" pitchFamily="66" charset="0"/>
              </a:rPr>
              <a:t>Расширять представления о дереве – ели, и её пользе для человека;  </a:t>
            </a:r>
          </a:p>
          <a:p>
            <a:pPr>
              <a:buFont typeface="Arial" pitchFamily="34" charset="0"/>
              <a:buChar char="•"/>
            </a:pPr>
            <a:r>
              <a:rPr lang="ru-RU" sz="2800" dirty="0" smtClean="0">
                <a:solidFill>
                  <a:srgbClr val="002060"/>
                </a:solidFill>
                <a:latin typeface="Monotype Corsiva" pitchFamily="66" charset="0"/>
              </a:rPr>
              <a:t>Развивать желание познавать новое, расширять кругозор детей. </a:t>
            </a:r>
          </a:p>
          <a:p>
            <a:pPr>
              <a:buFont typeface="Arial" pitchFamily="34" charset="0"/>
              <a:buChar char="•"/>
            </a:pPr>
            <a:r>
              <a:rPr lang="ru-RU" sz="2800" dirty="0" smtClean="0">
                <a:solidFill>
                  <a:srgbClr val="002060"/>
                </a:solidFill>
                <a:latin typeface="Monotype Corsiva" pitchFamily="66" charset="0"/>
              </a:rPr>
              <a:t>Рассказать о грамотном поведении человека в природе. </a:t>
            </a:r>
          </a:p>
          <a:p>
            <a:pPr>
              <a:buFont typeface="Arial" pitchFamily="34" charset="0"/>
              <a:buChar char="•"/>
            </a:pPr>
            <a:r>
              <a:rPr lang="ru-RU" sz="2800" dirty="0" smtClean="0">
                <a:solidFill>
                  <a:srgbClr val="002060"/>
                </a:solidFill>
                <a:latin typeface="Monotype Corsiva" pitchFamily="66" charset="0"/>
              </a:rPr>
              <a:t>Установить, нужны ли искусственные ели и можно ли сделать их своими руками. </a:t>
            </a:r>
          </a:p>
          <a:p>
            <a:pPr>
              <a:buFont typeface="Arial" pitchFamily="34" charset="0"/>
              <a:buChar char="•"/>
            </a:pPr>
            <a:r>
              <a:rPr lang="ru-RU" sz="2800" dirty="0" smtClean="0">
                <a:solidFill>
                  <a:srgbClr val="002060"/>
                </a:solidFill>
                <a:latin typeface="Monotype Corsiva" pitchFamily="66" charset="0"/>
              </a:rPr>
              <a:t>Организовать совместную деятельность воспитателя, детей и родителей</a:t>
            </a:r>
            <a:r>
              <a:rPr lang="ru-RU" sz="2800" dirty="0" smtClean="0"/>
              <a:t>. </a:t>
            </a:r>
            <a:endParaRPr lang="ru-RU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b="1" u="sng" dirty="0" smtClean="0">
                <a:solidFill>
                  <a:srgbClr val="002060"/>
                </a:solidFill>
                <a:latin typeface="Monotype Corsiva" pitchFamily="66" charset="0"/>
                <a:ea typeface="Times New Roman" pitchFamily="18" charset="0"/>
                <a:cs typeface="Times New Roman" pitchFamily="18" charset="0"/>
              </a:rPr>
              <a:t>Прогнозируемый результат</a:t>
            </a:r>
            <a:r>
              <a:rPr lang="ru-RU" sz="2800" u="sng" dirty="0" smtClean="0">
                <a:solidFill>
                  <a:srgbClr val="002060"/>
                </a:solidFill>
                <a:latin typeface="Monotype Corsiva" pitchFamily="66" charset="0"/>
                <a:ea typeface="Times New Roman" pitchFamily="18" charset="0"/>
                <a:cs typeface="Times New Roman" pitchFamily="18" charset="0"/>
              </a:rPr>
              <a:t>:</a:t>
            </a:r>
            <a:endParaRPr lang="ru-RU" sz="280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185318"/>
          </a:xfrm>
        </p:spPr>
        <p:txBody>
          <a:bodyPr>
            <a:normAutofit lnSpcReduction="10000"/>
          </a:bodyPr>
          <a:lstStyle/>
          <a:p>
            <a:pPr>
              <a:buFont typeface="Arial" pitchFamily="34" charset="0"/>
              <a:buChar char="•"/>
            </a:pPr>
            <a:r>
              <a:rPr lang="ru-RU" sz="2800" dirty="0" smtClean="0">
                <a:solidFill>
                  <a:srgbClr val="002060"/>
                </a:solidFill>
                <a:latin typeface="Monotype Corsiva" pitchFamily="66" charset="0"/>
              </a:rPr>
              <a:t>Проявление </a:t>
            </a:r>
            <a:r>
              <a:rPr lang="ru-RU" sz="2800" dirty="0" smtClean="0">
                <a:solidFill>
                  <a:srgbClr val="002060"/>
                </a:solidFill>
                <a:latin typeface="Monotype Corsiva" pitchFamily="66" charset="0"/>
              </a:rPr>
              <a:t>элементарного интереса к познанию окружающего </a:t>
            </a:r>
            <a:r>
              <a:rPr lang="ru-RU" sz="2800" dirty="0" smtClean="0">
                <a:solidFill>
                  <a:srgbClr val="002060"/>
                </a:solidFill>
                <a:latin typeface="Monotype Corsiva" pitchFamily="66" charset="0"/>
              </a:rPr>
              <a:t>мира;</a:t>
            </a:r>
            <a:endParaRPr lang="ru-RU" sz="2800" dirty="0" smtClean="0">
              <a:solidFill>
                <a:srgbClr val="002060"/>
              </a:solidFill>
              <a:latin typeface="Monotype Corsiva" pitchFamily="66" charset="0"/>
            </a:endParaRPr>
          </a:p>
          <a:p>
            <a:pPr>
              <a:buFont typeface="Arial" pitchFamily="34" charset="0"/>
              <a:buChar char="•"/>
            </a:pPr>
            <a:r>
              <a:rPr lang="ru-RU" sz="2800" dirty="0" smtClean="0">
                <a:solidFill>
                  <a:srgbClr val="002060"/>
                </a:solidFill>
                <a:latin typeface="Monotype Corsiva" pitchFamily="66" charset="0"/>
              </a:rPr>
              <a:t>Формирование экологической культуры;</a:t>
            </a:r>
          </a:p>
          <a:p>
            <a:pPr>
              <a:buFont typeface="Arial" pitchFamily="34" charset="0"/>
              <a:buChar char="•"/>
            </a:pPr>
            <a:r>
              <a:rPr lang="ru-RU" sz="2800" dirty="0" smtClean="0">
                <a:solidFill>
                  <a:srgbClr val="002060"/>
                </a:solidFill>
                <a:latin typeface="Monotype Corsiva" pitchFamily="66" charset="0"/>
              </a:rPr>
              <a:t>Формирование </a:t>
            </a:r>
            <a:r>
              <a:rPr lang="ru-RU" sz="2800" dirty="0" smtClean="0">
                <a:solidFill>
                  <a:srgbClr val="002060"/>
                </a:solidFill>
                <a:latin typeface="Monotype Corsiva" pitchFamily="66" charset="0"/>
              </a:rPr>
              <a:t>желания продлить жизнь ёлочке, изготовить искусственные. </a:t>
            </a:r>
          </a:p>
          <a:p>
            <a:pPr>
              <a:buFont typeface="Arial" pitchFamily="34" charset="0"/>
              <a:buChar char="•"/>
            </a:pPr>
            <a:r>
              <a:rPr lang="ru-RU" sz="2800" dirty="0" smtClean="0">
                <a:solidFill>
                  <a:srgbClr val="002060"/>
                </a:solidFill>
                <a:latin typeface="Monotype Corsiva" pitchFamily="66" charset="0"/>
              </a:rPr>
              <a:t>Заинтересованность </a:t>
            </a:r>
            <a:r>
              <a:rPr lang="ru-RU" sz="2800" dirty="0" smtClean="0">
                <a:solidFill>
                  <a:srgbClr val="002060"/>
                </a:solidFill>
                <a:latin typeface="Monotype Corsiva" pitchFamily="66" charset="0"/>
              </a:rPr>
              <a:t>и сотрудничество родителей, как участников педагогического процесса. </a:t>
            </a:r>
          </a:p>
          <a:p>
            <a:endParaRPr lang="ru-RU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b="1" i="1" u="sng" dirty="0" smtClean="0">
                <a:solidFill>
                  <a:srgbClr val="002060"/>
                </a:solidFill>
                <a:latin typeface="Monotype Corsiva" pitchFamily="66" charset="0"/>
                <a:ea typeface="Times New Roman" pitchFamily="18" charset="0"/>
                <a:cs typeface="Times New Roman" pitchFamily="18" charset="0"/>
              </a:rPr>
              <a:t>Предварительная работа:</a:t>
            </a:r>
            <a:endParaRPr lang="ru-RU" sz="280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761382"/>
          </a:xfrm>
        </p:spPr>
        <p:txBody>
          <a:bodyPr>
            <a:noAutofit/>
          </a:bodyPr>
          <a:lstStyle/>
          <a:p>
            <a:pPr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r>
              <a:rPr lang="ru-RU" dirty="0" smtClean="0">
                <a:solidFill>
                  <a:srgbClr val="002060"/>
                </a:solidFill>
                <a:latin typeface="Monotype Corsiva" pitchFamily="66" charset="0"/>
                <a:ea typeface="Times New Roman" pitchFamily="18" charset="0"/>
                <a:cs typeface="Times New Roman" pitchFamily="18" charset="0"/>
              </a:rPr>
              <a:t>Подбор иллюстративного материала: картин, фото, открыток;</a:t>
            </a:r>
          </a:p>
          <a:p>
            <a:pPr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r>
              <a:rPr lang="ru-RU" dirty="0" smtClean="0">
                <a:solidFill>
                  <a:srgbClr val="002060"/>
                </a:solidFill>
                <a:latin typeface="Monotype Corsiva" pitchFamily="66" charset="0"/>
                <a:ea typeface="Times New Roman" pitchFamily="18" charset="0"/>
                <a:cs typeface="Times New Roman" pitchFamily="18" charset="0"/>
              </a:rPr>
              <a:t>Подбор методической литературы, художественной литературы для чтения, загадок по теме, аудиозаписей.</a:t>
            </a:r>
          </a:p>
          <a:p>
            <a:pPr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tabLst>
                <a:tab pos="457200" algn="l"/>
              </a:tabLst>
            </a:pPr>
            <a:r>
              <a:rPr lang="ru-RU" dirty="0" smtClean="0">
                <a:solidFill>
                  <a:srgbClr val="002060"/>
                </a:solidFill>
                <a:latin typeface="Monotype Corsiva" pitchFamily="66" charset="0"/>
              </a:rPr>
              <a:t>Разработка занятий по теме;</a:t>
            </a:r>
          </a:p>
          <a:p>
            <a:pPr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r>
              <a:rPr lang="ru-RU" dirty="0" smtClean="0">
                <a:solidFill>
                  <a:srgbClr val="002060"/>
                </a:solidFill>
                <a:latin typeface="Monotype Corsiva" pitchFamily="66" charset="0"/>
              </a:rPr>
              <a:t>Оформление папки-передвижки  с планом работы по проекту для родителей;</a:t>
            </a:r>
          </a:p>
          <a:p>
            <a:pPr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r>
              <a:rPr lang="ru-RU" dirty="0" smtClean="0">
                <a:solidFill>
                  <a:srgbClr val="002060"/>
                </a:solidFill>
                <a:latin typeface="Monotype Corsiva" pitchFamily="66" charset="0"/>
              </a:rPr>
              <a:t>Получение </a:t>
            </a:r>
            <a:r>
              <a:rPr lang="ru-RU" dirty="0" smtClean="0">
                <a:solidFill>
                  <a:srgbClr val="002060"/>
                </a:solidFill>
                <a:latin typeface="Monotype Corsiva" pitchFamily="66" charset="0"/>
              </a:rPr>
              <a:t>письма от большой ели. Беседа по прочитанному письму;</a:t>
            </a:r>
          </a:p>
          <a:p>
            <a:pPr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r>
              <a:rPr lang="ru-RU" dirty="0" smtClean="0">
                <a:solidFill>
                  <a:srgbClr val="002060"/>
                </a:solidFill>
                <a:latin typeface="Monotype Corsiva" pitchFamily="66" charset="0"/>
              </a:rPr>
              <a:t>Ситуация общения с детьми «Зачем нужны ели в лесу» с целью </a:t>
            </a:r>
            <a:r>
              <a:rPr lang="ru-RU" dirty="0" smtClean="0">
                <a:solidFill>
                  <a:srgbClr val="002060"/>
                </a:solidFill>
                <a:latin typeface="Monotype Corsiva" pitchFamily="66" charset="0"/>
              </a:rPr>
              <a:t> выяснить </a:t>
            </a:r>
            <a:r>
              <a:rPr lang="ru-RU" dirty="0" smtClean="0">
                <a:solidFill>
                  <a:srgbClr val="002060"/>
                </a:solidFill>
                <a:latin typeface="Monotype Corsiva" pitchFamily="66" charset="0"/>
              </a:rPr>
              <a:t>представления детей и заинтересовать проблемой.</a:t>
            </a:r>
            <a:br>
              <a:rPr lang="ru-RU" dirty="0" smtClean="0">
                <a:solidFill>
                  <a:srgbClr val="002060"/>
                </a:solidFill>
                <a:latin typeface="Monotype Corsiva" pitchFamily="66" charset="0"/>
              </a:rPr>
            </a:br>
            <a:endParaRPr lang="ru-RU" dirty="0">
              <a:solidFill>
                <a:srgbClr val="002060"/>
              </a:solidFill>
              <a:latin typeface="Monotype Corsiva" pitchFamily="66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b="1" i="1" u="sng" dirty="0" smtClean="0">
                <a:solidFill>
                  <a:srgbClr val="002060"/>
                </a:solidFill>
                <a:latin typeface="Monotype Corsiva" pitchFamily="66" charset="0"/>
                <a:ea typeface="Times New Roman" pitchFamily="18" charset="0"/>
                <a:cs typeface="Times New Roman" pitchFamily="18" charset="0"/>
              </a:rPr>
              <a:t>Работа с родителями:</a:t>
            </a:r>
            <a:endParaRPr lang="ru-RU" sz="280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833390"/>
          </a:xfrm>
        </p:spPr>
        <p:txBody>
          <a:bodyPr>
            <a:normAutofit fontScale="25000" lnSpcReduction="20000"/>
          </a:bodyPr>
          <a:lstStyle/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endParaRPr lang="ru-RU" sz="2800" dirty="0" smtClean="0">
              <a:solidFill>
                <a:srgbClr val="002060"/>
              </a:solidFill>
              <a:latin typeface="Monotype Corsiva" pitchFamily="66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r>
              <a:rPr lang="ru-RU" sz="11200" dirty="0" smtClean="0">
                <a:solidFill>
                  <a:srgbClr val="002060"/>
                </a:solidFill>
                <a:latin typeface="Monotype Corsiva" pitchFamily="66" charset="0"/>
                <a:ea typeface="Times New Roman" pitchFamily="18" charset="0"/>
                <a:cs typeface="Times New Roman" pitchFamily="18" charset="0"/>
              </a:rPr>
              <a:t>Ознакомление родителей с целями и задачами проекта</a:t>
            </a:r>
            <a:r>
              <a:rPr lang="ru-RU" sz="11200" dirty="0" smtClean="0">
                <a:solidFill>
                  <a:srgbClr val="002060"/>
                </a:solidFill>
                <a:latin typeface="Monotype Corsiva" pitchFamily="66" charset="0"/>
                <a:ea typeface="Times New Roman" pitchFamily="18" charset="0"/>
                <a:cs typeface="Times New Roman" pitchFamily="18" charset="0"/>
              </a:rPr>
              <a:t>;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tabLst>
                <a:tab pos="457200" algn="l"/>
              </a:tabLst>
            </a:pPr>
            <a:r>
              <a:rPr lang="ru-RU" sz="11200" dirty="0" smtClean="0">
                <a:solidFill>
                  <a:srgbClr val="002060"/>
                </a:solidFill>
                <a:latin typeface="Monotype Corsiva" pitchFamily="66" charset="0"/>
              </a:rPr>
              <a:t>Оформление </a:t>
            </a:r>
            <a:r>
              <a:rPr lang="ru-RU" sz="11200" dirty="0" smtClean="0">
                <a:solidFill>
                  <a:srgbClr val="002060"/>
                </a:solidFill>
                <a:latin typeface="Monotype Corsiva" pitchFamily="66" charset="0"/>
              </a:rPr>
              <a:t>папки-передвижки  с планом работы по проекту для родителей;</a:t>
            </a:r>
          </a:p>
          <a:p>
            <a:pPr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r>
              <a:rPr lang="ru-RU" sz="11200" dirty="0" smtClean="0">
                <a:solidFill>
                  <a:srgbClr val="002060"/>
                </a:solidFill>
                <a:latin typeface="Monotype Corsiva" pitchFamily="66" charset="0"/>
              </a:rPr>
              <a:t>Мастер </a:t>
            </a:r>
            <a:r>
              <a:rPr lang="ru-RU" sz="11200" dirty="0" smtClean="0">
                <a:solidFill>
                  <a:srgbClr val="002060"/>
                </a:solidFill>
                <a:latin typeface="Monotype Corsiva" pitchFamily="66" charset="0"/>
              </a:rPr>
              <a:t>класс для родителей </a:t>
            </a:r>
            <a:r>
              <a:rPr lang="ru-RU" sz="11200" dirty="0" smtClean="0">
                <a:solidFill>
                  <a:srgbClr val="002060"/>
                </a:solidFill>
                <a:latin typeface="Monotype Corsiva" pitchFamily="66" charset="0"/>
              </a:rPr>
              <a:t>«</a:t>
            </a:r>
            <a:r>
              <a:rPr lang="ru-RU" sz="11200" dirty="0" smtClean="0">
                <a:solidFill>
                  <a:srgbClr val="002060"/>
                </a:solidFill>
                <a:latin typeface="Monotype Corsiva" pitchFamily="66" charset="0"/>
              </a:rPr>
              <a:t>Зимний лес</a:t>
            </a:r>
            <a:r>
              <a:rPr lang="ru-RU" sz="11200" dirty="0" smtClean="0">
                <a:solidFill>
                  <a:srgbClr val="002060"/>
                </a:solidFill>
                <a:latin typeface="Monotype Corsiva" pitchFamily="66" charset="0"/>
              </a:rPr>
              <a:t>»</a:t>
            </a:r>
            <a:r>
              <a:rPr lang="ru-RU" sz="11200" dirty="0" smtClean="0">
                <a:solidFill>
                  <a:srgbClr val="002060"/>
                </a:solidFill>
                <a:latin typeface="Monotype Corsiva" pitchFamily="66" charset="0"/>
              </a:rPr>
              <a:t> </a:t>
            </a:r>
            <a:r>
              <a:rPr lang="ru-RU" sz="11200" dirty="0" smtClean="0">
                <a:solidFill>
                  <a:srgbClr val="002060"/>
                </a:solidFill>
                <a:latin typeface="Monotype Corsiva" pitchFamily="66" charset="0"/>
              </a:rPr>
              <a:t>(рисование </a:t>
            </a:r>
            <a:r>
              <a:rPr lang="ru-RU" sz="11200" dirty="0" smtClean="0">
                <a:solidFill>
                  <a:srgbClr val="002060"/>
                </a:solidFill>
                <a:latin typeface="Monotype Corsiva" pitchFamily="66" charset="0"/>
              </a:rPr>
              <a:t>манной </a:t>
            </a:r>
            <a:r>
              <a:rPr lang="ru-RU" sz="11200" dirty="0" smtClean="0">
                <a:solidFill>
                  <a:srgbClr val="002060"/>
                </a:solidFill>
                <a:latin typeface="Monotype Corsiva" pitchFamily="66" charset="0"/>
              </a:rPr>
              <a:t>крупой); Мастер-класс для родителей «Ёлочка –красавица»(изготовление ёлочки из разного материала – природный, бросовый);</a:t>
            </a:r>
          </a:p>
          <a:p>
            <a:pPr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r>
              <a:rPr lang="ru-RU" sz="11200" dirty="0" smtClean="0">
                <a:solidFill>
                  <a:srgbClr val="002060"/>
                </a:solidFill>
                <a:latin typeface="Monotype Corsiva" pitchFamily="66" charset="0"/>
              </a:rPr>
              <a:t> </a:t>
            </a:r>
            <a:r>
              <a:rPr lang="ru-RU" sz="11200" dirty="0" smtClean="0">
                <a:solidFill>
                  <a:srgbClr val="002060"/>
                </a:solidFill>
                <a:latin typeface="Monotype Corsiva" pitchFamily="66" charset="0"/>
              </a:rPr>
              <a:t>Консультация для родителей « Экологическое воспитание ребёнка в семье»;</a:t>
            </a:r>
          </a:p>
          <a:p>
            <a:pPr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r>
              <a:rPr lang="ru-RU" sz="11200" dirty="0" smtClean="0">
                <a:solidFill>
                  <a:srgbClr val="002060"/>
                </a:solidFill>
                <a:latin typeface="Monotype Corsiva" pitchFamily="66" charset="0"/>
              </a:rPr>
              <a:t>Совместное изготовление искусственных ёлочек детьми и родителями.</a:t>
            </a:r>
            <a:endParaRPr lang="ru-RU" sz="11200" dirty="0" smtClean="0">
              <a:solidFill>
                <a:srgbClr val="002060"/>
              </a:solidFill>
              <a:latin typeface="Monotype Corsiva" pitchFamily="66" charset="0"/>
              <a:ea typeface="Times New Roman" pitchFamily="18" charset="0"/>
              <a:cs typeface="Times New Roman" pitchFamily="18" charset="0"/>
            </a:endParaRPr>
          </a:p>
          <a:p>
            <a:endParaRPr lang="ru-RU" sz="8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96379"/>
          </a:xfrm>
        </p:spPr>
        <p:txBody>
          <a:bodyPr>
            <a:normAutofit/>
          </a:bodyPr>
          <a:lstStyle/>
          <a:p>
            <a:r>
              <a:rPr lang="ru-RU" sz="2800" b="1" u="sng" dirty="0" smtClean="0">
                <a:solidFill>
                  <a:srgbClr val="002060"/>
                </a:solidFill>
                <a:latin typeface="Monotype Corsiva" pitchFamily="66" charset="0"/>
              </a:rPr>
              <a:t>Практический:</a:t>
            </a:r>
            <a:endParaRPr lang="ru-RU" sz="280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492896"/>
            <a:ext cx="7666111" cy="396044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Font typeface="Arial" pitchFamily="34" charset="0"/>
              <a:buChar char="•"/>
            </a:pPr>
            <a:r>
              <a:rPr lang="ru-RU" sz="1600" dirty="0" smtClean="0">
                <a:solidFill>
                  <a:srgbClr val="002060"/>
                </a:solidFill>
                <a:latin typeface="Monotype Corsiva" pitchFamily="66" charset="0"/>
              </a:rPr>
              <a:t> Беседы с  рассматриванием </a:t>
            </a:r>
            <a:r>
              <a:rPr lang="ru-RU" sz="1600" dirty="0" smtClean="0">
                <a:solidFill>
                  <a:srgbClr val="002060"/>
                </a:solidFill>
                <a:latin typeface="Monotype Corsiva" pitchFamily="66" charset="0"/>
              </a:rPr>
              <a:t>иллюстраций «Хвойный лес зимой»,»Хвойный лес летом», «Обитатели леса</a:t>
            </a:r>
            <a:r>
              <a:rPr lang="ru-RU" sz="1600" dirty="0" smtClean="0">
                <a:solidFill>
                  <a:srgbClr val="002060"/>
                </a:solidFill>
                <a:latin typeface="Monotype Corsiva" pitchFamily="66" charset="0"/>
              </a:rPr>
              <a:t>»; «Какие бывают деревья»;</a:t>
            </a:r>
          </a:p>
          <a:p>
            <a:pPr>
              <a:spcBef>
                <a:spcPts val="0"/>
              </a:spcBef>
              <a:buFont typeface="Arial" pitchFamily="34" charset="0"/>
              <a:buChar char="•"/>
            </a:pPr>
            <a:r>
              <a:rPr lang="ru-RU" sz="1600" dirty="0" smtClean="0">
                <a:solidFill>
                  <a:srgbClr val="002060"/>
                </a:solidFill>
                <a:latin typeface="Monotype Corsiva" pitchFamily="66" charset="0"/>
              </a:rPr>
              <a:t>Наблюдения</a:t>
            </a:r>
            <a:r>
              <a:rPr lang="ru-RU" sz="1600" dirty="0" smtClean="0">
                <a:solidFill>
                  <a:srgbClr val="002060"/>
                </a:solidFill>
                <a:latin typeface="Monotype Corsiva" pitchFamily="66" charset="0"/>
              </a:rPr>
              <a:t>  за елью на участке детского сада (дерево, хвоя, шишки, кора</a:t>
            </a:r>
            <a:r>
              <a:rPr lang="ru-RU" sz="1600" dirty="0" smtClean="0">
                <a:solidFill>
                  <a:srgbClr val="002060"/>
                </a:solidFill>
                <a:latin typeface="Monotype Corsiva" pitchFamily="66" charset="0"/>
              </a:rPr>
              <a:t>…);</a:t>
            </a:r>
          </a:p>
          <a:p>
            <a:pPr>
              <a:spcBef>
                <a:spcPts val="0"/>
              </a:spcBef>
            </a:pPr>
            <a:r>
              <a:rPr lang="ru-RU" sz="1600" dirty="0" smtClean="0">
                <a:solidFill>
                  <a:srgbClr val="002060"/>
                </a:solidFill>
                <a:latin typeface="Monotype Corsiva" pitchFamily="66" charset="0"/>
              </a:rPr>
              <a:t>Игротека </a:t>
            </a:r>
            <a:r>
              <a:rPr lang="ru-RU" sz="1600" dirty="0" smtClean="0">
                <a:solidFill>
                  <a:srgbClr val="002060"/>
                </a:solidFill>
                <a:latin typeface="Monotype Corsiva" pitchFamily="66" charset="0"/>
              </a:rPr>
              <a:t>по экологии :</a:t>
            </a:r>
            <a:r>
              <a:rPr lang="ru-RU" sz="1600" dirty="0" smtClean="0">
                <a:solidFill>
                  <a:srgbClr val="002060"/>
                </a:solidFill>
                <a:latin typeface="Monotype Corsiva" pitchFamily="66" charset="0"/>
              </a:rPr>
              <a:t> </a:t>
            </a:r>
            <a:r>
              <a:rPr lang="ru-RU" sz="1600" dirty="0" smtClean="0">
                <a:solidFill>
                  <a:srgbClr val="002060"/>
                </a:solidFill>
                <a:latin typeface="Monotype Corsiva" pitchFamily="66" charset="0"/>
              </a:rPr>
              <a:t>дидактические </a:t>
            </a:r>
            <a:r>
              <a:rPr lang="ru-RU" sz="1600" dirty="0" smtClean="0">
                <a:solidFill>
                  <a:srgbClr val="002060"/>
                </a:solidFill>
                <a:latin typeface="Monotype Corsiva" pitchFamily="66" charset="0"/>
              </a:rPr>
              <a:t>игры  «</a:t>
            </a:r>
            <a:r>
              <a:rPr lang="ru-RU" sz="1600" dirty="0" smtClean="0">
                <a:solidFill>
                  <a:srgbClr val="002060"/>
                </a:solidFill>
                <a:latin typeface="Monotype Corsiva" pitchFamily="66" charset="0"/>
              </a:rPr>
              <a:t>С чьей ветки детки» , «Подбери шишку к дереву»(ель, сосна, кедр, </a:t>
            </a:r>
            <a:r>
              <a:rPr lang="ru-RU" sz="1600" dirty="0" smtClean="0">
                <a:solidFill>
                  <a:srgbClr val="002060"/>
                </a:solidFill>
                <a:latin typeface="Monotype Corsiva" pitchFamily="66" charset="0"/>
              </a:rPr>
              <a:t>лиственница), «Лесник», «Кто живёт в лесу»;</a:t>
            </a:r>
          </a:p>
          <a:p>
            <a:pPr>
              <a:spcBef>
                <a:spcPts val="0"/>
              </a:spcBef>
              <a:buFont typeface="Arial" pitchFamily="34" charset="0"/>
              <a:buChar char="•"/>
            </a:pPr>
            <a:r>
              <a:rPr lang="ru-RU" sz="1600" dirty="0" smtClean="0">
                <a:solidFill>
                  <a:srgbClr val="002060"/>
                </a:solidFill>
                <a:latin typeface="Monotype Corsiva" pitchFamily="66" charset="0"/>
              </a:rPr>
              <a:t>Художественно-эстетическое развитие (рисование, аппликация, ручной труд): «В </a:t>
            </a:r>
            <a:r>
              <a:rPr lang="ru-RU" sz="1600" dirty="0" smtClean="0">
                <a:solidFill>
                  <a:srgbClr val="002060"/>
                </a:solidFill>
                <a:latin typeface="Monotype Corsiva" pitchFamily="66" charset="0"/>
              </a:rPr>
              <a:t>лесу родилась ёлочка», </a:t>
            </a:r>
            <a:r>
              <a:rPr lang="ru-RU" sz="1600" dirty="0" smtClean="0">
                <a:solidFill>
                  <a:srgbClr val="002060"/>
                </a:solidFill>
                <a:latin typeface="Monotype Corsiva" pitchFamily="66" charset="0"/>
              </a:rPr>
              <a:t>Ёлочка – красавица всем детишкам нравиться»,«Лес зимой»,  «</a:t>
            </a:r>
            <a:r>
              <a:rPr lang="ru-RU" sz="1600" dirty="0" smtClean="0">
                <a:solidFill>
                  <a:srgbClr val="002060"/>
                </a:solidFill>
                <a:latin typeface="Monotype Corsiva" pitchFamily="66" charset="0"/>
              </a:rPr>
              <a:t>Сохраним ёлочку-красавицу наших лесов» (рисование плакатов, которые вывешиваем  в общественных местах- около жилых домов, при входе в детский сад</a:t>
            </a:r>
            <a:r>
              <a:rPr lang="ru-RU" sz="1600" dirty="0" smtClean="0">
                <a:solidFill>
                  <a:srgbClr val="002060"/>
                </a:solidFill>
                <a:latin typeface="Monotype Corsiva" pitchFamily="66" charset="0"/>
              </a:rPr>
              <a:t>…);</a:t>
            </a:r>
          </a:p>
          <a:p>
            <a:pPr>
              <a:spcBef>
                <a:spcPts val="0"/>
              </a:spcBef>
              <a:buFont typeface="Arial" pitchFamily="34" charset="0"/>
              <a:buChar char="•"/>
            </a:pPr>
            <a:r>
              <a:rPr lang="ru-RU" sz="1600" dirty="0" smtClean="0">
                <a:solidFill>
                  <a:srgbClr val="002060"/>
                </a:solidFill>
                <a:latin typeface="Monotype Corsiva" pitchFamily="66" charset="0"/>
              </a:rPr>
              <a:t>Разучивание </a:t>
            </a:r>
            <a:r>
              <a:rPr lang="ru-RU" sz="1600" dirty="0" smtClean="0">
                <a:solidFill>
                  <a:srgbClr val="002060"/>
                </a:solidFill>
                <a:latin typeface="Monotype Corsiva" pitchFamily="66" charset="0"/>
              </a:rPr>
              <a:t>песен, танцев, стихов </a:t>
            </a:r>
            <a:r>
              <a:rPr lang="ru-RU" sz="1600" dirty="0" smtClean="0">
                <a:solidFill>
                  <a:srgbClr val="002060"/>
                </a:solidFill>
                <a:latin typeface="Monotype Corsiva" pitchFamily="66" charset="0"/>
              </a:rPr>
              <a:t>про ёлочку к новогоднему празднику;</a:t>
            </a:r>
          </a:p>
          <a:p>
            <a:pPr>
              <a:spcBef>
                <a:spcPts val="0"/>
              </a:spcBef>
              <a:buFont typeface="Arial" pitchFamily="34" charset="0"/>
              <a:buChar char="•"/>
            </a:pPr>
            <a:r>
              <a:rPr lang="ru-RU" sz="1600" dirty="0" smtClean="0">
                <a:solidFill>
                  <a:srgbClr val="002060"/>
                </a:solidFill>
                <a:latin typeface="Monotype Corsiva" pitchFamily="66" charset="0"/>
              </a:rPr>
              <a:t>НОД </a:t>
            </a:r>
            <a:r>
              <a:rPr lang="ru-RU" sz="1600" dirty="0" smtClean="0">
                <a:solidFill>
                  <a:srgbClr val="002060"/>
                </a:solidFill>
                <a:latin typeface="Monotype Corsiva" pitchFamily="66" charset="0"/>
              </a:rPr>
              <a:t>по экологии «Красота  ели живой и нарядной искусственной</a:t>
            </a:r>
            <a:r>
              <a:rPr lang="ru-RU" sz="1600" dirty="0" smtClean="0">
                <a:solidFill>
                  <a:srgbClr val="002060"/>
                </a:solidFill>
                <a:latin typeface="Monotype Corsiva" pitchFamily="66" charset="0"/>
              </a:rPr>
              <a:t>»; «Лесная гостья»»</a:t>
            </a:r>
          </a:p>
          <a:p>
            <a:pPr>
              <a:spcBef>
                <a:spcPts val="0"/>
              </a:spcBef>
              <a:buFont typeface="Arial" pitchFamily="34" charset="0"/>
              <a:buChar char="•"/>
            </a:pPr>
            <a:r>
              <a:rPr lang="ru-RU" sz="1600" dirty="0" smtClean="0">
                <a:solidFill>
                  <a:srgbClr val="002060"/>
                </a:solidFill>
                <a:latin typeface="Monotype Corsiva" pitchFamily="66" charset="0"/>
              </a:rPr>
              <a:t>Украшение </a:t>
            </a:r>
            <a:r>
              <a:rPr lang="ru-RU" sz="1600" dirty="0" smtClean="0">
                <a:solidFill>
                  <a:srgbClr val="002060"/>
                </a:solidFill>
                <a:latin typeface="Monotype Corsiva" pitchFamily="66" charset="0"/>
              </a:rPr>
              <a:t>живой ели, растущей на участке детского сада, игры, хороводы около неё, присыпание снега к её </a:t>
            </a:r>
            <a:r>
              <a:rPr lang="ru-RU" sz="1600" dirty="0" smtClean="0">
                <a:solidFill>
                  <a:srgbClr val="002060"/>
                </a:solidFill>
                <a:latin typeface="Monotype Corsiva" pitchFamily="66" charset="0"/>
              </a:rPr>
              <a:t>корням;</a:t>
            </a:r>
          </a:p>
          <a:p>
            <a:pPr>
              <a:spcBef>
                <a:spcPts val="0"/>
              </a:spcBef>
              <a:buFont typeface="Arial" pitchFamily="34" charset="0"/>
              <a:buChar char="•"/>
            </a:pPr>
            <a:r>
              <a:rPr lang="ru-RU" sz="1600" dirty="0" smtClean="0">
                <a:solidFill>
                  <a:srgbClr val="002060"/>
                </a:solidFill>
                <a:latin typeface="Monotype Corsiva" pitchFamily="66" charset="0"/>
              </a:rPr>
              <a:t>Проблемная ситуация «Кому </a:t>
            </a:r>
            <a:r>
              <a:rPr lang="ru-RU" sz="1600" dirty="0" smtClean="0">
                <a:solidFill>
                  <a:srgbClr val="002060"/>
                </a:solidFill>
                <a:latin typeface="Monotype Corsiva" pitchFamily="66" charset="0"/>
              </a:rPr>
              <a:t>будет плохо, если все ели срубят в лесу</a:t>
            </a:r>
            <a:r>
              <a:rPr lang="ru-RU" sz="1600" dirty="0" smtClean="0">
                <a:solidFill>
                  <a:srgbClr val="002060"/>
                </a:solidFill>
                <a:latin typeface="Monotype Corsiva" pitchFamily="66" charset="0"/>
              </a:rPr>
              <a:t>?»;</a:t>
            </a:r>
          </a:p>
          <a:p>
            <a:pPr>
              <a:spcBef>
                <a:spcPts val="0"/>
              </a:spcBef>
              <a:buFont typeface="Arial" pitchFamily="34" charset="0"/>
              <a:buChar char="•"/>
            </a:pPr>
            <a:r>
              <a:rPr lang="ru-RU" sz="1600" dirty="0" smtClean="0">
                <a:solidFill>
                  <a:srgbClr val="002060"/>
                </a:solidFill>
                <a:latin typeface="Monotype Corsiva" pitchFamily="66" charset="0"/>
              </a:rPr>
              <a:t>Украшение </a:t>
            </a:r>
            <a:r>
              <a:rPr lang="ru-RU" sz="1600" dirty="0" smtClean="0">
                <a:solidFill>
                  <a:srgbClr val="002060"/>
                </a:solidFill>
                <a:latin typeface="Monotype Corsiva" pitchFamily="66" charset="0"/>
              </a:rPr>
              <a:t>искусственной ели в группе и в музыкальном </a:t>
            </a:r>
            <a:r>
              <a:rPr lang="ru-RU" sz="1600" dirty="0" smtClean="0">
                <a:solidFill>
                  <a:srgbClr val="002060"/>
                </a:solidFill>
                <a:latin typeface="Monotype Corsiva" pitchFamily="66" charset="0"/>
              </a:rPr>
              <a:t>зале;</a:t>
            </a:r>
          </a:p>
          <a:p>
            <a:pPr>
              <a:spcBef>
                <a:spcPts val="0"/>
              </a:spcBef>
              <a:buFont typeface="Arial" pitchFamily="34" charset="0"/>
              <a:buChar char="•"/>
            </a:pPr>
            <a:r>
              <a:rPr lang="ru-RU" sz="1600" dirty="0" smtClean="0">
                <a:solidFill>
                  <a:srgbClr val="002060"/>
                </a:solidFill>
                <a:latin typeface="Monotype Corsiva" pitchFamily="66" charset="0"/>
              </a:rPr>
              <a:t>Совместное </a:t>
            </a:r>
            <a:r>
              <a:rPr lang="ru-RU" sz="1600" dirty="0" smtClean="0">
                <a:solidFill>
                  <a:srgbClr val="002060"/>
                </a:solidFill>
                <a:latin typeface="Monotype Corsiva" pitchFamily="66" charset="0"/>
              </a:rPr>
              <a:t>изготовление искусственных ёлочек детьми и родителями. </a:t>
            </a:r>
            <a:endParaRPr lang="ru-RU" sz="1600" dirty="0" smtClean="0">
              <a:solidFill>
                <a:srgbClr val="002060"/>
              </a:solidFill>
              <a:latin typeface="Monotype Corsiva" pitchFamily="66" charset="0"/>
            </a:endParaRPr>
          </a:p>
          <a:p>
            <a:pPr>
              <a:spcBef>
                <a:spcPts val="0"/>
              </a:spcBef>
            </a:pPr>
            <a:endParaRPr lang="ru-RU" sz="1600" dirty="0">
              <a:solidFill>
                <a:srgbClr val="002060"/>
              </a:solidFill>
              <a:latin typeface="Monotype Corsiva" pitchFamily="66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b="1" u="sng" dirty="0" smtClean="0">
                <a:solidFill>
                  <a:srgbClr val="002060"/>
                </a:solidFill>
                <a:latin typeface="Monotype Corsiva" pitchFamily="66" charset="0"/>
              </a:rPr>
              <a:t>Заключительный этап:</a:t>
            </a:r>
            <a:endParaRPr lang="ru-RU" sz="280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905398"/>
          </a:xfrm>
        </p:spPr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ru-RU" sz="2800" dirty="0" smtClean="0">
                <a:solidFill>
                  <a:srgbClr val="002060"/>
                </a:solidFill>
                <a:latin typeface="Monotype Corsiva" pitchFamily="66" charset="0"/>
              </a:rPr>
              <a:t>Новогоднее развлечение у ёлочки;</a:t>
            </a:r>
            <a:endParaRPr lang="ru-RU" sz="2800" dirty="0" smtClean="0">
              <a:solidFill>
                <a:srgbClr val="002060"/>
              </a:solidFill>
              <a:latin typeface="Monotype Corsiva" pitchFamily="66" charset="0"/>
            </a:endParaRPr>
          </a:p>
          <a:p>
            <a:pPr>
              <a:buFont typeface="Arial" pitchFamily="34" charset="0"/>
              <a:buChar char="•"/>
            </a:pPr>
            <a:r>
              <a:rPr lang="ru-RU" sz="2800" dirty="0" smtClean="0">
                <a:solidFill>
                  <a:srgbClr val="002060"/>
                </a:solidFill>
                <a:latin typeface="Monotype Corsiva" pitchFamily="66" charset="0"/>
              </a:rPr>
              <a:t> Выставка искусственной ёлочки «Ёлочка – красавица»;</a:t>
            </a:r>
          </a:p>
          <a:p>
            <a:pPr>
              <a:buFont typeface="Arial" pitchFamily="34" charset="0"/>
              <a:buChar char="•"/>
            </a:pPr>
            <a:r>
              <a:rPr lang="ru-RU" sz="2800" dirty="0" smtClean="0">
                <a:solidFill>
                  <a:srgbClr val="002060"/>
                </a:solidFill>
                <a:latin typeface="Monotype Corsiva" pitchFamily="66" charset="0"/>
              </a:rPr>
              <a:t>Награждение участников проекта. </a:t>
            </a:r>
          </a:p>
          <a:p>
            <a:r>
              <a:rPr lang="ru-RU" sz="2800" b="1" u="sng" dirty="0" smtClean="0">
                <a:solidFill>
                  <a:srgbClr val="002060"/>
                </a:solidFill>
                <a:latin typeface="Monotype Corsiva" pitchFamily="66" charset="0"/>
              </a:rPr>
              <a:t>Перспектива :</a:t>
            </a:r>
          </a:p>
          <a:p>
            <a:pPr>
              <a:buFont typeface="Arial" pitchFamily="34" charset="0"/>
              <a:buChar char="•"/>
            </a:pPr>
            <a:r>
              <a:rPr lang="ru-RU" sz="2800" dirty="0" smtClean="0">
                <a:solidFill>
                  <a:srgbClr val="002060"/>
                </a:solidFill>
                <a:latin typeface="Monotype Corsiva" pitchFamily="66" charset="0"/>
              </a:rPr>
              <a:t> </a:t>
            </a:r>
            <a:r>
              <a:rPr lang="ru-RU" sz="2800" dirty="0" smtClean="0">
                <a:solidFill>
                  <a:srgbClr val="002060"/>
                </a:solidFill>
                <a:latin typeface="Monotype Corsiva" pitchFamily="66" charset="0"/>
              </a:rPr>
              <a:t>Создание мини-музея ёлочки;</a:t>
            </a:r>
          </a:p>
          <a:p>
            <a:pPr>
              <a:buFont typeface="Arial" pitchFamily="34" charset="0"/>
              <a:buChar char="•"/>
            </a:pPr>
            <a:r>
              <a:rPr lang="ru-RU" sz="2800" dirty="0" smtClean="0">
                <a:solidFill>
                  <a:srgbClr val="002060"/>
                </a:solidFill>
                <a:latin typeface="Monotype Corsiva" pitchFamily="66" charset="0"/>
              </a:rPr>
              <a:t>Весной </a:t>
            </a:r>
            <a:r>
              <a:rPr lang="ru-RU" sz="2800" dirty="0" smtClean="0">
                <a:solidFill>
                  <a:srgbClr val="002060"/>
                </a:solidFill>
                <a:latin typeface="Monotype Corsiva" pitchFamily="66" charset="0"/>
              </a:rPr>
              <a:t>посадить на территории детского сада саженец ели или сосны. 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7584" y="332656"/>
            <a:ext cx="7772400" cy="1440160"/>
          </a:xfrm>
        </p:spPr>
        <p:txBody>
          <a:bodyPr>
            <a:normAutofit/>
          </a:bodyPr>
          <a:lstStyle/>
          <a:p>
            <a:pPr algn="ctr"/>
            <a:r>
              <a:rPr lang="ru-RU" sz="2800" b="1" dirty="0" smtClean="0">
                <a:solidFill>
                  <a:srgbClr val="002060"/>
                </a:solidFill>
                <a:latin typeface="Monotype Corsiva" pitchFamily="66" charset="0"/>
                <a:ea typeface="Times New Roman" pitchFamily="18" charset="0"/>
                <a:cs typeface="Times New Roman" pitchFamily="18" charset="0"/>
              </a:rPr>
              <a:t>Организация продуктивной деятельности детей  по теме проекта</a:t>
            </a:r>
            <a:r>
              <a:rPr lang="ru-RU" sz="2800" b="1" dirty="0" smtClean="0">
                <a:solidFill>
                  <a:srgbClr val="002060"/>
                </a:solidFill>
                <a:latin typeface="Monotype Corsiva" pitchFamily="66" charset="0"/>
                <a:cs typeface="Times New Roman" pitchFamily="18" charset="0"/>
              </a:rPr>
              <a:t/>
            </a:r>
            <a:br>
              <a:rPr lang="ru-RU" sz="2800" b="1" dirty="0" smtClean="0">
                <a:solidFill>
                  <a:srgbClr val="002060"/>
                </a:solidFill>
                <a:latin typeface="Monotype Corsiva" pitchFamily="66" charset="0"/>
                <a:cs typeface="Times New Roman" pitchFamily="18" charset="0"/>
              </a:rPr>
            </a:br>
            <a:endParaRPr lang="ru-RU" sz="2800" dirty="0"/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 cstate="print"/>
          <a:srcRect l="443" t="591" r="16969" b="1025"/>
          <a:stretch>
            <a:fillRect/>
          </a:stretch>
        </p:blipFill>
        <p:spPr bwMode="auto">
          <a:xfrm rot="5400000">
            <a:off x="-180528" y="1916832"/>
            <a:ext cx="4176463" cy="2880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 l="30637" t="2062" r="332"/>
          <a:stretch>
            <a:fillRect/>
          </a:stretch>
        </p:blipFill>
        <p:spPr bwMode="auto">
          <a:xfrm rot="5400000">
            <a:off x="5711734" y="849106"/>
            <a:ext cx="3201288" cy="30324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 descr="C:\Users\User\Desktop\хрень\педсовет\план\поделки\фото1578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 rot="10800000">
            <a:off x="3563888" y="4077072"/>
            <a:ext cx="3960440" cy="266429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-459432"/>
            <a:ext cx="7772400" cy="2448272"/>
          </a:xfrm>
        </p:spPr>
        <p:txBody>
          <a:bodyPr>
            <a:normAutofit/>
          </a:bodyPr>
          <a:lstStyle/>
          <a:p>
            <a:pPr lvl="0" algn="ctr"/>
            <a:r>
              <a:rPr lang="ru-RU" sz="2800" b="1" dirty="0" smtClean="0">
                <a:solidFill>
                  <a:srgbClr val="002060"/>
                </a:solidFill>
                <a:latin typeface="Monotype Corsiva" pitchFamily="66" charset="0"/>
                <a:ea typeface="Times New Roman" pitchFamily="18" charset="0"/>
                <a:cs typeface="Times New Roman" pitchFamily="18" charset="0"/>
              </a:rPr>
              <a:t>Организация продуктивной деятельности  воспитателя  по теме проекта</a:t>
            </a:r>
            <a:r>
              <a:rPr lang="ru-RU" sz="2800" b="1" dirty="0" smtClean="0">
                <a:solidFill>
                  <a:srgbClr val="002060"/>
                </a:solidFill>
                <a:latin typeface="Monotype Corsiva" pitchFamily="66" charset="0"/>
                <a:cs typeface="Times New Roman" pitchFamily="18" charset="0"/>
              </a:rPr>
              <a:t/>
            </a:r>
            <a:br>
              <a:rPr lang="ru-RU" sz="2800" b="1" dirty="0" smtClean="0">
                <a:solidFill>
                  <a:srgbClr val="002060"/>
                </a:solidFill>
                <a:latin typeface="Monotype Corsiva" pitchFamily="66" charset="0"/>
                <a:cs typeface="Times New Roman" pitchFamily="18" charset="0"/>
              </a:rPr>
            </a:br>
            <a:endParaRPr lang="ru-RU" sz="2800" dirty="0"/>
          </a:p>
        </p:txBody>
      </p:sp>
      <p:pic>
        <p:nvPicPr>
          <p:cNvPr id="5" name="Picture 2" descr="C:\Users\User\Desktop\хрень\педсовет\план\моё творчество\фото0506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1772816"/>
            <a:ext cx="3034145" cy="40441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76056" y="1844824"/>
            <a:ext cx="3463553" cy="3960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67544" y="332657"/>
            <a:ext cx="639045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r>
              <a:rPr lang="ru-RU" sz="2400" b="1" dirty="0" smtClean="0">
                <a:solidFill>
                  <a:srgbClr val="002060"/>
                </a:solidFill>
                <a:latin typeface="Monotype Corsiva" pitchFamily="66" charset="0"/>
                <a:ea typeface="Times New Roman" pitchFamily="18" charset="0"/>
                <a:cs typeface="Times New Roman" pitchFamily="18" charset="0"/>
              </a:rPr>
              <a:t>Организация продуктивной деятельности  детей и родителей по теме проекта</a:t>
            </a:r>
            <a:endParaRPr lang="ru-RU" sz="2400" b="1" dirty="0" smtClean="0">
              <a:solidFill>
                <a:srgbClr val="002060"/>
              </a:solidFill>
              <a:latin typeface="Monotype Corsiva" pitchFamily="66" charset="0"/>
              <a:cs typeface="Times New Roman" pitchFamily="18" charset="0"/>
            </a:endParaRPr>
          </a:p>
        </p:txBody>
      </p:sp>
      <p:pic>
        <p:nvPicPr>
          <p:cNvPr id="3" name="Picture 2" descr="C:\Users\User\Desktop\хрень\педсовет\план\консультации\Camera\DCIM\Camera\20180507_07190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5400000">
            <a:off x="-736101" y="2112365"/>
            <a:ext cx="4171905" cy="2196663"/>
          </a:xfrm>
          <a:prstGeom prst="rect">
            <a:avLst/>
          </a:prstGeom>
          <a:noFill/>
        </p:spPr>
      </p:pic>
      <p:pic>
        <p:nvPicPr>
          <p:cNvPr id="4" name="Picture 6" descr="C:\Users\Бармалей\Desktop\SDC1264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55776" y="1124744"/>
            <a:ext cx="2292350" cy="2592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04048" y="980728"/>
            <a:ext cx="2049518" cy="2717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 descr="D:\Camera\20180418_062906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>
          <a:xfrm>
            <a:off x="7092280" y="332656"/>
            <a:ext cx="1869669" cy="2944922"/>
          </a:xfrm>
          <a:prstGeom prst="rect">
            <a:avLst/>
          </a:prstGeom>
          <a:noFill/>
        </p:spPr>
      </p:pic>
      <p:pic>
        <p:nvPicPr>
          <p:cNvPr id="7" name="Picture 5" descr="C:\Users\Бармалей\Desktop\SDC12645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699792" y="4005064"/>
            <a:ext cx="2075463" cy="2714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4" descr="C:\Users\Бармалей\Desktop\SDC12640.JPG"/>
          <p:cNvPicPr>
            <a:picLocks noChangeAspect="1" noChangeArrowheads="1"/>
          </p:cNvPicPr>
          <p:nvPr/>
        </p:nvPicPr>
        <p:blipFill>
          <a:blip r:embed="rId7" cstate="print"/>
          <a:srcRect l="1476" t="-3691" r="-984" b="18823"/>
          <a:stretch>
            <a:fillRect/>
          </a:stretch>
        </p:blipFill>
        <p:spPr bwMode="auto">
          <a:xfrm>
            <a:off x="5436096" y="3645024"/>
            <a:ext cx="2900855" cy="308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 smtClean="0">
                <a:solidFill>
                  <a:srgbClr val="002060"/>
                </a:solidFill>
                <a:latin typeface="Monotype Corsiva" pitchFamily="66" charset="0"/>
              </a:rPr>
              <a:t>Литература:</a:t>
            </a:r>
            <a:endParaRPr lang="ru-RU" sz="2800" dirty="0">
              <a:solidFill>
                <a:srgbClr val="002060"/>
              </a:solidFill>
              <a:latin typeface="Monotype Corsiva" pitchFamily="66" charset="0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3905398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ru-RU" sz="2000" dirty="0" smtClean="0">
                <a:solidFill>
                  <a:srgbClr val="002060"/>
                </a:solidFill>
              </a:rPr>
              <a:t>С.Н. Николаева «Методика экологического воспитания в детском саду»,М.: Просвещение,2014.</a:t>
            </a:r>
          </a:p>
          <a:p>
            <a:pPr marL="457200" indent="-457200">
              <a:buAutoNum type="arabicPeriod"/>
            </a:pPr>
            <a:r>
              <a:rPr lang="ru-RU" sz="2000" dirty="0" smtClean="0">
                <a:solidFill>
                  <a:srgbClr val="002060"/>
                </a:solidFill>
              </a:rPr>
              <a:t>Т.А. Шорыгина «Деревья. Какие они?»,М.: ООО «Издательство ГНОМ и Д»,2004.</a:t>
            </a:r>
          </a:p>
          <a:p>
            <a:pPr marL="457200" indent="-457200">
              <a:buAutoNum type="arabicPeriod"/>
            </a:pPr>
            <a:r>
              <a:rPr lang="ru-RU" sz="2000" dirty="0" smtClean="0">
                <a:solidFill>
                  <a:srgbClr val="002060"/>
                </a:solidFill>
              </a:rPr>
              <a:t>Т.А. Шорыгина «Беседы о Русском лесе»,М.: ТЦ Сфера, 2008.</a:t>
            </a:r>
          </a:p>
          <a:p>
            <a:pPr marL="457200" indent="-457200">
              <a:buAutoNum type="arabicPeriod"/>
            </a:pPr>
            <a:r>
              <a:rPr lang="ru-RU" sz="2000" dirty="0" smtClean="0">
                <a:solidFill>
                  <a:srgbClr val="002060"/>
                </a:solidFill>
              </a:rPr>
              <a:t> А.В. </a:t>
            </a:r>
            <a:r>
              <a:rPr lang="ru-RU" sz="2000" dirty="0" err="1" smtClean="0">
                <a:solidFill>
                  <a:srgbClr val="002060"/>
                </a:solidFill>
              </a:rPr>
              <a:t>Аджи</a:t>
            </a:r>
            <a:r>
              <a:rPr lang="ru-RU" sz="2000" dirty="0" smtClean="0">
                <a:solidFill>
                  <a:srgbClr val="002060"/>
                </a:solidFill>
              </a:rPr>
              <a:t> «Открытые мероприятия для детей подготовительной группы», Воронеж: ООО Метода, 2015.</a:t>
            </a:r>
          </a:p>
          <a:p>
            <a:pPr marL="457200" indent="-457200">
              <a:buAutoNum type="arabicPeriod"/>
            </a:pPr>
            <a:endParaRPr lang="ru-RU" sz="2000" dirty="0" smtClean="0">
              <a:solidFill>
                <a:srgbClr val="002060"/>
              </a:solidFill>
            </a:endParaRPr>
          </a:p>
          <a:p>
            <a:pPr marL="457200" indent="-457200">
              <a:buAutoNum type="arabicPeriod"/>
            </a:pPr>
            <a:endParaRPr lang="ru-RU" sz="20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праведливость">
  <a:themeElements>
    <a:clrScheme name="Справедливость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Справедливость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Справедливость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134</TotalTime>
  <Words>443</Words>
  <Application>Microsoft Office PowerPoint</Application>
  <PresentationFormat>Экран (4:3)</PresentationFormat>
  <Paragraphs>72</Paragraphs>
  <Slides>16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17" baseType="lpstr">
      <vt:lpstr>Справедливость</vt:lpstr>
      <vt:lpstr>       Проект по теме:       «Сохраним ёлочку –    красавицу      наших лесов»</vt:lpstr>
      <vt:lpstr>Вид проекта: творческо - познавательный</vt:lpstr>
      <vt:lpstr>Участники проекта:  </vt:lpstr>
      <vt:lpstr>Образовательные области:</vt:lpstr>
      <vt:lpstr>Актуальность проекта :</vt:lpstr>
      <vt:lpstr>Цель проекта:</vt:lpstr>
      <vt:lpstr>Задачи проекта:</vt:lpstr>
      <vt:lpstr>Прогнозируемый результат:</vt:lpstr>
      <vt:lpstr>Предварительная работа:</vt:lpstr>
      <vt:lpstr>Работа с родителями:</vt:lpstr>
      <vt:lpstr>Практический:</vt:lpstr>
      <vt:lpstr>Заключительный этап:</vt:lpstr>
      <vt:lpstr>Организация продуктивной деятельности детей  по теме проекта </vt:lpstr>
      <vt:lpstr>Организация продуктивной деятельности  воспитателя  по теме проекта </vt:lpstr>
      <vt:lpstr>Слайд 15</vt:lpstr>
      <vt:lpstr>Литература: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 Проект по теме:       «Сохраним ёлочку –    красавицу      наших лесов»</dc:title>
  <dc:creator>Света Павлова</dc:creator>
  <cp:lastModifiedBy>Пользователь Windows</cp:lastModifiedBy>
  <cp:revision>15</cp:revision>
  <dcterms:created xsi:type="dcterms:W3CDTF">2018-11-09T21:30:29Z</dcterms:created>
  <dcterms:modified xsi:type="dcterms:W3CDTF">2018-11-09T23:50:48Z</dcterms:modified>
</cp:coreProperties>
</file>