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12" r:id="rId2"/>
    <p:sldId id="317" r:id="rId3"/>
    <p:sldId id="319" r:id="rId4"/>
    <p:sldId id="318" r:id="rId5"/>
    <p:sldId id="278" r:id="rId6"/>
    <p:sldId id="303" r:id="rId7"/>
    <p:sldId id="280" r:id="rId8"/>
    <p:sldId id="281" r:id="rId9"/>
    <p:sldId id="305" r:id="rId10"/>
    <p:sldId id="331" r:id="rId11"/>
    <p:sldId id="332" r:id="rId12"/>
    <p:sldId id="306" r:id="rId13"/>
    <p:sldId id="333" r:id="rId14"/>
    <p:sldId id="297" r:id="rId15"/>
    <p:sldId id="282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66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4" autoAdjust="0"/>
  </p:normalViewPr>
  <p:slideViewPr>
    <p:cSldViewPr>
      <p:cViewPr varScale="1">
        <p:scale>
          <a:sx n="42" d="100"/>
          <a:sy n="42" d="100"/>
        </p:scale>
        <p:origin x="-130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9F577-F514-48C8-B832-96D266167DDF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8EEF9-F183-401A-968F-9064E5177E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610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/>
          <a:srcRect l="2206" t="2581" r="3989"/>
          <a:stretch>
            <a:fillRect/>
          </a:stretch>
        </p:blipFill>
        <p:spPr bwMode="auto">
          <a:xfrm>
            <a:off x="-1" y="0"/>
            <a:ext cx="9264259" cy="6597352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1720" y="2130425"/>
            <a:ext cx="532859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26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288256" y="2402532"/>
            <a:ext cx="1456929" cy="1512168"/>
          </a:xfrm>
          <a:prstGeom prst="rect">
            <a:avLst/>
          </a:prstGeom>
          <a:noFill/>
        </p:spPr>
      </p:pic>
      <p:pic>
        <p:nvPicPr>
          <p:cNvPr id="10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598310" y="1559127"/>
            <a:ext cx="1594163" cy="151216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2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7849048" y="418008"/>
            <a:ext cx="1148825" cy="1089736"/>
          </a:xfrm>
          <a:prstGeom prst="rect">
            <a:avLst/>
          </a:prstGeom>
          <a:noFill/>
        </p:spPr>
      </p:pic>
      <p:pic>
        <p:nvPicPr>
          <p:cNvPr id="11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7700013" y="1181508"/>
            <a:ext cx="1084712" cy="1125838"/>
          </a:xfrm>
          <a:prstGeom prst="rect">
            <a:avLst/>
          </a:prstGeom>
          <a:noFill/>
        </p:spPr>
      </p:pic>
      <p:pic>
        <p:nvPicPr>
          <p:cNvPr id="9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4" cstate="print"/>
          <a:srcRect l="2206" t="23961" r="74832"/>
          <a:stretch>
            <a:fillRect/>
          </a:stretch>
        </p:blipFill>
        <p:spPr bwMode="auto">
          <a:xfrm>
            <a:off x="0" y="0"/>
            <a:ext cx="1750743" cy="458112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9752" y="274638"/>
            <a:ext cx="5544616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2206" t="17063" r="3989"/>
          <a:stretch>
            <a:fillRect/>
          </a:stretch>
        </p:blipFill>
        <p:spPr bwMode="auto">
          <a:xfrm>
            <a:off x="0" y="0"/>
            <a:ext cx="9144000" cy="6597352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Monotype Corsiva" pitchFamily="66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107729" y="1682452"/>
            <a:ext cx="1456929" cy="1512168"/>
          </a:xfrm>
          <a:prstGeom prst="rect">
            <a:avLst/>
          </a:prstGeom>
          <a:noFill/>
        </p:spPr>
      </p:pic>
      <p:pic>
        <p:nvPicPr>
          <p:cNvPr id="9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526302" y="767040"/>
            <a:ext cx="1594163" cy="151216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/>
          <a:srcRect l="72476" t="23855" r="3989"/>
          <a:stretch>
            <a:fillRect/>
          </a:stretch>
        </p:blipFill>
        <p:spPr bwMode="auto">
          <a:xfrm>
            <a:off x="7109676" y="0"/>
            <a:ext cx="2034323" cy="530120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51104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363648" y="4767883"/>
            <a:ext cx="1148825" cy="1089736"/>
          </a:xfrm>
          <a:prstGeom prst="rect">
            <a:avLst/>
          </a:prstGeom>
          <a:noFill/>
        </p:spPr>
      </p:pic>
      <p:pic>
        <p:nvPicPr>
          <p:cNvPr id="10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4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214613" y="5531383"/>
            <a:ext cx="1084712" cy="112583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/>
          <a:srcRect l="72476" t="23855" r="3989"/>
          <a:stretch>
            <a:fillRect/>
          </a:stretch>
        </p:blipFill>
        <p:spPr bwMode="auto">
          <a:xfrm>
            <a:off x="6588225" y="0"/>
            <a:ext cx="2555776" cy="393305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3508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1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363648" y="4767883"/>
            <a:ext cx="1148825" cy="1089736"/>
          </a:xfrm>
          <a:prstGeom prst="rect">
            <a:avLst/>
          </a:prstGeom>
          <a:noFill/>
        </p:spPr>
      </p:pic>
      <p:pic>
        <p:nvPicPr>
          <p:cNvPr id="12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4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214613" y="5531383"/>
            <a:ext cx="1084712" cy="112583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4048" t="17063" r="27252"/>
          <a:stretch>
            <a:fillRect/>
          </a:stretch>
        </p:blipFill>
        <p:spPr bwMode="auto">
          <a:xfrm>
            <a:off x="0" y="0"/>
            <a:ext cx="9144000" cy="6597352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55776" y="908720"/>
            <a:ext cx="64294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363648" y="1858167"/>
            <a:ext cx="1148825" cy="1089736"/>
          </a:xfrm>
          <a:prstGeom prst="rect">
            <a:avLst/>
          </a:prstGeom>
          <a:noFill/>
        </p:spPr>
      </p:pic>
      <p:pic>
        <p:nvPicPr>
          <p:cNvPr id="8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4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214613" y="2621667"/>
            <a:ext cx="1084712" cy="112583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Picture 2" descr="http://s51.radikal.ru/i133/1105/e1/da7de65c9e67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37289" t="17063" r="3989"/>
          <a:stretch>
            <a:fillRect/>
          </a:stretch>
        </p:blipFill>
        <p:spPr bwMode="auto">
          <a:xfrm>
            <a:off x="0" y="0"/>
            <a:ext cx="9144000" cy="6597352"/>
          </a:xfrm>
          <a:prstGeom prst="rect">
            <a:avLst/>
          </a:prstGeom>
          <a:noFill/>
        </p:spPr>
      </p:pic>
      <p:pic>
        <p:nvPicPr>
          <p:cNvPr id="6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3" cstate="print">
            <a:lum bright="-20000" contrast="10000"/>
          </a:blip>
          <a:srcRect/>
          <a:stretch>
            <a:fillRect/>
          </a:stretch>
        </p:blipFill>
        <p:spPr bwMode="auto">
          <a:xfrm rot="1140319" flipH="1">
            <a:off x="7527936" y="2002184"/>
            <a:ext cx="1148825" cy="1089736"/>
          </a:xfrm>
          <a:prstGeom prst="rect">
            <a:avLst/>
          </a:prstGeom>
          <a:noFill/>
        </p:spPr>
      </p:pic>
      <p:pic>
        <p:nvPicPr>
          <p:cNvPr id="7" name="Picture 2" descr="C:\Users\User\Desktop\театральнве\театральные маски\маска с пером.png"/>
          <p:cNvPicPr>
            <a:picLocks noChangeAspect="1" noChangeArrowheads="1"/>
          </p:cNvPicPr>
          <p:nvPr/>
        </p:nvPicPr>
        <p:blipFill>
          <a:blip r:embed="rId4" cstate="print">
            <a:lum bright="-20000" contrast="10000"/>
          </a:blip>
          <a:srcRect/>
          <a:stretch>
            <a:fillRect/>
          </a:stretch>
        </p:blipFill>
        <p:spPr bwMode="auto">
          <a:xfrm rot="19702803">
            <a:off x="7378901" y="2765684"/>
            <a:ext cx="1084712" cy="112583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2109A-9087-49F2-8922-81BD5B71DE5B}" type="datetimeFigureOut">
              <a:rPr lang="ru-RU" smtClean="0"/>
              <a:pPr/>
              <a:t>17.05.2021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4261F-E571-4E2C-A9E3-32D4C29441A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6000" b="1" kern="1200">
          <a:solidFill>
            <a:srgbClr val="6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Monotype Corsiva" pitchFamily="66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Театрализованные игры</a:t>
            </a:r>
            <a:endParaRPr lang="ru-RU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МКДОУ № 233</a:t>
            </a:r>
          </a:p>
          <a:p>
            <a:r>
              <a:rPr lang="ru-RU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Группа «Почемучки»</a:t>
            </a:r>
          </a:p>
          <a:p>
            <a:r>
              <a:rPr lang="ru-RU" b="1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Фещенко</a:t>
            </a:r>
            <a:r>
              <a:rPr lang="ru-RU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Надежда Сергеевна</a:t>
            </a:r>
            <a:endParaRPr lang="ru-RU" b="1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1340768"/>
            <a:ext cx="6429400" cy="4824536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«Театр – это волшебный мир.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Он дает уроки красоты,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морали и нравственности.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А чем они богаче,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тем успешнее идет развитие духовного мира детей…» 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i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(Б. М. Теплов)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1268760"/>
            <a:ext cx="6429400" cy="518457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Мир детства, внутренний мир ребёнка – ключ ко многим волнующим проблемам </a:t>
            </a:r>
            <a:b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нашей жизни. </a:t>
            </a:r>
            <a:b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Раскрыть заветную дверь в мир детского сознания помогает игра.</a:t>
            </a:r>
            <a:b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Стоит ребёнку только сказать себе «…как будто», </a:t>
            </a:r>
            <a:b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и вымысел живёт уже в нём.</a:t>
            </a:r>
            <a:b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Вся жизнь детей насыщена игрой. Театрализованные игры пользуются у детей любовью.</a:t>
            </a:r>
            <a:endParaRPr lang="ru-RU" sz="2800" dirty="0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67744" y="980728"/>
            <a:ext cx="6429400" cy="547260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Театрализованные игры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можно разделить на две основные группы: режиссерские игры и игры-драматизации.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К режиссёрским играм в детском саду относятся: настольный, теневой театр, 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театр на </a:t>
            </a:r>
            <a:r>
              <a:rPr lang="ru-RU" sz="3600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фланелеграфе</a:t>
            </a: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К драматизации игры с пальчиками и с куклами бибабо.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57158" y="1554106"/>
            <a:ext cx="657229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Виды театра в детском саду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настольный театр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книжка-театр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театр пяти пальцев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театр масок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театр ручных теней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пальчиковый теневой театр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• театр «живых» теней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858838" algn="l"/>
              </a:tabLst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магнитный театр  и т. </a:t>
            </a: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</a:t>
            </a: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1960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5696" y="332656"/>
            <a:ext cx="6264696" cy="1152128"/>
          </a:xfrm>
        </p:spPr>
        <p:txBody>
          <a:bodyPr>
            <a:noAutofit/>
          </a:bodyPr>
          <a:lstStyle/>
          <a:p>
            <a:r>
              <a:rPr lang="ru-RU" altLang="ru-RU" sz="3600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Значение театрализованной деятельности </a:t>
            </a:r>
            <a:endParaRPr lang="ru-RU" sz="3600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1628800"/>
            <a:ext cx="7776864" cy="5229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Помогает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усвоению богатства родного языка,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его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выразительных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средств.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Появляется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живой интерес к самостоятельному познанию и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размышлению. 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овершенствует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артикуляционный аппарат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Ф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ормируется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диалогическая, эмоционально насыщенная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речь.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У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лучшается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усвоение содержания произведения,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логика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и последовательность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событий.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Д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ети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 получают эмоциональный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подъём.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пособствует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развитию элементов речевого общения: мимики, жестов, пантомимики,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интонации, модуляции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голоса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alt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Позволяет </a:t>
            </a:r>
            <a:r>
              <a:rPr lang="ru-RU" altLang="ru-RU" sz="2400" b="1" dirty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формировать опыт социального </a:t>
            </a:r>
            <a:r>
              <a:rPr lang="ru-RU" altLang="ru-RU" sz="2400" b="1" dirty="0" smtClean="0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поведения.</a:t>
            </a:r>
            <a:endParaRPr lang="ru-RU" sz="2400" b="1" dirty="0">
              <a:solidFill>
                <a:srgbClr val="6633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2213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1340768"/>
            <a:ext cx="5832648" cy="5085184"/>
          </a:xfrm>
        </p:spPr>
        <p:txBody>
          <a:bodyPr>
            <a:noAutofit/>
          </a:bodyPr>
          <a:lstStyle/>
          <a:p>
            <a:r>
              <a:rPr lang="ru-RU" sz="3600" dirty="0">
                <a:effectLst/>
                <a:latin typeface="Times New Roman" pitchFamily="18" charset="0"/>
                <a:cs typeface="Times New Roman" pitchFamily="18" charset="0"/>
              </a:rPr>
              <a:t>В процессе театрализованной игры активизируется </a:t>
            </a: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3600" dirty="0">
                <a:effectLst/>
                <a:latin typeface="Times New Roman" pitchFamily="18" charset="0"/>
                <a:cs typeface="Times New Roman" pitchFamily="18" charset="0"/>
              </a:rPr>
              <a:t>совершенствуется словарный запас, грамматический </a:t>
            </a: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>строй </a:t>
            </a:r>
            <a:r>
              <a:rPr lang="ru-RU" sz="3600" dirty="0">
                <a:effectLst/>
                <a:latin typeface="Times New Roman" pitchFamily="18" charset="0"/>
                <a:cs typeface="Times New Roman" pitchFamily="18" charset="0"/>
              </a:rPr>
              <a:t>речи, </a:t>
            </a: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>звукопроизношение</a:t>
            </a:r>
            <a:r>
              <a:rPr lang="ru-RU" sz="3600" dirty="0">
                <a:effectLst/>
                <a:latin typeface="Times New Roman" pitchFamily="18" charset="0"/>
                <a:cs typeface="Times New Roman" pitchFamily="18" charset="0"/>
              </a:rPr>
              <a:t>, темп, </a:t>
            </a: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effectLst/>
                <a:latin typeface="Times New Roman" pitchFamily="18" charset="0"/>
                <a:cs typeface="Times New Roman" pitchFamily="18" charset="0"/>
              </a:rPr>
              <a:t>выразительность </a:t>
            </a:r>
            <a:r>
              <a:rPr lang="ru-RU" sz="3600" dirty="0">
                <a:effectLst/>
                <a:latin typeface="Times New Roman" pitchFamily="18" charset="0"/>
                <a:cs typeface="Times New Roman" pitchFamily="18" charset="0"/>
              </a:rPr>
              <a:t>речи. 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649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1720" y="2130425"/>
            <a:ext cx="5328592" cy="4106887"/>
          </a:xfrm>
        </p:spPr>
        <p:txBody>
          <a:bodyPr>
            <a:normAutofit/>
          </a:bodyPr>
          <a:lstStyle/>
          <a:p>
            <a:r>
              <a:rPr lang="ru-RU" sz="4000" dirty="0">
                <a:effectLst/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4000" dirty="0" smtClean="0">
                <a:effectLst/>
                <a:latin typeface="Times New Roman" pitchFamily="18" charset="0"/>
                <a:cs typeface="Times New Roman" pitchFamily="18" charset="0"/>
              </a:rPr>
              <a:t>еатрализованная </a:t>
            </a:r>
            <a:r>
              <a:rPr lang="ru-RU" sz="4000" dirty="0">
                <a:effectLst/>
                <a:latin typeface="Times New Roman" pitchFamily="18" charset="0"/>
                <a:cs typeface="Times New Roman" pitchFamily="18" charset="0"/>
              </a:rPr>
              <a:t>игра оказывает большое влияние на речевое развитие ребенка.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8483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67544" y="1988840"/>
            <a:ext cx="6084168" cy="3760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  <a:spcAft>
                <a:spcPts val="1000"/>
              </a:spcAft>
            </a:pPr>
            <a:r>
              <a:rPr lang="ru-RU" sz="4000" b="1" dirty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«Мы играем не потому, что мы дети, но само детство нам дано для того, чтобы мы играли</a:t>
            </a:r>
            <a:r>
              <a:rPr lang="ru-RU" sz="4000" b="1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».</a:t>
            </a:r>
            <a:r>
              <a:rPr lang="ru-RU" sz="40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4000" b="1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ctr">
              <a:lnSpc>
                <a:spcPct val="115000"/>
              </a:lnSpc>
              <a:spcAft>
                <a:spcPts val="1000"/>
              </a:spcAft>
            </a:pPr>
            <a:r>
              <a:rPr lang="ru-RU" sz="40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Карлом </a:t>
            </a:r>
            <a:r>
              <a:rPr lang="ru-RU" sz="40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Гросс</a:t>
            </a:r>
            <a:endParaRPr lang="ru-RU" sz="4000" b="1" dirty="0">
              <a:solidFill>
                <a:srgbClr val="800000"/>
              </a:solidFill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209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55776" y="908720"/>
            <a:ext cx="6429400" cy="5184576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Цель театрализованной игры –   научить ребенка видеть прекрасное в жизни и в людях, зародить стремление самому нести в жизнь прекрасное и доброе.</a:t>
            </a:r>
            <a:endParaRPr lang="ru-RU" sz="3600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274638"/>
            <a:ext cx="6264696" cy="1498178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Как развивать</a:t>
            </a:r>
            <a:br>
              <a:rPr lang="ru-RU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и воспитывать детей в игре.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ru-RU" b="1" dirty="0" smtClean="0"/>
              <a:t>1. </a:t>
            </a: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Содержательность и разнообразие тематики.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2. Постоянное, ежедневное включение театрализованных игр во все формы организации педагогического процесса.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3. Максимальная активность детей на всех этапах подготовки и проведения игр.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4. Сотрудничество детей друг с другом и со взрослыми на всех этапах организации театрализованной игры.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5. Последовательность и усложнение содержания тем и сюжетов, избранных для игр.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6. Самостоятельность детской игры в большой мере зависит от того, знают ли они содержания сказки или рассказа.</a:t>
            </a:r>
          </a:p>
          <a:p>
            <a:pPr>
              <a:lnSpc>
                <a:spcPct val="80000"/>
              </a:lnSpc>
              <a:buNone/>
            </a:pPr>
            <a:r>
              <a:rPr lang="ru-RU" sz="28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7. Учить текст с детьми до начала игры не стоит.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916831"/>
            <a:ext cx="69482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Педагог должен уметь </a:t>
            </a: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/>
            </a:r>
            <a:b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выразительно </a:t>
            </a: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читать, рассказывать, </a:t>
            </a: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/>
            </a:r>
            <a:b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смотреть </a:t>
            </a: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и видеть, </a:t>
            </a: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/>
            </a:r>
            <a:b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слушать </a:t>
            </a: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и слышать, </a:t>
            </a: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/>
            </a:r>
            <a:b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быть </a:t>
            </a:r>
            <a:r>
              <a:rPr lang="ru-RU" sz="3200" b="1" dirty="0">
                <a:solidFill>
                  <a:srgbClr val="800000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готовым к любому превращению, т.е. обладать основами актёрского мастерства и навыками режиссуры.</a:t>
            </a:r>
            <a:endParaRPr lang="ru-RU" sz="3200" b="1" dirty="0">
              <a:solidFill>
                <a:srgbClr val="800000"/>
              </a:solidFill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135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274638"/>
            <a:ext cx="6336704" cy="142617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Принципы организации театрализованной игры:</a:t>
            </a:r>
            <a:endParaRPr lang="ru-RU" sz="3600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ru-RU" dirty="0" smtClean="0"/>
              <a:t>1. </a:t>
            </a: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Принцип специфичности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данной деятельности, объединяющей игровой (свободный, непроизвольный) и художественный (подготовленный, осмысленно пережитый) компоненты</a:t>
            </a:r>
          </a:p>
          <a:p>
            <a:pPr>
              <a:lnSpc>
                <a:spcPct val="80000"/>
              </a:lnSpc>
              <a:buNone/>
            </a:pP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Принцип комплексности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предполагает взаимосвязь театрализованной игры с разными видами искусства и разными видами художественной деятельности ребенка.</a:t>
            </a:r>
            <a:endParaRPr lang="ru-RU" sz="3100" b="1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Принцип  </a:t>
            </a:r>
            <a:r>
              <a:rPr lang="ru-RU" sz="3100" b="1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импровизационности</a:t>
            </a: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где театрализованная игра рассматривается как творческая деятельность, что обусловливает особое взаимодействие взрослого и ребенка, детей между собой, основу которого составляют свободная атмосфера, поощрение детской инициативы, отсутствие образца для подражания, наличие своей точки зрения у ребенка, стремление к оригинальности и самовыражению.</a:t>
            </a:r>
            <a:endParaRPr lang="ru-RU" sz="3100" b="1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4.  </a:t>
            </a:r>
            <a:r>
              <a:rPr lang="ru-RU" sz="3100" b="1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Принцип  </a:t>
            </a:r>
            <a:r>
              <a:rPr lang="ru-RU" sz="3100" b="1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интегративности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в соответствии с которым целенаправленная работа по развитию </a:t>
            </a:r>
            <a:r>
              <a:rPr lang="ru-RU" sz="3100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театрализованно</a:t>
            </a:r>
            <a:r>
              <a:rPr lang="ru-RU" sz="31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- игровой деятельности включается в целостный педагогический процесс.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1720" y="2130425"/>
            <a:ext cx="5328592" cy="3674839"/>
          </a:xfrm>
        </p:spPr>
        <p:txBody>
          <a:bodyPr>
            <a:normAutofit/>
          </a:bodyPr>
          <a:lstStyle/>
          <a:p>
            <a:r>
              <a:rPr lang="ru-RU" sz="4000" dirty="0">
                <a:effectLst/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4000" dirty="0" smtClean="0">
                <a:effectLst/>
                <a:latin typeface="Times New Roman" pitchFamily="18" charset="0"/>
                <a:cs typeface="Times New Roman" pitchFamily="18" charset="0"/>
              </a:rPr>
              <a:t>лияние </a:t>
            </a:r>
            <a:r>
              <a:rPr lang="ru-RU" sz="4000" dirty="0">
                <a:effectLst/>
                <a:latin typeface="Times New Roman" pitchFamily="18" charset="0"/>
                <a:cs typeface="Times New Roman" pitchFamily="18" charset="0"/>
              </a:rPr>
              <a:t>театрализованной деятельности </a:t>
            </a:r>
            <a:r>
              <a:rPr lang="ru-RU" sz="4000" dirty="0" smtClean="0"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000" dirty="0" smtClean="0"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effectLst/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4000" dirty="0">
                <a:effectLst/>
                <a:latin typeface="Times New Roman" pitchFamily="18" charset="0"/>
                <a:cs typeface="Times New Roman" pitchFamily="18" charset="0"/>
              </a:rPr>
              <a:t>развитие речи неоспоримо. 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8178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748464" cy="4034879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Спасибо за внимание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893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атраль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театральная</Template>
  <TotalTime>467</TotalTime>
  <Words>371</Words>
  <Application>Microsoft Office PowerPoint</Application>
  <PresentationFormat>Экран (4:3)</PresentationFormat>
  <Paragraphs>46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театральная</vt:lpstr>
      <vt:lpstr>Театрализованные игры</vt:lpstr>
      <vt:lpstr>«Театр – это волшебный мир.  Он дает уроки красоты,  морали и нравственности.  А чем они богаче,  тем успешнее идет развитие духовного мира детей…»  (Б. М. Теплов)</vt:lpstr>
      <vt:lpstr>Мир детства, внутренний мир ребёнка – ключ ко многим волнующим проблемам  нашей жизни.  Раскрыть заветную дверь в мир детского сознания помогает игра. Стоит ребёнку только сказать себе «…как будто»,  и вымысел живёт уже в нём. Вся жизнь детей насыщена игрой. Театрализованные игры пользуются у детей любовью.</vt:lpstr>
      <vt:lpstr> Театрализованные игры  можно разделить на две основные группы: режиссерские игры и игры-драматизации. К режиссёрским играм в детском саду относятся: настольный, теневой театр,  театр на фланелеграфе. К драматизации игры с пальчиками и с куклами бибабо.  </vt:lpstr>
      <vt:lpstr>Слайд 5</vt:lpstr>
      <vt:lpstr>Значение театрализованной деятельности </vt:lpstr>
      <vt:lpstr>В процессе театрализованной игры активизируется  и совершенствуется словарный запас, грамматический  строй речи,  звукопроизношение, темп,  выразительность речи. </vt:lpstr>
      <vt:lpstr>Театрализованная игра оказывает большое влияние на речевое развитие ребенка.</vt:lpstr>
      <vt:lpstr>Слайд 9</vt:lpstr>
      <vt:lpstr>Цель театрализованной игры –   научить ребенка видеть прекрасное в жизни и в людях, зародить стремление самому нести в жизнь прекрасное и доброе.</vt:lpstr>
      <vt:lpstr>Как развивать  и воспитывать детей в игре.</vt:lpstr>
      <vt:lpstr>Слайд 12</vt:lpstr>
      <vt:lpstr>Принципы организации театрализованной игры:</vt:lpstr>
      <vt:lpstr>Влияние театрализованной деятельности  на развитие речи неоспоримо. </vt:lpstr>
      <vt:lpstr> 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Надежда</cp:lastModifiedBy>
  <cp:revision>66</cp:revision>
  <dcterms:created xsi:type="dcterms:W3CDTF">2014-04-17T14:13:18Z</dcterms:created>
  <dcterms:modified xsi:type="dcterms:W3CDTF">2021-05-17T14:42:40Z</dcterms:modified>
</cp:coreProperties>
</file>